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75" r:id="rId25"/>
    <p:sldId id="258" r:id="rId8"/>
    <p:sldId id="259" r:id="rId9"/>
    <p:sldId id="276" r:id="rId26"/>
    <p:sldId id="277" r:id="rId27"/>
    <p:sldId id="273" r:id="rId23"/>
    <p:sldId id="267" r:id="rId17"/>
    <p:sldId id="262" r:id="rId12"/>
    <p:sldId id="263" r:id="rId13"/>
    <p:sldId id="270" r:id="rId20"/>
    <p:sldId id="264" r:id="rId14"/>
    <p:sldId id="265" r:id="rId15"/>
    <p:sldId id="260" r:id="rId10"/>
    <p:sldId id="271" r:id="rId21"/>
    <p:sldId id="272" r:id="rId22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14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7" Type="http://schemas.openxmlformats.org/officeDocument/2006/relationships/slide" Target="slides/slide8.xml"/><Relationship Id="rId20" Type="http://schemas.openxmlformats.org/officeDocument/2006/relationships/slide" Target="slides/slide11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7.xml"/><Relationship Id="rId25" Type="http://schemas.openxmlformats.org/officeDocument/2006/relationships/slide" Target="slides/slide2.xml"/><Relationship Id="rId26" Type="http://schemas.openxmlformats.org/officeDocument/2006/relationships/slide" Target="slides/slide5.xml"/><Relationship Id="rId27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54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640080" y="19202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OPENSEARCHCON NORTH AMERICA 2026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640080" y="2331720"/>
            <a:ext cx="10972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Agentic Search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640080" y="3136392"/>
            <a:ext cx="10972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Reimagining search from ingestion to relevancy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40080" y="416052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A live LangGraph search agent and a Search Relevance Workbench feature tour — two independent demos, one judgment list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40080" y="51663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Kevin M. Butler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40080" y="55595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8C5D1"/>
                </a:solidFill>
                <a:latin typeface="Calibri"/>
                <a:ea typeface="Calibri"/>
                <a:cs typeface="Calibri"/>
                <a:sym typeface="Calibri"/>
              </a:rPr>
              <a:t>Senior Search and AI Engineer  ·  KMW Technology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40080" y="58704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github.com/kmwtechnology/opensearch2026-agentic-search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7772400" y="644652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7B8C9F"/>
                </a:solidFill>
                <a:latin typeface="Calibri"/>
                <a:ea typeface="Calibri"/>
                <a:cs typeface="Calibri"/>
                <a:sym typeface="Calibri"/>
              </a:rPr>
              <a:t>OpenSearchCon North America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6" name="Google Shape;106;p15"/>
          <p:cNvSpPr txBox="1"/>
          <p:nvPr/>
        </p:nvSpPr>
        <p:spPr>
          <a:xfrm>
            <a:off x="365760" y="2286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 / 16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737360" y="2286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OpenSearchCon NA 2026  ·  Agentic Search: Reimagining Search from Ingestion to Relevancy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457200" y="594360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457200" y="960120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Fast, plausible, and wrong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457200" y="201168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The results look fine. The answer is wrong.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457200" y="3017520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Weak retrieval is invisible at the top of the page  ·  the generator writes fluently over it  ·  confidence is not evidence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457200" y="4343400"/>
            <a:ext cx="11247120" cy="1737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731520" y="452628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THE QUESTION THIS TALK ANSWERS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731520" y="4864608"/>
            <a:ext cx="106984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How can a search system recognize weak retrieval and change course before it answers?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/>
        </p:nvSpPr>
        <p:spPr>
          <a:xfrm>
            <a:off x="365760" y="2286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 / 16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737360" y="2286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OpenSearchCon NA 2026  ·  Agentic Search: Reimagining Search from Ingestion to Relevancy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457200" y="594360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TALK THESIS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457200" y="960120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When does a search agent become genuinely agentic?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457200" y="201168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When it can improve results on the fly.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457200" y="3017520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Try a bounded set of retrieval strategies · score them with real judgments · choose the best evidence · recover once when needed · verify the final answer.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457200" y="4343400"/>
            <a:ext cx="11247120" cy="1737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731520" y="452628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THE ONLY SHARED ELEMENT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731520" y="4864608"/>
            <a:ext cx="106984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The authoritative judgment list. </a:t>
            </a:r>
            <a:r>
              <a:rPr b="0" i="0" lang="en-US" sz="14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Search Relevance Workbench imports it for its feature demonstration; LangGraph reads the same judgments directly at runtime to score attempts and steer the agent. </a:t>
            </a:r>
            <a:r>
              <a:rPr b="1" i="0" lang="en-US" sz="14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Workbench results, experiments, and configurations do not feed the LangGraph application.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/>
          <p:nvPr/>
        </p:nvSpPr>
        <p:spPr>
          <a:xfrm>
            <a:off x="365760" y="2286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 / 16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1737360" y="2286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OpenSearchCon NA 2026  ·  Agentic Search: Reimagining Search from Ingestion to Relevancy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457200" y="594360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STRUCTURE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457200" y="960120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Two independent demonstrations</a:t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457200" y="1920240"/>
            <a:ext cx="5486400" cy="3108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731520" y="2084832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DEMO A — LIVE LANGGRAPH AGENTIC SEARCH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731520" y="2423160"/>
            <a:ext cx="493776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Uses the product index and esci_judgments directly at runtime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Accepts only exact judged queries for the conference demo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Runs multiple strategies, computes metrics, selects a winner, optionally recovers once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Curates evidence, generates, critiques, and optionally repairs the answer once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Explains the full run through the observability panel</a:t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6217920" y="1920240"/>
            <a:ext cx="5486400" cy="3108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6492240" y="2084832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DEMO B — WORKBENCH FEATURE SHOWCASE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492240" y="2423160"/>
            <a:ext cx="493776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Demonstrates current relevance-engineering capabilities in OpenSearch Dashboards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Uses its own query set, judgments, configurations, and experiments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Imports the relevant esci_judgments subset as demo data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Succeeds as a standalone feature tour even without the LangGraph demo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457200" y="5212080"/>
            <a:ext cx="11247120" cy="10058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731520" y="5376672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WHAT THEY SHARE  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Only the judgment list. Workbench does not tune, validate, configure, or monitor the LangGraph application, and LangGraph never consumes Workbench experiments or parameters.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35" name="Google Shape;135;p17"/>
          <p:cNvSpPr txBox="1"/>
          <p:nvPr/>
        </p:nvSpPr>
        <p:spPr>
          <a:xfrm>
            <a:off x="365760" y="2286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 / 16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1737360" y="2286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OpenSearchCon NA 2026  ·  Agentic Search: Reimagining Search from Ingestion to Relevancy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457200" y="594360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457200" y="960120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From lexical match to measured selection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457200" y="2011680"/>
            <a:ext cx="1124712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-US" sz="17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BM25:  </a:t>
            </a:r>
            <a:r>
              <a:rPr b="0" i="0" lang="en-US" sz="17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lexical scoring — precise when the words match, blind when they do not.</a:t>
            </a:r>
          </a:p>
          <a:p>
            <a:pPr indent="0" lvl="0" marL="0" marR="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-US" sz="17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Vector:  </a:t>
            </a:r>
            <a:r>
              <a:rPr b="0" i="0" lang="en-US" sz="17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semantic recall — finds the paraphrase, drifts on the specifics.</a:t>
            </a:r>
          </a:p>
          <a:p>
            <a:pPr indent="0" lvl="0" marL="0" marR="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-US" sz="17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Hybrid fusion:  </a:t>
            </a:r>
            <a:r>
              <a:rPr b="0" i="0" lang="en-US" sz="17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combine both candidate sets — score normalization, weighting, or RRF.</a:t>
            </a:r>
          </a:p>
          <a:p>
            <a:pPr indent="0" lvl="0" marL="0" marR="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-US" sz="17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Reranking:  </a:t>
            </a:r>
            <a:r>
              <a:rPr b="0" i="0" lang="en-US" sz="17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reorder a shared candidate budget with a stronger model.</a:t>
            </a:r>
          </a:p>
          <a:p>
            <a:pPr indent="0" lvl="0" marL="0" marR="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-US" sz="17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Bounded agentic selection:  </a:t>
            </a:r>
            <a:r>
              <a:rPr b="0" i="0" lang="en-US" sz="17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run several of these, measure each against judgments, keep the best.</a:t>
            </a:r>
          </a:p>
          <a:p>
            <a:pPr indent="0" lvl="0" marL="0" marR="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-US" sz="17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The gap:  </a:t>
            </a:r>
            <a:r>
              <a:rPr b="0" i="0" lang="en-US" sz="17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each step adds recall or precision — none of them notices when it has failed.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35" name="Google Shape;135;p17"/>
          <p:cNvSpPr txBox="1"/>
          <p:nvPr/>
        </p:nvSpPr>
        <p:spPr>
          <a:xfrm>
            <a:off x="365760" y="2286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 / 16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1737360" y="2286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OpenSearchCon NA 2026  ·  Agentic Search: Reimagining Search from Ingestion to Relevancy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457200" y="594360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CORPUS  ·  JUDGMENTS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457200" y="960120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What we measure against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457200" y="2011680"/>
            <a:ext cx="1124712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-US" sz="17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The corpus:  </a:t>
            </a:r>
            <a:r>
              <a:rPr b="0" i="0" lang="en-US" sz="17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Amazon ESCI product data — 9,618 documents in the demo index.</a:t>
            </a:r>
          </a:p>
          <a:p>
            <a:pPr indent="0" lvl="0" marL="0" marR="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-US" sz="17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The labels:  </a:t>
            </a:r>
            <a:r>
              <a:rPr b="0" i="0" lang="en-US" sz="17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Exact, Substitute, Complement, Irrelevant — graded relevance per query and product.</a:t>
            </a:r>
          </a:p>
          <a:p>
            <a:pPr indent="0" lvl="0" marL="0" marR="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-US" sz="17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esci_judgments:  </a:t>
            </a:r>
            <a:r>
              <a:rPr b="0" i="0" lang="en-US" sz="17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authoritative judgment list, read directly from OpenSearch at runtime.</a:t>
            </a:r>
          </a:p>
          <a:p>
            <a:pPr indent="0" lvl="0" marL="0" marR="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-US" sz="17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Scope:  </a:t>
            </a:r>
            <a:r>
              <a:rPr b="0" i="0" lang="en-US" sz="17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live demo accepts only exact judged queries, so every attempt can be scored.</a:t>
            </a:r>
          </a:p>
          <a:p>
            <a:pPr indent="0" lvl="0" marL="0" marR="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-US" sz="17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Earned, not seeded:  </a:t>
            </a:r>
            <a:r>
              <a:rPr b="0" i="0" lang="en-US" sz="17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judged product IDs are never injected into retrieval — each strategy earns its ranking.</a:t>
            </a:r>
          </a:p>
          <a:p>
            <a:pPr indent="0" lvl="0" marL="0" marR="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-US" sz="17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Bounded:  </a:t>
            </a:r>
            <a:r>
              <a:rPr b="0" i="0" lang="en-US" sz="17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one recovery round and one answer repair — no unconstrained retries.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35" name="Google Shape;135;p17"/>
          <p:cNvSpPr txBox="1"/>
          <p:nvPr/>
        </p:nvSpPr>
        <p:spPr>
          <a:xfrm>
            <a:off x="365760" y="2286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 / 16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1737360" y="2286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OpenSearchCon NA 2026  ·  Agentic Search: Reimagining Search from Ingestion to Relevancy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457200" y="594360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INGESTION  ·  LUCILLE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457200" y="960120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Agents reshape what gets indexed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457200" y="2011680"/>
            <a:ext cx="1124712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-US" sz="17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Lucille pipeline:  </a:t>
            </a:r>
            <a:r>
              <a:rPr b="0" i="0" lang="en-US" sz="17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ingests the raw product fields — title, brand, color — through products.conf.</a:t>
            </a:r>
          </a:p>
          <a:p>
            <a:pPr indent="0" lvl="0" marL="0" marR="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-US" sz="17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Augmentation pass:  </a:t>
            </a:r>
            <a:r>
              <a:rPr b="0" i="0" lang="en-US" sz="17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 Python stage reads products back from OpenSearch using search_after pagination.</a:t>
            </a:r>
          </a:p>
          <a:p>
            <a:pPr indent="0" lvl="0" marL="0" marR="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-US" sz="17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Deterministic rules:  </a:t>
            </a:r>
            <a:r>
              <a:rPr b="0" i="0" lang="en-US" sz="17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16 canonical colors, synonym expansion (grey → gray), compound extraction (“Black &amp; Purple” → primary black, secondary purple), brand case-folding.</a:t>
            </a:r>
          </a:p>
          <a:p>
            <a:pPr indent="0" lvl="0" marL="0" marR="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-US" sz="17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Derived fields:  </a:t>
            </a:r>
            <a:r>
              <a:rPr b="0" i="0" lang="en-US" sz="17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product_color_primary, product_color_secondary, product_brand_normalized.</a:t>
            </a:r>
          </a:p>
          <a:p>
            <a:pPr indent="0" lvl="0" marL="0" marR="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-US" sz="17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Bulk rewrite:  </a:t>
            </a:r>
            <a:r>
              <a:rPr b="0" i="0" lang="en-US" sz="17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batches of 250 — roughly 9,600 documents across about 40 batches.</a:t>
            </a:r>
          </a:p>
          <a:p>
            <a:pPr indent="0" lvl="0" marL="0" marR="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-US" sz="17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The payoff:  </a:t>
            </a:r>
            <a:r>
              <a:rPr b="0" i="0" lang="en-US" sz="17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“blue backpacks” now matches Navy and Cyan variants — a retrieval problem query tuning alone could not solve.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4"/>
          <p:cNvSpPr txBox="1"/>
          <p:nvPr/>
        </p:nvSpPr>
        <p:spPr>
          <a:xfrm>
            <a:off x="365760" y="2286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8 / 16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1737360" y="2286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OpenSearchCon NA 2026  ·  Agentic Search: Reimagining Search from Ingestion to Relevancy</a:t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457200" y="594360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/>
          </a:p>
        </p:txBody>
      </p:sp>
      <p:sp>
        <p:nvSpPr>
          <p:cNvPr id="264" name="Google Shape;264;p24"/>
          <p:cNvSpPr txBox="1"/>
          <p:nvPr/>
        </p:nvSpPr>
        <p:spPr>
          <a:xfrm>
            <a:off x="457200" y="960120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Inside the agent</a:t>
            </a:r>
            <a:endParaRPr/>
          </a:p>
        </p:txBody>
      </p:sp>
      <p:sp>
        <p:nvSpPr>
          <p:cNvPr id="265" name="Google Shape;265;p24"/>
          <p:cNvSpPr/>
          <p:nvPr/>
        </p:nvSpPr>
        <p:spPr>
          <a:xfrm>
            <a:off x="457200" y="1965960"/>
            <a:ext cx="5486400" cy="21031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4"/>
          <p:cNvSpPr txBox="1"/>
          <p:nvPr/>
        </p:nvSpPr>
        <p:spPr>
          <a:xfrm>
            <a:off x="731520" y="2130552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RETRIEVAL · STRATEGY TOURNAMENT</a:t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731520" y="2468880"/>
            <a:ext cx="493776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Optimized BM25, balanced hybrid, lexical-heavy, semantic-heavy — in parallel</a:t>
            </a:r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Same index, filters, candidate budget, and reranker for a fair comparison</a:t>
            </a:r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Every pre- and post-rerank attempt kept in an append-only history</a:t>
            </a:r>
          </a:p>
        </p:txBody>
      </p:sp>
      <p:sp>
        <p:nvSpPr>
          <p:cNvPr id="268" name="Google Shape;268;p24"/>
          <p:cNvSpPr/>
          <p:nvPr/>
        </p:nvSpPr>
        <p:spPr>
          <a:xfrm>
            <a:off x="6217920" y="1965960"/>
            <a:ext cx="5486400" cy="21031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4"/>
          <p:cNvSpPr txBox="1"/>
          <p:nvPr/>
        </p:nvSpPr>
        <p:spPr>
          <a:xfrm>
            <a:off x="6492240" y="2130552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SELECTION · SCORE, PICK, RECOVER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6492240" y="2468880"/>
            <a:ext cx="493776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NDCG@10 is the objective; MRR, Recall@20, Precision@10, latency break ties</a:t>
            </a:r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best measured attempt wins — not the most confident one</a:t>
            </a:r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One recovery round at most, chosen from the diagnostic that failed</a:t>
            </a:r>
          </a:p>
        </p:txBody>
      </p:sp>
      <p:sp>
        <p:nvSpPr>
          <p:cNvPr id="271" name="Google Shape;271;p24"/>
          <p:cNvSpPr/>
          <p:nvPr/>
        </p:nvSpPr>
        <p:spPr>
          <a:xfrm>
            <a:off x="457200" y="4206240"/>
            <a:ext cx="5486400" cy="21031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4"/>
          <p:cNvSpPr txBox="1"/>
          <p:nvPr/>
        </p:nvSpPr>
        <p:spPr>
          <a:xfrm>
            <a:off x="731520" y="4370831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GENERATION · CURATE, WRITE, CRITIQUE</a:t>
            </a:r>
            <a:endParaRPr/>
          </a:p>
        </p:txBody>
      </p:sp>
      <p:sp>
        <p:nvSpPr>
          <p:cNvPr id="273" name="Google Shape;273;p24"/>
          <p:cNvSpPr txBox="1"/>
          <p:nvPr/>
        </p:nvSpPr>
        <p:spPr>
          <a:xfrm>
            <a:off x="731520" y="4709159"/>
            <a:ext cx="493776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Context from Exact and Substitute first; Complement as support; Irrelevant excluded</a:t>
            </a:r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Cited answer generated from the selected evidence only</a:t>
            </a:r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Critic checks faithfulness, relevance, citations, coverage — one repair allowed</a:t>
            </a:r>
          </a:p>
        </p:txBody>
      </p:sp>
      <p:sp>
        <p:nvSpPr>
          <p:cNvPr id="274" name="Google Shape;274;p24"/>
          <p:cNvSpPr/>
          <p:nvPr/>
        </p:nvSpPr>
        <p:spPr>
          <a:xfrm>
            <a:off x="6217920" y="4206240"/>
            <a:ext cx="5486400" cy="21031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4"/>
          <p:cNvSpPr txBox="1"/>
          <p:nvPr/>
        </p:nvSpPr>
        <p:spPr>
          <a:xfrm>
            <a:off x="6492240" y="4370831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TYPED STATE</a:t>
            </a:r>
            <a:endParaRPr/>
          </a:p>
        </p:txBody>
      </p:sp>
      <p:sp>
        <p:nvSpPr>
          <p:cNvPr id="276" name="Google Shape;276;p24"/>
          <p:cNvSpPr txBox="1"/>
          <p:nvPr/>
        </p:nvSpPr>
        <p:spPr>
          <a:xfrm>
            <a:off x="6492240" y="4709159"/>
            <a:ext cx="493776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SearchPlan · RetrievalAttempt · AgentDecision · AnswerEvaluation</a:t>
            </a:r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Routing is on typed status, never on human-readable reason text</a:t>
            </a:r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Every decision is explicit, testable, and inspectable after the run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/>
          <p:nvPr/>
        </p:nvSpPr>
        <p:spPr>
          <a:xfrm>
            <a:off x="365760" y="2286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9 / 16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1737360" y="2286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OpenSearchCon NA 2026  ·  Agentic Search: Reimagining Search from Ingestion to Relevancy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457200" y="594360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DEMO A — LIVE EXPERIENCE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457200" y="960120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Five stages, every budget bounded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457200" y="1965960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1 · Validate &amp; understand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3429000" y="1965960"/>
            <a:ext cx="8275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Exact match in the judged-query set; normalize, infer constraints, load ESCI labels from OpenSearch. Judged product IDs are never injected — each strategy must earn its ranking.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457200" y="2852928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2 · Strategy tournament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3429000" y="2852928"/>
            <a:ext cx="8275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Optimized BM25, balanced hybrid, lexical-heavy, semantic-heavy — in parallel, same index / filters / candidate budget / reranker. Append-only attempt history.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457200" y="3739896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3 · Score &amp; select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3429000" y="3739896"/>
            <a:ext cx="8275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NDCG@10 primary; MRR, Recall@20, Precision@10, latency as tie-breakers. Best measured attempt wins — never model confidence.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457200" y="4626864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4 · Recover once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3429000" y="4626864"/>
            <a:ext cx="8275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Low Recall@20 → rewrite/expand. Weak NDCG@10 → adjust fusion/reranking. Irrelevant near top → tighten. One extra tournament at most; best across both rounds.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457200" y="5513831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5 · Generate &amp; verify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3429000" y="5513831"/>
            <a:ext cx="8275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Context from Exact + Substitute first; Complement as support; Irrelevant excluded. Cited answer → critic (faithfulness, relevance, citations, coverage) → one bounded repair.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"/>
          <p:cNvSpPr txBox="1"/>
          <p:nvPr/>
        </p:nvSpPr>
        <p:spPr>
          <a:xfrm>
            <a:off x="365760" y="2286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10 / 16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1737360" y="2286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OpenSearchCon NA 2026  ·  Agentic Search: Reimagining Search from Ingestion to Relevancy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457200" y="594360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DEMO A — OBSERVABILITY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457200" y="960120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The live observability panel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457200" y="1874519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Belongs exclusively to the LangGraph application. It explains how the live request changed — and why.</a:t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457200" y="2514600"/>
            <a:ext cx="5486400" cy="1234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731520" y="2679192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GRAPH PATH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731520" y="3017520"/>
            <a:ext cx="4937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Nodes executed, branches taken, budgets remaining</a:t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6217920" y="2514600"/>
            <a:ext cx="5486400" cy="1234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6492240" y="2679192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STRATEGY COMPARISON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6492240" y="3017520"/>
            <a:ext cx="4937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Candidates, relevance metrics, reranker movement, latency</a:t>
            </a:r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457200" y="3931920"/>
            <a:ext cx="5486400" cy="1234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731520" y="4096511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DECISION TRACE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731520" y="4434840"/>
            <a:ext cx="4937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Selected strategy, recovery action, reason, measured delta</a:t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6217920" y="3931920"/>
            <a:ext cx="5486400" cy="1234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6492240" y="4096511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GENERATION TRACE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6492240" y="4434840"/>
            <a:ext cx="4937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Evidence labels, citations, critic result, answer repair</a:t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457200" y="5349240"/>
            <a:ext cx="5486400" cy="1234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731520" y="5513831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OPERATIONAL VIEW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731520" y="5852159"/>
            <a:ext cx="4937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End-to-end latency; time in retrieval, reranking, generation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7"/>
          <p:cNvSpPr txBox="1"/>
          <p:nvPr/>
        </p:nvSpPr>
        <p:spPr>
          <a:xfrm>
            <a:off x="365760" y="2286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11 / 16</a:t>
            </a:r>
            <a:endParaRPr/>
          </a:p>
        </p:txBody>
      </p:sp>
      <p:sp>
        <p:nvSpPr>
          <p:cNvPr id="308" name="Google Shape;308;p27"/>
          <p:cNvSpPr txBox="1"/>
          <p:nvPr/>
        </p:nvSpPr>
        <p:spPr>
          <a:xfrm>
            <a:off x="1737360" y="2286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OpenSearchCon NA 2026  ·  Agentic Search: Reimagining Search from Ingestion to Relevancy</a:t>
            </a:r>
            <a:endParaRPr/>
          </a:p>
        </p:txBody>
      </p:sp>
      <p:sp>
        <p:nvSpPr>
          <p:cNvPr id="309" name="Google Shape;309;p27"/>
          <p:cNvSpPr txBox="1"/>
          <p:nvPr/>
        </p:nvSpPr>
        <p:spPr>
          <a:xfrm>
            <a:off x="457200" y="594360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GUARANTEES</a:t>
            </a:r>
            <a:endParaRPr/>
          </a:p>
        </p:txBody>
      </p:sp>
      <p:sp>
        <p:nvSpPr>
          <p:cNvPr id="310" name="Google Shape;310;p27"/>
          <p:cNvSpPr txBox="1"/>
          <p:nvPr/>
        </p:nvSpPr>
        <p:spPr>
          <a:xfrm>
            <a:off x="457200" y="960120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What the design guarantees</a:t>
            </a:r>
            <a:endParaRPr/>
          </a:p>
        </p:txBody>
      </p:sp>
      <p:sp>
        <p:nvSpPr>
          <p:cNvPr id="311" name="Google Shape;311;p27"/>
          <p:cNvSpPr txBox="1"/>
          <p:nvPr/>
        </p:nvSpPr>
        <p:spPr>
          <a:xfrm>
            <a:off x="457200" y="1965960"/>
            <a:ext cx="55778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4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Every demo query has an exact match in esci_judgments</a:t>
            </a:r>
          </a:p>
          <a:p>
            <a:pPr indent="0" lvl="0" marL="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4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Strategies earn their ranking — no judged IDs are injected into retrieval</a:t>
            </a:r>
          </a:p>
          <a:p>
            <a:pPr indent="0" lvl="0" marL="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4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Selection is by measured NDCG@10 or MRR, never by model confidence</a:t>
            </a:r>
          </a:p>
          <a:p>
            <a:pPr indent="0" lvl="0" marL="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4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selected attempt improves on the initial strategy</a:t>
            </a:r>
          </a:p>
        </p:txBody>
      </p:sp>
      <p:sp>
        <p:nvSpPr>
          <p:cNvPr id="312" name="Google Shape;312;p27"/>
          <p:cNvSpPr txBox="1"/>
          <p:nvPr/>
        </p:nvSpPr>
        <p:spPr>
          <a:xfrm>
            <a:off x="6309360" y="1965960"/>
            <a:ext cx="55778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4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No Irrelevant-labeled document reaches the generation context</a:t>
            </a:r>
          </a:p>
          <a:p>
            <a:pPr indent="0" lvl="0" marL="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4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Recovery is capped at one additional tournament round</a:t>
            </a:r>
          </a:p>
          <a:p>
            <a:pPr indent="0" lvl="0" marL="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4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Answer regeneration is capped at one repair</a:t>
            </a:r>
          </a:p>
          <a:p>
            <a:pPr indent="0" lvl="0" marL="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4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Every decision, metric, and budget is visible in the trace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1"/>
          <p:cNvSpPr txBox="1"/>
          <p:nvPr/>
        </p:nvSpPr>
        <p:spPr>
          <a:xfrm>
            <a:off x="365760" y="2286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12 / 16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1737360" y="2286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OpenSearchCon NA 2026  ·  Agentic Search: Reimagining Search from Ingestion to Relevancy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457200" y="594360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DEMO B — WORKBENCH SHOWCASE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457200" y="960120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Search Relevance Workbench features (1 of 2)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457200" y="182880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 showcase of current OpenSearch relevance features — not part of the LangGraph architecture or evaluation story.</a:t>
            </a:r>
            <a:endParaRPr/>
          </a:p>
        </p:txBody>
      </p:sp>
      <p:sp>
        <p:nvSpPr>
          <p:cNvPr id="220" name="Google Shape;220;p21"/>
          <p:cNvSpPr/>
          <p:nvPr/>
        </p:nvSpPr>
        <p:spPr>
          <a:xfrm>
            <a:off x="457200" y="2377440"/>
            <a:ext cx="3657600" cy="3291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731520" y="254203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1 · QUERY &amp; RESULT COMPARISON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731520" y="2880360"/>
            <a:ext cx="310896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Compare two search configurations for one query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Inspect shared, unique, and repositioned documents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Pairwise comparison across a query set: aggregate + per-query differences</a:t>
            </a: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4251960" y="2377440"/>
            <a:ext cx="3657600" cy="3291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4526280" y="254203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2 · POINTWISE EVALUATION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4526280" y="2880360"/>
            <a:ext cx="310896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Independent Workbench query set and judgment list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Evaluate a fixed configuration: NDCG, MAP, precision, coverage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esci_judgments subset used only as convenient demo data</a:t>
            </a:r>
            <a:endParaRPr/>
          </a:p>
        </p:txBody>
      </p:sp>
      <p:sp>
        <p:nvSpPr>
          <p:cNvPr id="226" name="Google Shape;226;p21"/>
          <p:cNvSpPr/>
          <p:nvPr/>
        </p:nvSpPr>
        <p:spPr>
          <a:xfrm>
            <a:off x="8046720" y="2377440"/>
            <a:ext cx="3657600" cy="3291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8321040" y="254203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3 · HYBRID-SEARCH OPTIMIZATION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8321040" y="2880360"/>
            <a:ext cx="310896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Optimize a two-clause hybrid query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Score-normalization, combination, lexical/neural weights, RRF variants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 Workbench capability — not a parameter source for LangGraph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2"/>
          <p:cNvSpPr txBox="1"/>
          <p:nvPr/>
        </p:nvSpPr>
        <p:spPr>
          <a:xfrm>
            <a:off x="365760" y="2286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13 / 16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1737360" y="2286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OpenSearchCon NA 2026  ·  Agentic Search: Reimagining Search from Ingestion to Relevancy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457200" y="594360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DEMO B — WORKBENCH SHOWCASE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457200" y="960120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Search Relevance Workbench features (2 of 2)</a:t>
            </a:r>
            <a:endParaRPr/>
          </a:p>
        </p:txBody>
      </p:sp>
      <p:sp>
        <p:nvSpPr>
          <p:cNvPr id="237" name="Google Shape;237;p22"/>
          <p:cNvSpPr/>
          <p:nvPr/>
        </p:nvSpPr>
        <p:spPr>
          <a:xfrm>
            <a:off x="457200" y="2011680"/>
            <a:ext cx="3657600" cy="34747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731520" y="217627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4 · EXPERIMENT DASHBOARDS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731520" y="2514600"/>
            <a:ext cx="310896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Aggregate quality metrics and query-level deep dives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Hybrid variant-performance view for exploring parameter combinations</a:t>
            </a:r>
            <a:endParaRPr/>
          </a:p>
        </p:txBody>
      </p:sp>
      <p:sp>
        <p:nvSpPr>
          <p:cNvPr id="240" name="Google Shape;240;p22"/>
          <p:cNvSpPr/>
          <p:nvPr/>
        </p:nvSpPr>
        <p:spPr>
          <a:xfrm>
            <a:off x="4251960" y="2011680"/>
            <a:ext cx="3657600" cy="34747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4526280" y="217627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5 · SCHEDULED MONITORING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4526280" y="2514600"/>
            <a:ext cx="310896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Schedule and monitor a completed search-evaluation experiment over time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Relevance drift as data and query behavior change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Independent from the application's live observability panel</a:t>
            </a:r>
            <a:endParaRPr/>
          </a:p>
        </p:txBody>
      </p:sp>
      <p:sp>
        <p:nvSpPr>
          <p:cNvPr id="243" name="Google Shape;243;p22"/>
          <p:cNvSpPr/>
          <p:nvPr/>
        </p:nvSpPr>
        <p:spPr>
          <a:xfrm>
            <a:off x="8046720" y="2011680"/>
            <a:ext cx="3657600" cy="34747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 txBox="1"/>
          <p:nvPr/>
        </p:nvSpPr>
        <p:spPr>
          <a:xfrm>
            <a:off x="8321040" y="217627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6 · RELEVANCE AGENT (OPTIONAL)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8321040" y="2514600"/>
            <a:ext cx="310896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Introduced in OpenSearch 3.6, still experimental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Agent Server + specialized agents: behavior analysis, hypothesis generation, evaluation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Prepared latest-feature preview only — explicitly distinct from the custom LangGraph agent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/>
        </p:nvSpPr>
        <p:spPr>
          <a:xfrm>
            <a:off x="365760" y="2286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14 / 16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1737360" y="2286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OpenSearchCon NA 2026  ·  Agentic Search: Reimagining Search from Ingestion to Relevancy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457200" y="594360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TAKEAWAYS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457200" y="960120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What you leave with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457200" y="2011680"/>
            <a:ext cx="1124712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-US" sz="17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The progression:  </a:t>
            </a:r>
            <a:r>
              <a:rPr b="0" i="0" lang="en-US" sz="17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BM25 → vector → hybrid fusion → reranking → bounded agentic selection.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-US" sz="17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Judgments at runtime:  </a:t>
            </a:r>
            <a:r>
              <a:rPr b="0" i="0" lang="en-US" sz="17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 LangGraph application using judgments directly to improve one search and its answer.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-US" sz="17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Full transparency:  </a:t>
            </a:r>
            <a:r>
              <a:rPr b="0" i="0" lang="en-US" sz="17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agent's path, metrics, decisions, evidence, and latency in a live observability panel.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-US" sz="17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Workbench tour:  </a:t>
            </a:r>
            <a:r>
              <a:rPr b="0" i="0" lang="en-US" sz="17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latest Search Relevance Workbench capabilities as a separate OpenSearch feature tour.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-US" sz="17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A practical architecture  </a:t>
            </a:r>
            <a:r>
              <a:rPr b="0" i="0" lang="en-US" sz="17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that avoids unconstrained retries and unnecessary dependencies.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8"/>
          <p:cNvSpPr txBox="1"/>
          <p:nvPr/>
        </p:nvSpPr>
        <p:spPr>
          <a:xfrm>
            <a:off x="365760" y="2286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15 / 16</a:t>
            </a:r>
            <a:endParaRPr/>
          </a:p>
        </p:txBody>
      </p:sp>
      <p:sp>
        <p:nvSpPr>
          <p:cNvPr id="321" name="Google Shape;321;p28"/>
          <p:cNvSpPr txBox="1"/>
          <p:nvPr/>
        </p:nvSpPr>
        <p:spPr>
          <a:xfrm>
            <a:off x="1737360" y="2286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OpenSearchCon NA 2026  ·  Agentic Search: Reimagining Search from Ingestion to Relevancy</a:t>
            </a:r>
            <a:endParaRPr/>
          </a:p>
        </p:txBody>
      </p:sp>
      <p:sp>
        <p:nvSpPr>
          <p:cNvPr id="322" name="Google Shape;322;p28"/>
          <p:cNvSpPr txBox="1"/>
          <p:nvPr/>
        </p:nvSpPr>
        <p:spPr>
          <a:xfrm>
            <a:off x="457200" y="594360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SOURCES</a:t>
            </a:r>
            <a:endParaRPr/>
          </a:p>
        </p:txBody>
      </p:sp>
      <p:sp>
        <p:nvSpPr>
          <p:cNvPr id="323" name="Google Shape;323;p28"/>
          <p:cNvSpPr txBox="1"/>
          <p:nvPr/>
        </p:nvSpPr>
        <p:spPr>
          <a:xfrm>
            <a:off x="457200" y="960120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/>
          </a:p>
        </p:txBody>
      </p:sp>
      <p:sp>
        <p:nvSpPr>
          <p:cNvPr id="324" name="Google Shape;324;p28"/>
          <p:cNvSpPr txBox="1"/>
          <p:nvPr/>
        </p:nvSpPr>
        <p:spPr>
          <a:xfrm>
            <a:off x="457200" y="196596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Search Relevance Workbench</a:t>
            </a:r>
            <a:endParaRPr/>
          </a:p>
        </p:txBody>
      </p:sp>
      <p:sp>
        <p:nvSpPr>
          <p:cNvPr id="325" name="Google Shape;325;p28"/>
          <p:cNvSpPr txBox="1"/>
          <p:nvPr/>
        </p:nvSpPr>
        <p:spPr>
          <a:xfrm>
            <a:off x="4572000" y="1965960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docs.opensearch.org/latest/search-plugins/search-relevance/using-search-relevance-workbench/</a:t>
            </a:r>
            <a:endParaRPr/>
          </a:p>
        </p:txBody>
      </p:sp>
      <p:sp>
        <p:nvSpPr>
          <p:cNvPr id="326" name="Google Shape;326;p28"/>
          <p:cNvSpPr txBox="1"/>
          <p:nvPr/>
        </p:nvSpPr>
        <p:spPr>
          <a:xfrm>
            <a:off x="457200" y="2441448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Judgments</a:t>
            </a:r>
            <a:endParaRPr/>
          </a:p>
        </p:txBody>
      </p:sp>
      <p:sp>
        <p:nvSpPr>
          <p:cNvPr id="327" name="Google Shape;327;p28"/>
          <p:cNvSpPr txBox="1"/>
          <p:nvPr/>
        </p:nvSpPr>
        <p:spPr>
          <a:xfrm>
            <a:off x="4572000" y="2441448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docs.opensearch.org/latest/search-plugins/search-relevance/judgments/</a:t>
            </a:r>
            <a:endParaRPr/>
          </a:p>
        </p:txBody>
      </p:sp>
      <p:sp>
        <p:nvSpPr>
          <p:cNvPr id="328" name="Google Shape;328;p28"/>
          <p:cNvSpPr txBox="1"/>
          <p:nvPr/>
        </p:nvSpPr>
        <p:spPr>
          <a:xfrm>
            <a:off x="457200" y="2916936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Evaluating search quality</a:t>
            </a:r>
            <a:endParaRPr/>
          </a:p>
        </p:txBody>
      </p:sp>
      <p:sp>
        <p:nvSpPr>
          <p:cNvPr id="329" name="Google Shape;329;p28"/>
          <p:cNvSpPr txBox="1"/>
          <p:nvPr/>
        </p:nvSpPr>
        <p:spPr>
          <a:xfrm>
            <a:off x="4572000" y="2916936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docs.opensearch.org/latest/search-plugins/search-relevance/evaluate-search-quality/</a:t>
            </a:r>
            <a:endParaRPr/>
          </a:p>
        </p:txBody>
      </p:sp>
      <p:sp>
        <p:nvSpPr>
          <p:cNvPr id="330" name="Google Shape;330;p28"/>
          <p:cNvSpPr txBox="1"/>
          <p:nvPr/>
        </p:nvSpPr>
        <p:spPr>
          <a:xfrm>
            <a:off x="457200" y="339242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Optimizing hybrid search</a:t>
            </a:r>
            <a:endParaRPr/>
          </a:p>
        </p:txBody>
      </p:sp>
      <p:sp>
        <p:nvSpPr>
          <p:cNvPr id="331" name="Google Shape;331;p28"/>
          <p:cNvSpPr txBox="1"/>
          <p:nvPr/>
        </p:nvSpPr>
        <p:spPr>
          <a:xfrm>
            <a:off x="4572000" y="3392424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docs.opensearch.org/latest/search-plugins/search-relevance/optimize-hybrid-search/</a:t>
            </a:r>
            <a:endParaRPr/>
          </a:p>
        </p:txBody>
      </p:sp>
      <p:sp>
        <p:nvSpPr>
          <p:cNvPr id="332" name="Google Shape;332;p28"/>
          <p:cNvSpPr txBox="1"/>
          <p:nvPr/>
        </p:nvSpPr>
        <p:spPr>
          <a:xfrm>
            <a:off x="457200" y="3867912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Exploring experiment results</a:t>
            </a:r>
            <a:endParaRPr/>
          </a:p>
        </p:txBody>
      </p:sp>
      <p:sp>
        <p:nvSpPr>
          <p:cNvPr id="333" name="Google Shape;333;p28"/>
          <p:cNvSpPr txBox="1"/>
          <p:nvPr/>
        </p:nvSpPr>
        <p:spPr>
          <a:xfrm>
            <a:off x="4572000" y="3867912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docs.opensearch.org/latest/search-plugins/search-relevance/explore-experiment-results/</a:t>
            </a:r>
            <a:endParaRPr/>
          </a:p>
        </p:txBody>
      </p:sp>
      <p:sp>
        <p:nvSpPr>
          <p:cNvPr id="334" name="Google Shape;334;p28"/>
          <p:cNvSpPr txBox="1"/>
          <p:nvPr/>
        </p:nvSpPr>
        <p:spPr>
          <a:xfrm>
            <a:off x="457200" y="434340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Monitoring search quality</a:t>
            </a:r>
            <a:endParaRPr/>
          </a:p>
        </p:txBody>
      </p:sp>
      <p:sp>
        <p:nvSpPr>
          <p:cNvPr id="335" name="Google Shape;335;p28"/>
          <p:cNvSpPr txBox="1"/>
          <p:nvPr/>
        </p:nvSpPr>
        <p:spPr>
          <a:xfrm>
            <a:off x="4572000" y="4343400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docs.opensearch.org/latest/search-plugins/search-relevance/regularly-scheduled-experiments/</a:t>
            </a:r>
            <a:endParaRPr/>
          </a:p>
        </p:txBody>
      </p:sp>
      <p:sp>
        <p:nvSpPr>
          <p:cNvPr id="336" name="Google Shape;336;p28"/>
          <p:cNvSpPr txBox="1"/>
          <p:nvPr/>
        </p:nvSpPr>
        <p:spPr>
          <a:xfrm>
            <a:off x="457200" y="4818888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Relevance agent</a:t>
            </a:r>
            <a:endParaRPr/>
          </a:p>
        </p:txBody>
      </p:sp>
      <p:sp>
        <p:nvSpPr>
          <p:cNvPr id="337" name="Google Shape;337;p28"/>
          <p:cNvSpPr txBox="1"/>
          <p:nvPr/>
        </p:nvSpPr>
        <p:spPr>
          <a:xfrm>
            <a:off x="4572000" y="4818888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docs.opensearch.org/latest/search-plugins/search-relevance/relevance-agent/</a:t>
            </a:r>
            <a:endParaRPr/>
          </a:p>
        </p:txBody>
      </p:sp>
      <p:sp>
        <p:nvSpPr>
          <p:cNvPr id="338" name="Google Shape;338;p28"/>
          <p:cNvSpPr txBox="1"/>
          <p:nvPr/>
        </p:nvSpPr>
        <p:spPr>
          <a:xfrm>
            <a:off x="457200" y="5294375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LangGraph evaluator–optimizer workflows</a:t>
            </a:r>
            <a:endParaRPr/>
          </a:p>
        </p:txBody>
      </p:sp>
      <p:sp>
        <p:nvSpPr>
          <p:cNvPr id="339" name="Google Shape;339;p28"/>
          <p:cNvSpPr txBox="1"/>
          <p:nvPr/>
        </p:nvSpPr>
        <p:spPr>
          <a:xfrm>
            <a:off x="4572000" y="5294375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docs.langchain.com/oss/python/langgraph/workflows-agents</a:t>
            </a:r>
            <a:endParaRPr/>
          </a:p>
        </p:txBody>
      </p:sp>
      <p:sp>
        <p:nvSpPr>
          <p:cNvPr id="340" name="Google Shape;340;p28"/>
          <p:cNvSpPr txBox="1"/>
          <p:nvPr/>
        </p:nvSpPr>
        <p:spPr>
          <a:xfrm>
            <a:off x="457200" y="5769863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GitHub repository</a:t>
            </a:r>
            <a:endParaRPr/>
          </a:p>
        </p:txBody>
      </p:sp>
      <p:sp>
        <p:nvSpPr>
          <p:cNvPr id="341" name="Google Shape;341;p28"/>
          <p:cNvSpPr txBox="1"/>
          <p:nvPr/>
        </p:nvSpPr>
        <p:spPr>
          <a:xfrm>
            <a:off x="4572000" y="5769863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github.com/kmwtechnology/opensearch2026-agentic-search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540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9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9"/>
          <p:cNvSpPr txBox="1"/>
          <p:nvPr/>
        </p:nvSpPr>
        <p:spPr>
          <a:xfrm>
            <a:off x="640080" y="146304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  <p:sp>
        <p:nvSpPr>
          <p:cNvPr id="348" name="Google Shape;348;p29"/>
          <p:cNvSpPr txBox="1"/>
          <p:nvPr/>
        </p:nvSpPr>
        <p:spPr>
          <a:xfrm>
            <a:off x="640080" y="1920240"/>
            <a:ext cx="11247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/>
          </a:p>
        </p:txBody>
      </p:sp>
      <p:sp>
        <p:nvSpPr>
          <p:cNvPr id="349" name="Google Shape;349;p29"/>
          <p:cNvSpPr txBox="1"/>
          <p:nvPr/>
        </p:nvSpPr>
        <p:spPr>
          <a:xfrm>
            <a:off x="640080" y="36576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REPO</a:t>
            </a:r>
            <a:endParaRPr/>
          </a:p>
        </p:txBody>
      </p:sp>
      <p:sp>
        <p:nvSpPr>
          <p:cNvPr id="350" name="Google Shape;350;p29"/>
          <p:cNvSpPr txBox="1"/>
          <p:nvPr/>
        </p:nvSpPr>
        <p:spPr>
          <a:xfrm>
            <a:off x="640080" y="39319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github.com/kmwtechnology/opensearch2026-agentic-search</a:t>
            </a:r>
            <a:endParaRPr/>
          </a:p>
        </p:txBody>
      </p:sp>
      <p:sp>
        <p:nvSpPr>
          <p:cNvPr id="351" name="Google Shape;351;p29"/>
          <p:cNvSpPr txBox="1"/>
          <p:nvPr/>
        </p:nvSpPr>
        <p:spPr>
          <a:xfrm>
            <a:off x="640080" y="452628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/>
          </a:p>
        </p:txBody>
      </p:sp>
      <p:sp>
        <p:nvSpPr>
          <p:cNvPr id="352" name="Google Shape;352;p29"/>
          <p:cNvSpPr txBox="1"/>
          <p:nvPr/>
        </p:nvSpPr>
        <p:spPr>
          <a:xfrm>
            <a:off x="640080" y="480060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github.com/amazon-science/esci-data</a:t>
            </a:r>
            <a:endParaRPr/>
          </a:p>
        </p:txBody>
      </p:sp>
      <p:sp>
        <p:nvSpPr>
          <p:cNvPr id="353" name="Google Shape;353;p29"/>
          <p:cNvSpPr txBox="1"/>
          <p:nvPr/>
        </p:nvSpPr>
        <p:spPr>
          <a:xfrm>
            <a:off x="640080" y="640080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C5D1"/>
                </a:solidFill>
                <a:latin typeface="Calibri"/>
                <a:ea typeface="Calibri"/>
                <a:cs typeface="Calibri"/>
                <a:sym typeface="Calibri"/>
              </a:rPr>
              <a:t>Kevin M. Butler  ·  KMW Technology  ·  OpenSearchCon North America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