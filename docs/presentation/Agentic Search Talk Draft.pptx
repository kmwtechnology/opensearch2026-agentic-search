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75" r:id="rId25"/>
    <p:sldId id="276" r:id="rId26"/>
    <p:sldId id="258" r:id="rId8"/>
    <p:sldId id="259" r:id="rId9"/>
    <p:sldId id="277" r:id="rId27"/>
    <p:sldId id="270" r:id="rId20"/>
    <p:sldId id="273" r:id="rId23"/>
    <p:sldId id="278" r:id="rId19"/>
    <p:sldId id="267" r:id="rId17"/>
    <p:sldId id="262" r:id="rId12"/>
    <p:sldId id="263" r:id="rId13"/>
    <p:sldId id="279" r:id="rId18"/>
    <p:sldId id="264" r:id="rId14"/>
    <p:sldId id="265" r:id="rId15"/>
    <p:sldId id="260" r:id="rId10"/>
    <p:sldId id="271" r:id="rId21"/>
    <p:sldId id="272" r:id="rId22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14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7" Type="http://schemas.openxmlformats.org/officeDocument/2006/relationships/slide" Target="slides/slide8.xml"/><Relationship Id="rId18" Type="http://schemas.openxmlformats.org/officeDocument/2006/relationships/slide" Target="slides/slide18.xml"/><Relationship Id="rId19" Type="http://schemas.openxmlformats.org/officeDocument/2006/relationships/slide" Target="slides/slide17.xml"/><Relationship Id="rId20" Type="http://schemas.openxmlformats.org/officeDocument/2006/relationships/slide" Target="slides/slide11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7.xml"/><Relationship Id="rId25" Type="http://schemas.openxmlformats.org/officeDocument/2006/relationships/slide" Target="slides/slide2.xml"/><Relationship Id="rId26" Type="http://schemas.openxmlformats.org/officeDocument/2006/relationships/slide" Target="slides/slide5.xml"/><Relationship Id="rId27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2540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3"/>
          <p:cNvSpPr txBox="1"/>
          <p:nvPr/>
        </p:nvSpPr>
        <p:spPr>
          <a:xfrm>
            <a:off x="640080" y="19202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OPENSEARCHCON NORTH AMERICA 2026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640080" y="2331720"/>
            <a:ext cx="109728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Agentic Search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640080" y="3136392"/>
            <a:ext cx="109728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Reimagining search from ingestion to relevancy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640080" y="416052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7DD3FC"/>
                </a:solidFill>
                <a:latin typeface="Calibri"/>
                <a:ea typeface="Calibri"/>
                <a:cs typeface="Calibri"/>
                <a:sym typeface="Calibri"/>
              </a:rPr>
              <a:t>A live LangGraph search agent and a Search Relevance Workbench feature tour — two independent demos, one judgment list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640080" y="516636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Kevin M. Butler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640080" y="555955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B8C5D1"/>
                </a:solidFill>
                <a:latin typeface="Calibri"/>
                <a:ea typeface="Calibri"/>
                <a:cs typeface="Calibri"/>
                <a:sym typeface="Calibri"/>
              </a:rPr>
              <a:t>Senior Search and AI Engineer  ·  KMW Technology</a:t>
            </a:r>
            <a:endParaRPr/>
          </a:p>
        </p:txBody>
      </p:sp>
      <p:sp>
        <p:nvSpPr>
          <p:cNvPr id="91" name="Google Shape;91;p13"/>
          <p:cNvSpPr txBox="1"/>
          <p:nvPr/>
        </p:nvSpPr>
        <p:spPr>
          <a:xfrm>
            <a:off x="640080" y="587044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github.com/kmwtechnology/opensearch2026-agentic-search</a:t>
            </a:r>
            <a:endParaRPr/>
          </a:p>
        </p:txBody>
      </p:sp>
      <p:sp>
        <p:nvSpPr>
          <p:cNvPr id="92" name="Google Shape;92;p13"/>
          <p:cNvSpPr txBox="1"/>
          <p:nvPr/>
        </p:nvSpPr>
        <p:spPr>
          <a:xfrm>
            <a:off x="7772400" y="6446520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7B8C9F"/>
                </a:solidFill>
                <a:latin typeface="Calibri"/>
                <a:ea typeface="Calibri"/>
                <a:cs typeface="Calibri"/>
                <a:sym typeface="Calibri"/>
              </a:rPr>
              <a:t>OpenSearchCon North America 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5"/>
          <p:cNvSpPr txBox="1"/>
          <p:nvPr/>
        </p:nvSpPr>
        <p:spPr>
          <a:xfrm>
            <a:off x="365760" y="22860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2 / 18</a:t>
            </a:r>
            <a:endParaRPr/>
          </a:p>
        </p:txBody>
      </p:sp>
      <p:sp>
        <p:nvSpPr>
          <p:cNvPr id="107" name="Google Shape;107;p15"/>
          <p:cNvSpPr txBox="1"/>
          <p:nvPr/>
        </p:nvSpPr>
        <p:spPr>
          <a:xfrm>
            <a:off x="1737360" y="228600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OpenSearchCon NA 2026  ·  Agentic Search: Reimagining Search from Ingestion to Relevancy</a:t>
            </a:r>
            <a:endParaRPr/>
          </a:p>
        </p:txBody>
      </p:sp>
      <p:sp>
        <p:nvSpPr>
          <p:cNvPr id="108" name="Google Shape;108;p15"/>
          <p:cNvSpPr txBox="1"/>
          <p:nvPr/>
        </p:nvSpPr>
        <p:spPr>
          <a:xfrm>
            <a:off x="457200" y="594360"/>
            <a:ext cx="11247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THE PROBLEM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457200" y="960120"/>
            <a:ext cx="112471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Fast, plausible, and wrong</a:t>
            </a:r>
            <a:endParaRPr/>
          </a:p>
        </p:txBody>
      </p:sp>
      <p:sp>
        <p:nvSpPr>
          <p:cNvPr id="110" name="Google Shape;110;p15"/>
          <p:cNvSpPr txBox="1"/>
          <p:nvPr/>
        </p:nvSpPr>
        <p:spPr>
          <a:xfrm>
            <a:off x="457200" y="2011680"/>
            <a:ext cx="112471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8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The results look fine. The answer is wrong.</a:t>
            </a:r>
            <a:endParaRPr/>
          </a:p>
        </p:txBody>
      </p:sp>
      <p:sp>
        <p:nvSpPr>
          <p:cNvPr id="111" name="Google Shape;111;p15"/>
          <p:cNvSpPr txBox="1"/>
          <p:nvPr/>
        </p:nvSpPr>
        <p:spPr>
          <a:xfrm>
            <a:off x="457200" y="3017520"/>
            <a:ext cx="112471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Weak retrieval is invisible at the top of the page  ·  the generator writes fluently over it  ·  confidence is not evidence</a:t>
            </a:r>
            <a:endParaRPr/>
          </a:p>
        </p:txBody>
      </p:sp>
      <p:sp>
        <p:nvSpPr>
          <p:cNvPr id="112" name="Google Shape;112;p15"/>
          <p:cNvSpPr/>
          <p:nvPr/>
        </p:nvSpPr>
        <p:spPr>
          <a:xfrm>
            <a:off x="457200" y="4343400"/>
            <a:ext cx="11247120" cy="1737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5"/>
          <p:cNvSpPr txBox="1"/>
          <p:nvPr/>
        </p:nvSpPr>
        <p:spPr>
          <a:xfrm>
            <a:off x="731520" y="4526280"/>
            <a:ext cx="10698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THE QUESTION THIS TALK ANSWERS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731520" y="4864608"/>
            <a:ext cx="1069848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How can a search system recognize weak retrieval and change course before it answers?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5"/>
          <p:cNvSpPr txBox="1"/>
          <p:nvPr/>
        </p:nvSpPr>
        <p:spPr>
          <a:xfrm>
            <a:off x="365760" y="22860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4 / 18</a:t>
            </a:r>
            <a:endParaRPr/>
          </a:p>
        </p:txBody>
      </p:sp>
      <p:sp>
        <p:nvSpPr>
          <p:cNvPr id="107" name="Google Shape;107;p15"/>
          <p:cNvSpPr txBox="1"/>
          <p:nvPr/>
        </p:nvSpPr>
        <p:spPr>
          <a:xfrm>
            <a:off x="1737360" y="228600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OpenSearchCon NA 2026  ·  Agentic Search: Reimagining Search from Ingestion to Relevancy</a:t>
            </a:r>
            <a:endParaRPr/>
          </a:p>
        </p:txBody>
      </p:sp>
      <p:sp>
        <p:nvSpPr>
          <p:cNvPr id="108" name="Google Shape;108;p15"/>
          <p:cNvSpPr txBox="1"/>
          <p:nvPr/>
        </p:nvSpPr>
        <p:spPr>
          <a:xfrm>
            <a:off x="457200" y="594360"/>
            <a:ext cx="11247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TALK THESIS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457200" y="960120"/>
            <a:ext cx="112471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When does a search agent become genuinely agentic?</a:t>
            </a:r>
            <a:endParaRPr/>
          </a:p>
        </p:txBody>
      </p:sp>
      <p:sp>
        <p:nvSpPr>
          <p:cNvPr id="110" name="Google Shape;110;p15"/>
          <p:cNvSpPr txBox="1"/>
          <p:nvPr/>
        </p:nvSpPr>
        <p:spPr>
          <a:xfrm>
            <a:off x="457200" y="2011680"/>
            <a:ext cx="112471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8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A search agent becomes genuinely agentic in two distinct ways.</a:t>
            </a:r>
            <a:endParaRPr/>
          </a:p>
        </p:txBody>
      </p:sp>
      <p:sp>
        <p:nvSpPr>
          <p:cNvPr id="111" name="Google Shape;111;p15"/>
          <p:cNvSpPr txBox="1"/>
          <p:nvPr/>
        </p:nvSpPr>
        <p:spPr>
          <a:xfrm>
            <a:off x="457200" y="3017520"/>
            <a:ext cx="112471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(1) It can improve results on the fly — classify intent, weight retrieval dynamically, retry once when confidence is low, verify its own answer. (2) It can recognize when the catalog itself is wrong — not the query — and fix that: not just teach the index a term it's never seen, but correct a term it already has wrong, live. The second is harder and more honest — the wrong result passes the quality gate with a confident score; only a human catching it triggers the fix.</a:t>
            </a:r>
            <a:endParaRPr/>
          </a:p>
        </p:txBody>
      </p:sp>
      <p:sp>
        <p:nvSpPr>
          <p:cNvPr id="112" name="Google Shape;112;p15"/>
          <p:cNvSpPr/>
          <p:nvPr/>
        </p:nvSpPr>
        <p:spPr>
          <a:xfrm>
            <a:off x="457200" y="4343400"/>
            <a:ext cx="11247120" cy="1737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5"/>
          <p:cNvSpPr txBox="1"/>
          <p:nvPr/>
        </p:nvSpPr>
        <p:spPr>
          <a:xfrm>
            <a:off x="731520" y="4526280"/>
            <a:ext cx="10698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THE ONLY SHARED ELEMENT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731520" y="4864608"/>
            <a:ext cx="1069848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The authoritative judgment list. </a:t>
            </a:r>
            <a:r>
              <a:rPr b="0" i="0" lang="en-US" sz="14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Search Relevance Workbench imports it for its feature demonstration; LangGraph reads the same judgments opportunistically as a diagnostic — never to steer retry, routing, or ranking, which are driven entirely by reranker confidence. </a:t>
            </a:r>
            <a:r>
              <a:rPr b="1" i="0" lang="en-US" sz="14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Workbench results, experiments, and configurations do not feed the LangGraph application.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6"/>
          <p:cNvSpPr txBox="1"/>
          <p:nvPr/>
        </p:nvSpPr>
        <p:spPr>
          <a:xfrm>
            <a:off x="365760" y="22860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5 / 18</a:t>
            </a:r>
            <a:endParaRPr/>
          </a:p>
        </p:txBody>
      </p:sp>
      <p:sp>
        <p:nvSpPr>
          <p:cNvPr id="120" name="Google Shape;120;p16"/>
          <p:cNvSpPr txBox="1"/>
          <p:nvPr/>
        </p:nvSpPr>
        <p:spPr>
          <a:xfrm>
            <a:off x="1737360" y="228600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OpenSearchCon NA 2026  ·  Agentic Search: Reimagining Search from Ingestion to Relevancy</a:t>
            </a:r>
            <a:endParaRPr/>
          </a:p>
        </p:txBody>
      </p:sp>
      <p:sp>
        <p:nvSpPr>
          <p:cNvPr id="121" name="Google Shape;121;p16"/>
          <p:cNvSpPr txBox="1"/>
          <p:nvPr/>
        </p:nvSpPr>
        <p:spPr>
          <a:xfrm>
            <a:off x="457200" y="594360"/>
            <a:ext cx="11247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STRUCTURE</a:t>
            </a:r>
            <a:endParaRPr/>
          </a:p>
        </p:txBody>
      </p:sp>
      <p:sp>
        <p:nvSpPr>
          <p:cNvPr id="122" name="Google Shape;122;p16"/>
          <p:cNvSpPr txBox="1"/>
          <p:nvPr/>
        </p:nvSpPr>
        <p:spPr>
          <a:xfrm>
            <a:off x="457200" y="960120"/>
            <a:ext cx="112471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Two independent demonstrations</a:t>
            </a:r>
            <a:endParaRPr/>
          </a:p>
        </p:txBody>
      </p:sp>
      <p:sp>
        <p:nvSpPr>
          <p:cNvPr id="123" name="Google Shape;123;p16"/>
          <p:cNvSpPr/>
          <p:nvPr/>
        </p:nvSpPr>
        <p:spPr>
          <a:xfrm>
            <a:off x="457200" y="1920240"/>
            <a:ext cx="5486400" cy="31089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6"/>
          <p:cNvSpPr txBox="1"/>
          <p:nvPr/>
        </p:nvSpPr>
        <p:spPr>
          <a:xfrm>
            <a:off x="731520" y="2084832"/>
            <a:ext cx="4937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DEMO A — LIVE LANGGRAPH AGENTIC SEARCH</a:t>
            </a:r>
            <a:endParaRPr/>
          </a:p>
        </p:txBody>
      </p:sp>
      <p:sp>
        <p:nvSpPr>
          <p:cNvPr id="125" name="Google Shape;125;p16"/>
          <p:cNvSpPr txBox="1"/>
          <p:nvPr/>
        </p:nvSpPr>
        <p:spPr>
          <a:xfrm>
            <a:off x="731520" y="2423160"/>
            <a:ext cx="493776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Uses the product index and esci_judgments directly at runtime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Accepts any natural-language query — judgments consulted opportunistically when a match exists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Classifies intent, weights retrieval dynamically (α), retries once if confidence is low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Curates evidence, generates, critiques, and optionally repairs the answer once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Can also correct the catalog itself, live — the centerpiece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Explains the full run through the observability panel</a:t>
            </a:r>
            <a:endParaRPr/>
          </a:p>
        </p:txBody>
      </p:sp>
      <p:sp>
        <p:nvSpPr>
          <p:cNvPr id="126" name="Google Shape;126;p16"/>
          <p:cNvSpPr/>
          <p:nvPr/>
        </p:nvSpPr>
        <p:spPr>
          <a:xfrm>
            <a:off x="6217920" y="1920240"/>
            <a:ext cx="5486400" cy="31089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6"/>
          <p:cNvSpPr txBox="1"/>
          <p:nvPr/>
        </p:nvSpPr>
        <p:spPr>
          <a:xfrm>
            <a:off x="6492240" y="2084832"/>
            <a:ext cx="4937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DEMO B — WORKBENCH FEATURE SHOWCASE</a:t>
            </a:r>
            <a:endParaRPr/>
          </a:p>
        </p:txBody>
      </p:sp>
      <p:sp>
        <p:nvSpPr>
          <p:cNvPr id="128" name="Google Shape;128;p16"/>
          <p:cNvSpPr txBox="1"/>
          <p:nvPr/>
        </p:nvSpPr>
        <p:spPr>
          <a:xfrm>
            <a:off x="6492240" y="2423160"/>
            <a:ext cx="493776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Demonstrates current relevance-engineering capabilities in OpenSearch Dashboards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Uses its own query set, judgments, configurations, and experiments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Imports the relevant esci_judgments subset as demo data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Succeeds as a standalone feature tour even without the LangGraph demo</a:t>
            </a:r>
            <a:endParaRPr/>
          </a:p>
        </p:txBody>
      </p:sp>
      <p:sp>
        <p:nvSpPr>
          <p:cNvPr id="129" name="Google Shape;129;p16"/>
          <p:cNvSpPr/>
          <p:nvPr/>
        </p:nvSpPr>
        <p:spPr>
          <a:xfrm>
            <a:off x="457200" y="5212080"/>
            <a:ext cx="11247120" cy="100584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6"/>
          <p:cNvSpPr txBox="1"/>
          <p:nvPr/>
        </p:nvSpPr>
        <p:spPr>
          <a:xfrm>
            <a:off x="731520" y="5376672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  <a:r>
              <a:rPr b="1" i="0" lang="en-US" sz="12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WHAT THEY SHARE   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Only the judgment list. Workbench does not tune, validate, configure, or monitor the LangGraph application, and LangGraph never consumes Workbench experiments or parameters.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35" name="Google Shape;135;p17"/>
          <p:cNvSpPr txBox="1"/>
          <p:nvPr/>
        </p:nvSpPr>
        <p:spPr>
          <a:xfrm>
            <a:off x="365760" y="22860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3 / 18</a:t>
            </a:r>
            <a:endParaRPr/>
          </a:p>
        </p:txBody>
      </p:sp>
      <p:sp>
        <p:nvSpPr>
          <p:cNvPr id="136" name="Google Shape;136;p17"/>
          <p:cNvSpPr txBox="1"/>
          <p:nvPr/>
        </p:nvSpPr>
        <p:spPr>
          <a:xfrm>
            <a:off x="1737360" y="228600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OpenSearchCon NA 2026  ·  Agentic Search: Reimagining Search from Ingestion to Relevancy</a:t>
            </a:r>
            <a:endParaRPr/>
          </a:p>
        </p:txBody>
      </p:sp>
      <p:sp>
        <p:nvSpPr>
          <p:cNvPr id="137" name="Google Shape;137;p17"/>
          <p:cNvSpPr txBox="1"/>
          <p:nvPr/>
        </p:nvSpPr>
        <p:spPr>
          <a:xfrm>
            <a:off x="457200" y="594360"/>
            <a:ext cx="11247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BASELINE</a:t>
            </a:r>
            <a:endParaRPr/>
          </a:p>
        </p:txBody>
      </p:sp>
      <p:sp>
        <p:nvSpPr>
          <p:cNvPr id="138" name="Google Shape;138;p17"/>
          <p:cNvSpPr txBox="1"/>
          <p:nvPr/>
        </p:nvSpPr>
        <p:spPr>
          <a:xfrm>
            <a:off x="457200" y="960120"/>
            <a:ext cx="112471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From lexical match to measured selection</a:t>
            </a:r>
            <a:endParaRPr/>
          </a:p>
        </p:txBody>
      </p:sp>
      <p:sp>
        <p:nvSpPr>
          <p:cNvPr id="139" name="Google Shape;139;p17"/>
          <p:cNvSpPr txBox="1"/>
          <p:nvPr/>
        </p:nvSpPr>
        <p:spPr>
          <a:xfrm>
            <a:off x="457200" y="2011680"/>
            <a:ext cx="1124712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1" i="0" lang="en-US" sz="17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BM25:  </a:t>
            </a:r>
            <a:r>
              <a:rPr b="0" i="0" lang="en-US" sz="17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lexical scoring — precise when the words match, blind when they do not.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1" i="0" lang="en-US" sz="17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Vector:  </a:t>
            </a:r>
            <a:r>
              <a:rPr b="0" i="0" lang="en-US" sz="17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semantic recall — finds the paraphrase, drifts on the specifics.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1" i="0" lang="en-US" sz="17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Hybrid fusion:  </a:t>
            </a:r>
            <a:r>
              <a:rPr b="0" i="0" lang="en-US" sz="17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combine both candidate sets — score normalization, weighting, or RRF.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1" i="0" lang="en-US" sz="17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Reranking:  </a:t>
            </a:r>
            <a:r>
              <a:rPr b="0" i="0" lang="en-US" sz="17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reorder a shared candidate budget with a stronger model.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1" i="0" lang="en-US" sz="17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Bounded agentic selection:  </a:t>
            </a:r>
            <a:r>
              <a:rPr b="0" i="0" lang="en-US" sz="17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run several of these, measure each against judgments, keep the best.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1" i="0" lang="en-US" sz="17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The gap:  </a:t>
            </a:r>
            <a:r>
              <a:rPr b="0" i="0" lang="en-US" sz="17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each step adds recall or precision — none of them notices when it has failed.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35" name="Google Shape;135;p17"/>
          <p:cNvSpPr txBox="1"/>
          <p:nvPr/>
        </p:nvSpPr>
        <p:spPr>
          <a:xfrm>
            <a:off x="365760" y="22860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6 / 18</a:t>
            </a:r>
            <a:endParaRPr/>
          </a:p>
        </p:txBody>
      </p:sp>
      <p:sp>
        <p:nvSpPr>
          <p:cNvPr id="136" name="Google Shape;136;p17"/>
          <p:cNvSpPr txBox="1"/>
          <p:nvPr/>
        </p:nvSpPr>
        <p:spPr>
          <a:xfrm>
            <a:off x="1737360" y="228600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OpenSearchCon NA 2026  ·  Agentic Search: Reimagining Search from Ingestion to Relevancy</a:t>
            </a:r>
            <a:endParaRPr/>
          </a:p>
        </p:txBody>
      </p:sp>
      <p:sp>
        <p:nvSpPr>
          <p:cNvPr id="137" name="Google Shape;137;p17"/>
          <p:cNvSpPr txBox="1"/>
          <p:nvPr/>
        </p:nvSpPr>
        <p:spPr>
          <a:xfrm>
            <a:off x="457200" y="594360"/>
            <a:ext cx="11247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CORPUS  ·  JUDGMENTS</a:t>
            </a:r>
            <a:endParaRPr/>
          </a:p>
        </p:txBody>
      </p:sp>
      <p:sp>
        <p:nvSpPr>
          <p:cNvPr id="138" name="Google Shape;138;p17"/>
          <p:cNvSpPr txBox="1"/>
          <p:nvPr/>
        </p:nvSpPr>
        <p:spPr>
          <a:xfrm>
            <a:off x="457200" y="960120"/>
            <a:ext cx="112471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What we measure against</a:t>
            </a:r>
            <a:endParaRPr/>
          </a:p>
        </p:txBody>
      </p:sp>
      <p:sp>
        <p:nvSpPr>
          <p:cNvPr id="139" name="Google Shape;139;p17"/>
          <p:cNvSpPr txBox="1"/>
          <p:nvPr/>
        </p:nvSpPr>
        <p:spPr>
          <a:xfrm>
            <a:off x="457200" y="2011680"/>
            <a:ext cx="1124712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1" i="0" lang="en-US" sz="17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The corpus:  </a:t>
            </a:r>
            <a:r>
              <a:rPr b="0" i="0" lang="en-US" sz="17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Amazon ESCI product data — 9,618 documents in the demo index.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1" i="0" lang="en-US" sz="17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The labels:  </a:t>
            </a:r>
            <a:r>
              <a:rPr b="0" i="0" lang="en-US" sz="17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Exact, Substitute, Complement, Irrelevant — graded relevance per query and product.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1" i="0" lang="en-US" sz="17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esci_judgments:  </a:t>
            </a:r>
            <a:r>
              <a:rPr b="0" i="0" lang="en-US" sz="17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the authoritative judgment list, read directly from OpenSearch at runtime.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1" i="0" lang="en-US" sz="17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Scope:  </a:t>
            </a:r>
            <a:r>
              <a:rPr b="0" i="0" lang="en-US" sz="17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the live demo accepts any query. An exact judgment match shows NDCG@10/MRR/Recall@20/Precision@10; otherwise a confidence proxy (top-1 score, score gap, variance, rank churn) fills in.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1" i="0" lang="en-US" sz="17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Earned, not seeded:  </a:t>
            </a:r>
            <a:r>
              <a:rPr b="0" i="0" lang="en-US" sz="17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judged product IDs are never injected into retrieval — results are earned by the same hybrid search every query gets.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1" i="0" lang="en-US" sz="17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Bounded:  </a:t>
            </a:r>
            <a:r>
              <a:rPr b="0" i="0" lang="en-US" sz="17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one alpha-adjusted quality-gate retry; one LLM-judge auto-correction, only for fabrication or cross-product bleed.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35" name="Google Shape;135;p17"/>
          <p:cNvSpPr txBox="1"/>
          <p:nvPr/>
        </p:nvSpPr>
        <p:spPr>
          <a:xfrm>
            <a:off x="365760" y="22860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8 / 18</a:t>
            </a:r>
            <a:endParaRPr/>
          </a:p>
        </p:txBody>
      </p:sp>
      <p:sp>
        <p:nvSpPr>
          <p:cNvPr id="136" name="Google Shape;136;p17"/>
          <p:cNvSpPr txBox="1"/>
          <p:nvPr/>
        </p:nvSpPr>
        <p:spPr>
          <a:xfrm>
            <a:off x="1737360" y="228600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OpenSearchCon NA 2026  ·  Agentic Search: Reimagining Search from Ingestion to Relevancy</a:t>
            </a:r>
            <a:endParaRPr/>
          </a:p>
        </p:txBody>
      </p:sp>
      <p:sp>
        <p:nvSpPr>
          <p:cNvPr id="137" name="Google Shape;137;p17"/>
          <p:cNvSpPr txBox="1"/>
          <p:nvPr/>
        </p:nvSpPr>
        <p:spPr>
          <a:xfrm>
            <a:off x="457200" y="594360"/>
            <a:ext cx="11247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INGESTION  ·  LUCILLE</a:t>
            </a:r>
            <a:endParaRPr/>
          </a:p>
        </p:txBody>
      </p:sp>
      <p:sp>
        <p:nvSpPr>
          <p:cNvPr id="138" name="Google Shape;138;p17"/>
          <p:cNvSpPr txBox="1"/>
          <p:nvPr/>
        </p:nvSpPr>
        <p:spPr>
          <a:xfrm>
            <a:off x="457200" y="960120"/>
            <a:ext cx="112471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Agents reshape what gets indexed</a:t>
            </a:r>
            <a:endParaRPr/>
          </a:p>
        </p:txBody>
      </p:sp>
      <p:sp>
        <p:nvSpPr>
          <p:cNvPr id="139" name="Google Shape;139;p17"/>
          <p:cNvSpPr txBox="1"/>
          <p:nvPr/>
        </p:nvSpPr>
        <p:spPr>
          <a:xfrm>
            <a:off x="457200" y="2011680"/>
            <a:ext cx="1124712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1" i="0" lang="en-US" sz="17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Lucille pipeline:  </a:t>
            </a:r>
            <a:r>
              <a:rPr b="0" i="0" lang="en-US" sz="17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ingests the raw product fields through a generated HOCON config, products.generated.conf — regenerated fresh before every run, not a static committed file.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1" i="0" lang="en-US" sz="17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Augmentation pass:  </a:t>
            </a:r>
            <a:r>
              <a:rPr b="0" i="0" lang="en-US" sz="17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attribute detection happens inside the ingest pipeline itself — AttributeDetectorStage, one generic Java stage parameterized by attribute type, in a single pass.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1" i="0" lang="en-US" sz="17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Deterministic rules:  </a:t>
            </a:r>
            <a:r>
              <a:rPr b="0" i="0" lang="en-US" sz="17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the taxonomy (which variants map to which canonical bucket, for color and material) lives in OpenSearch, not a committed file. A new attribute type needs zero new Java code.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1" i="0" lang="en-US" sz="17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Derived fields:  </a:t>
            </a:r>
            <a:r>
              <a:rPr b="0" i="0" lang="en-US" sz="17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product_color_primary/_secondary, product_material_primary/_secondary; brand handled separately by BrandNormalizerStage.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1" i="0" lang="en-US" sz="17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Bulk rewrite:  </a:t>
            </a:r>
            <a:r>
              <a:rPr b="0" i="0" lang="en-US" sz="17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batches of 250 — roughly 9,600 documents across about 40 batches.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1" i="0" lang="en-US" sz="17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The payoff:  </a:t>
            </a:r>
            <a:r>
              <a:rPr b="0" i="0" lang="en-US" sz="17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“blue backpacks” now matches Navy and Cyan variants — that's growth. The harder, more interesting case: correcting a term the index already has wrong.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24"/>
          <p:cNvSpPr txBox="1"/>
          <p:nvPr/>
        </p:nvSpPr>
        <p:spPr>
          <a:xfrm>
            <a:off x="365760" y="22860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10 / 18</a:t>
            </a:r>
            <a:endParaRPr/>
          </a:p>
        </p:txBody>
      </p:sp>
      <p:sp>
        <p:nvSpPr>
          <p:cNvPr id="262" name="Google Shape;262;p24"/>
          <p:cNvSpPr txBox="1"/>
          <p:nvPr/>
        </p:nvSpPr>
        <p:spPr>
          <a:xfrm>
            <a:off x="1737360" y="228600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OpenSearchCon NA 2026  ·  Agentic Search: Reimagining Search from Ingestion to Relevancy</a:t>
            </a:r>
            <a:endParaRPr/>
          </a:p>
        </p:txBody>
      </p:sp>
      <p:sp>
        <p:nvSpPr>
          <p:cNvPr id="263" name="Google Shape;263;p24"/>
          <p:cNvSpPr txBox="1"/>
          <p:nvPr/>
        </p:nvSpPr>
        <p:spPr>
          <a:xfrm>
            <a:off x="457200" y="594360"/>
            <a:ext cx="11247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ARCHITECTURE</a:t>
            </a:r>
            <a:endParaRPr/>
          </a:p>
        </p:txBody>
      </p:sp>
      <p:sp>
        <p:nvSpPr>
          <p:cNvPr id="264" name="Google Shape;264;p24"/>
          <p:cNvSpPr txBox="1"/>
          <p:nvPr/>
        </p:nvSpPr>
        <p:spPr>
          <a:xfrm>
            <a:off x="457200" y="960120"/>
            <a:ext cx="112471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Inside the agent</a:t>
            </a:r>
            <a:endParaRPr/>
          </a:p>
        </p:txBody>
      </p:sp>
      <p:sp>
        <p:nvSpPr>
          <p:cNvPr id="265" name="Google Shape;265;p24"/>
          <p:cNvSpPr/>
          <p:nvPr/>
        </p:nvSpPr>
        <p:spPr>
          <a:xfrm>
            <a:off x="457200" y="1965960"/>
            <a:ext cx="5486400" cy="21031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24"/>
          <p:cNvSpPr txBox="1"/>
          <p:nvPr/>
        </p:nvSpPr>
        <p:spPr>
          <a:xfrm>
            <a:off x="731520" y="2130552"/>
            <a:ext cx="4937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PIPELINE</a:t>
            </a:r>
            <a:endParaRPr/>
          </a:p>
        </p:txBody>
      </p:sp>
      <p:sp>
        <p:nvSpPr>
          <p:cNvPr id="267" name="Google Shape;267;p24"/>
          <p:cNvSpPr txBox="1"/>
          <p:nvPr/>
        </p:nvSpPr>
        <p:spPr>
          <a:xfrm>
            <a:off x="731520" y="2468880"/>
            <a:ext cx="493776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Intent classifier (6 classes) → query rewriter (follow-ups) → query evaluator (sets α)</a:t>
            </a: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→ retriever: one hybrid BM25+vector pass, RRF fusion (k=60)</a:t>
            </a: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→ reranker (cross-encoder, scores 0.0–1.0) → agent (cited generation) → LLM judge</a:t>
            </a:r>
          </a:p>
        </p:txBody>
      </p:sp>
      <p:sp>
        <p:nvSpPr>
          <p:cNvPr id="268" name="Google Shape;268;p24"/>
          <p:cNvSpPr/>
          <p:nvPr/>
        </p:nvSpPr>
        <p:spPr>
          <a:xfrm>
            <a:off x="6217920" y="1965960"/>
            <a:ext cx="5486400" cy="21031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4"/>
          <p:cNvSpPr txBox="1"/>
          <p:nvPr/>
        </p:nvSpPr>
        <p:spPr>
          <a:xfrm>
            <a:off x="6492240" y="2130552"/>
            <a:ext cx="4937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QUALITY GATE</a:t>
            </a:r>
            <a:endParaRPr/>
          </a:p>
        </p:txBody>
      </p:sp>
      <p:sp>
        <p:nvSpPr>
          <p:cNvPr id="270" name="Google Shape;270;p24"/>
          <p:cNvSpPr txBox="1"/>
          <p:nvPr/>
        </p:nvSpPr>
        <p:spPr>
          <a:xfrm>
            <a:off x="6492240" y="2468880"/>
            <a:ext cx="493776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1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Reranker max score vs. an intent-specific threshold (0.45–0.55)</a:t>
            </a: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1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Below threshold: retry once, alpha adjusted toward the opposite end</a:t>
            </a: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1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A bounded single retry — not an open-ended recovery loop</a:t>
            </a:r>
          </a:p>
        </p:txBody>
      </p:sp>
      <p:sp>
        <p:nvSpPr>
          <p:cNvPr id="271" name="Google Shape;271;p24"/>
          <p:cNvSpPr/>
          <p:nvPr/>
        </p:nvSpPr>
        <p:spPr>
          <a:xfrm>
            <a:off x="457200" y="4206240"/>
            <a:ext cx="5486400" cy="21031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24"/>
          <p:cNvSpPr txBox="1"/>
          <p:nvPr/>
        </p:nvSpPr>
        <p:spPr>
          <a:xfrm>
            <a:off x="731520" y="4370831"/>
            <a:ext cx="4937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GENERATE &amp; VERIFY</a:t>
            </a:r>
            <a:endParaRPr/>
          </a:p>
        </p:txBody>
      </p:sp>
      <p:sp>
        <p:nvSpPr>
          <p:cNvPr id="273" name="Google Shape;273;p24"/>
          <p:cNvSpPr txBox="1"/>
          <p:nvPr/>
        </p:nvSpPr>
        <p:spPr>
          <a:xfrm>
            <a:off x="731520" y="4709159"/>
            <a:ext cx="493776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Context built strictly from each retrieved product's own facts</a:t>
            </a: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Cited answer generated, then checked by an LLM judge for hallucination</a:t>
            </a: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One bounded auto-correction, only for fabrication or cross-product bleed</a:t>
            </a:r>
          </a:p>
        </p:txBody>
      </p:sp>
      <p:sp>
        <p:nvSpPr>
          <p:cNvPr id="274" name="Google Shape;274;p24"/>
          <p:cNvSpPr/>
          <p:nvPr/>
        </p:nvSpPr>
        <p:spPr>
          <a:xfrm>
            <a:off x="6217920" y="4206240"/>
            <a:ext cx="5486400" cy="21031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4"/>
          <p:cNvSpPr txBox="1"/>
          <p:nvPr/>
        </p:nvSpPr>
        <p:spPr>
          <a:xfrm>
            <a:off x="6492240" y="4370831"/>
            <a:ext cx="4937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TYPED STATE</a:t>
            </a:r>
            <a:endParaRPr/>
          </a:p>
        </p:txBody>
      </p:sp>
      <p:sp>
        <p:nvSpPr>
          <p:cNvPr id="276" name="Google Shape;276;p24"/>
          <p:cNvSpPr txBox="1"/>
          <p:nvPr/>
        </p:nvSpPr>
        <p:spPr>
          <a:xfrm>
            <a:off x="6492240" y="4709159"/>
            <a:ext cx="493776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CustomAgentState: a single total=False TypedDict — intent, confidence, alpha,</a:t>
            </a: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retrieved_documents, reranker_max_score, quality_gate_retried, enrichment_*</a:t>
            </a: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No separate attempt-scoring contracts were needed — simpler than planned</a:t>
            </a: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Layered on top: taxonomy self-correction — trigger_enrichment(attribute_type, variant, canonical), fired by a gap or a correction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9"/>
          <p:cNvSpPr txBox="1"/>
          <p:nvPr/>
        </p:nvSpPr>
        <p:spPr>
          <a:xfrm>
            <a:off x="365760" y="22860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11 / 18</a:t>
            </a:r>
            <a:endParaRPr/>
          </a:p>
        </p:txBody>
      </p:sp>
      <p:sp>
        <p:nvSpPr>
          <p:cNvPr id="174" name="Google Shape;174;p19"/>
          <p:cNvSpPr txBox="1"/>
          <p:nvPr/>
        </p:nvSpPr>
        <p:spPr>
          <a:xfrm>
            <a:off x="1737360" y="228600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OpenSearchCon NA 2026  ·  Agentic Search: Reimagining Search from Ingestion to Relevancy</a:t>
            </a:r>
            <a:endParaRPr/>
          </a:p>
        </p:txBody>
      </p:sp>
      <p:sp>
        <p:nvSpPr>
          <p:cNvPr id="175" name="Google Shape;175;p19"/>
          <p:cNvSpPr txBox="1"/>
          <p:nvPr/>
        </p:nvSpPr>
        <p:spPr>
          <a:xfrm>
            <a:off x="457200" y="594360"/>
            <a:ext cx="11247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DEMO A — LIVE EXPERIENCE</a:t>
            </a:r>
            <a:endParaRPr/>
          </a:p>
        </p:txBody>
      </p:sp>
      <p:sp>
        <p:nvSpPr>
          <p:cNvPr id="176" name="Google Shape;176;p19"/>
          <p:cNvSpPr txBox="1"/>
          <p:nvPr/>
        </p:nvSpPr>
        <p:spPr>
          <a:xfrm>
            <a:off x="457200" y="960120"/>
            <a:ext cx="112471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Five stages, every budget bounded</a:t>
            </a:r>
            <a:endParaRPr/>
          </a:p>
        </p:txBody>
      </p:sp>
      <p:sp>
        <p:nvSpPr>
          <p:cNvPr id="177" name="Google Shape;177;p19"/>
          <p:cNvSpPr txBox="1"/>
          <p:nvPr/>
        </p:nvSpPr>
        <p:spPr>
          <a:xfrm>
            <a:off x="457200" y="1965960"/>
            <a:ext cx="28346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1 · Classify intent</a:t>
            </a:r>
            <a:endParaRPr/>
          </a:p>
        </p:txBody>
      </p:sp>
      <p:sp>
        <p:nvSpPr>
          <p:cNvPr id="178" name="Google Shape;178;p19"/>
          <p:cNvSpPr txBox="1"/>
          <p:nvPr/>
        </p:nvSpPr>
        <p:spPr>
          <a:xfrm>
            <a:off x="3429000" y="1965960"/>
            <a:ext cx="82753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6 classes, single structured-output call. Confidence &lt;0.7 → clarifying question instead of a guess. Follow-up turns resolve pronouns/comparatives first.</a:t>
            </a:r>
            <a:endParaRPr/>
          </a:p>
        </p:txBody>
      </p:sp>
      <p:sp>
        <p:nvSpPr>
          <p:cNvPr id="179" name="Google Shape;179;p19"/>
          <p:cNvSpPr txBox="1"/>
          <p:nvPr/>
        </p:nvSpPr>
        <p:spPr>
          <a:xfrm>
            <a:off x="457200" y="2852928"/>
            <a:ext cx="28346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2 · Weight the query</a:t>
            </a:r>
            <a:endParaRPr/>
          </a:p>
        </p:txBody>
      </p:sp>
      <p:sp>
        <p:nvSpPr>
          <p:cNvPr id="180" name="Google Shape;180;p19"/>
          <p:cNvSpPr txBox="1"/>
          <p:nvPr/>
        </p:nvSpPr>
        <p:spPr>
          <a:xfrm>
            <a:off x="3429000" y="2852928"/>
            <a:ext cx="82753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Sets α per query — fast-path defaults for comparison/attribute_filter/refinement, LLM-assessed for search/follow_up.</a:t>
            </a:r>
            <a:endParaRPr/>
          </a:p>
        </p:txBody>
      </p:sp>
      <p:sp>
        <p:nvSpPr>
          <p:cNvPr id="181" name="Google Shape;181;p19"/>
          <p:cNvSpPr txBox="1"/>
          <p:nvPr/>
        </p:nvSpPr>
        <p:spPr>
          <a:xfrm>
            <a:off x="457200" y="3739896"/>
            <a:ext cx="28346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3 · Retrieve</a:t>
            </a:r>
            <a:endParaRPr/>
          </a:p>
        </p:txBody>
      </p:sp>
      <p:sp>
        <p:nvSpPr>
          <p:cNvPr id="182" name="Google Shape;182;p19"/>
          <p:cNvSpPr txBox="1"/>
          <p:nvPr/>
        </p:nvSpPr>
        <p:spPr>
          <a:xfrm>
            <a:off x="3429000" y="3739896"/>
            <a:ext cx="82753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One hybrid BM25+vector pass, RRF fusion (k=60). attribute_filter intent applies taxonomy-backed filters; soft filters relax, hard filters (color/brand) never do.</a:t>
            </a:r>
            <a:endParaRPr/>
          </a:p>
        </p:txBody>
      </p:sp>
      <p:sp>
        <p:nvSpPr>
          <p:cNvPr id="183" name="Google Shape;183;p19"/>
          <p:cNvSpPr txBox="1"/>
          <p:nvPr/>
        </p:nvSpPr>
        <p:spPr>
          <a:xfrm>
            <a:off x="457200" y="4626864"/>
            <a:ext cx="28346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4 · Rerank &amp; gate</a:t>
            </a:r>
            <a:endParaRPr/>
          </a:p>
        </p:txBody>
      </p:sp>
      <p:sp>
        <p:nvSpPr>
          <p:cNvPr id="184" name="Google Shape;184;p19"/>
          <p:cNvSpPr txBox="1"/>
          <p:nvPr/>
        </p:nvSpPr>
        <p:spPr>
          <a:xfrm>
            <a:off x="3429000" y="4626864"/>
            <a:ext cx="82753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Cross-encoder scores 0–1 against an intent-specific threshold. One alpha-adjusted retry at most — a bounded single retry, not an open-ended loop.</a:t>
            </a:r>
            <a:endParaRPr/>
          </a:p>
        </p:txBody>
      </p:sp>
      <p:sp>
        <p:nvSpPr>
          <p:cNvPr id="185" name="Google Shape;185;p19"/>
          <p:cNvSpPr txBox="1"/>
          <p:nvPr/>
        </p:nvSpPr>
        <p:spPr>
          <a:xfrm>
            <a:off x="457200" y="5513831"/>
            <a:ext cx="28346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5 · Generate &amp; verify</a:t>
            </a:r>
            <a:endParaRPr/>
          </a:p>
        </p:txBody>
      </p:sp>
      <p:sp>
        <p:nvSpPr>
          <p:cNvPr id="186" name="Google Shape;186;p19"/>
          <p:cNvSpPr txBox="1"/>
          <p:nvPr/>
        </p:nvSpPr>
        <p:spPr>
          <a:xfrm>
            <a:off x="3429000" y="5513831"/>
            <a:ext cx="82753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Cited answer from retrieved evidence; LLM judge checks for hallucination, bounded auto-correct for fabrication / cross-product bleed only.</a:t>
            </a:r>
            <a:endParaRPr/>
          </a:p>
        </p:txBody>
      </p:sp>
      <p:sp>
        <p:nvSpPr>
          <p:cNvPr id="187" name="Google Shape;186;p19"/>
          <p:cNvSpPr txBox="1"/>
          <p:nvPr/>
        </p:nvSpPr>
        <p:spPr>
          <a:xfrm>
            <a:off x="457200" y="6386791"/>
            <a:ext cx="11247120" cy="3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6 · Self-correct the catalog, when disputed — the centerpiece (see next section)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0"/>
          <p:cNvSpPr txBox="1"/>
          <p:nvPr/>
        </p:nvSpPr>
        <p:spPr>
          <a:xfrm>
            <a:off x="365760" y="22860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12 / 18</a:t>
            </a:r>
            <a:endParaRPr/>
          </a:p>
        </p:txBody>
      </p:sp>
      <p:sp>
        <p:nvSpPr>
          <p:cNvPr id="192" name="Google Shape;192;p20"/>
          <p:cNvSpPr txBox="1"/>
          <p:nvPr/>
        </p:nvSpPr>
        <p:spPr>
          <a:xfrm>
            <a:off x="1737360" y="228600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OpenSearchCon NA 2026  ·  Agentic Search: Reimagining Search from Ingestion to Relevancy</a:t>
            </a:r>
            <a:endParaRPr/>
          </a:p>
        </p:txBody>
      </p:sp>
      <p:sp>
        <p:nvSpPr>
          <p:cNvPr id="193" name="Google Shape;193;p20"/>
          <p:cNvSpPr txBox="1"/>
          <p:nvPr/>
        </p:nvSpPr>
        <p:spPr>
          <a:xfrm>
            <a:off x="457200" y="594360"/>
            <a:ext cx="11247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DEMO A — OBSERVABILITY</a:t>
            </a:r>
            <a:endParaRPr/>
          </a:p>
        </p:txBody>
      </p:sp>
      <p:sp>
        <p:nvSpPr>
          <p:cNvPr id="194" name="Google Shape;194;p20"/>
          <p:cNvSpPr txBox="1"/>
          <p:nvPr/>
        </p:nvSpPr>
        <p:spPr>
          <a:xfrm>
            <a:off x="457200" y="960120"/>
            <a:ext cx="112471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The live observability panel</a:t>
            </a:r>
            <a:endParaRPr/>
          </a:p>
        </p:txBody>
      </p:sp>
      <p:sp>
        <p:nvSpPr>
          <p:cNvPr id="195" name="Google Shape;195;p20"/>
          <p:cNvSpPr txBox="1"/>
          <p:nvPr/>
        </p:nvSpPr>
        <p:spPr>
          <a:xfrm>
            <a:off x="457200" y="1874519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Belongs exclusively to the LangGraph application. It explains how the live request changed — and why.</a:t>
            </a:r>
            <a:endParaRPr/>
          </a:p>
        </p:txBody>
      </p:sp>
      <p:sp>
        <p:nvSpPr>
          <p:cNvPr id="196" name="Google Shape;196;p20"/>
          <p:cNvSpPr/>
          <p:nvPr/>
        </p:nvSpPr>
        <p:spPr>
          <a:xfrm>
            <a:off x="457200" y="2514600"/>
            <a:ext cx="5486400" cy="12344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20"/>
          <p:cNvSpPr txBox="1"/>
          <p:nvPr/>
        </p:nvSpPr>
        <p:spPr>
          <a:xfrm>
            <a:off x="731520" y="2679192"/>
            <a:ext cx="4937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GRAPH PATH</a:t>
            </a:r>
            <a:endParaRPr/>
          </a:p>
        </p:txBody>
      </p:sp>
      <p:sp>
        <p:nvSpPr>
          <p:cNvPr id="198" name="Google Shape;198;p20"/>
          <p:cNvSpPr txBox="1"/>
          <p:nvPr/>
        </p:nvSpPr>
        <p:spPr>
          <a:xfrm>
            <a:off x="731520" y="3017520"/>
            <a:ext cx="49377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Nodes executed, branches taken, budgets remaining</a:t>
            </a:r>
            <a:endParaRPr/>
          </a:p>
        </p:txBody>
      </p:sp>
      <p:sp>
        <p:nvSpPr>
          <p:cNvPr id="199" name="Google Shape;199;p20"/>
          <p:cNvSpPr/>
          <p:nvPr/>
        </p:nvSpPr>
        <p:spPr>
          <a:xfrm>
            <a:off x="6217920" y="2514600"/>
            <a:ext cx="5486400" cy="12344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20"/>
          <p:cNvSpPr txBox="1"/>
          <p:nvPr/>
        </p:nvSpPr>
        <p:spPr>
          <a:xfrm>
            <a:off x="6492240" y="2679192"/>
            <a:ext cx="4937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RETRIEVAL DETAIL</a:t>
            </a:r>
            <a:endParaRPr/>
          </a:p>
        </p:txBody>
      </p:sp>
      <p:sp>
        <p:nvSpPr>
          <p:cNvPr id="201" name="Google Shape;201;p20"/>
          <p:cNvSpPr txBox="1"/>
          <p:nvPr/>
        </p:nvSpPr>
        <p:spPr>
          <a:xfrm>
            <a:off x="6492240" y="3017520"/>
            <a:ext cx="49377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Full OpenSearch DSL query — hybrid, BM25 baseline, retry variant — filters, candidate counts</a:t>
            </a:r>
            <a:endParaRPr/>
          </a:p>
        </p:txBody>
      </p:sp>
      <p:sp>
        <p:nvSpPr>
          <p:cNvPr id="202" name="Google Shape;202;p20"/>
          <p:cNvSpPr/>
          <p:nvPr/>
        </p:nvSpPr>
        <p:spPr>
          <a:xfrm>
            <a:off x="457200" y="3931920"/>
            <a:ext cx="5486400" cy="12344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0"/>
          <p:cNvSpPr txBox="1"/>
          <p:nvPr/>
        </p:nvSpPr>
        <p:spPr>
          <a:xfrm>
            <a:off x="731520" y="4096511"/>
            <a:ext cx="4937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DECISION TRACE</a:t>
            </a:r>
            <a:endParaRPr/>
          </a:p>
        </p:txBody>
      </p:sp>
      <p:sp>
        <p:nvSpPr>
          <p:cNvPr id="204" name="Google Shape;204;p20"/>
          <p:cNvSpPr txBox="1"/>
          <p:nvPr/>
        </p:nvSpPr>
        <p:spPr>
          <a:xfrm>
            <a:off x="731520" y="4434840"/>
            <a:ext cx="49377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Intent, α, quality-gate verdict, retry reason</a:t>
            </a:r>
            <a:endParaRPr/>
          </a:p>
        </p:txBody>
      </p:sp>
      <p:sp>
        <p:nvSpPr>
          <p:cNvPr id="205" name="Google Shape;205;p20"/>
          <p:cNvSpPr/>
          <p:nvPr/>
        </p:nvSpPr>
        <p:spPr>
          <a:xfrm>
            <a:off x="6217920" y="3931920"/>
            <a:ext cx="5486400" cy="12344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0"/>
          <p:cNvSpPr txBox="1"/>
          <p:nvPr/>
        </p:nvSpPr>
        <p:spPr>
          <a:xfrm>
            <a:off x="6492240" y="4096511"/>
            <a:ext cx="4937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GENERATION TRACE</a:t>
            </a:r>
            <a:endParaRPr/>
          </a:p>
        </p:txBody>
      </p:sp>
      <p:sp>
        <p:nvSpPr>
          <p:cNvPr id="207" name="Google Shape;207;p20"/>
          <p:cNvSpPr txBox="1"/>
          <p:nvPr/>
        </p:nvSpPr>
        <p:spPr>
          <a:xfrm>
            <a:off x="6492240" y="4434840"/>
            <a:ext cx="49377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Citations, LLM-judge verdict and hallucination category, auto-correction when it fires</a:t>
            </a:r>
            <a:endParaRPr/>
          </a:p>
        </p:txBody>
      </p:sp>
      <p:sp>
        <p:nvSpPr>
          <p:cNvPr id="208" name="Google Shape;208;p20"/>
          <p:cNvSpPr/>
          <p:nvPr/>
        </p:nvSpPr>
        <p:spPr>
          <a:xfrm>
            <a:off x="457200" y="5349240"/>
            <a:ext cx="3566160" cy="12344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20"/>
          <p:cNvSpPr txBox="1"/>
          <p:nvPr/>
        </p:nvSpPr>
        <p:spPr>
          <a:xfrm>
            <a:off x="731520" y="5513831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OPERATIONAL VIEW</a:t>
            </a:r>
            <a:endParaRPr/>
          </a:p>
        </p:txBody>
      </p:sp>
      <p:sp>
        <p:nvSpPr>
          <p:cNvPr id="210" name="Google Shape;210;p20"/>
          <p:cNvSpPr txBox="1"/>
          <p:nvPr/>
        </p:nvSpPr>
        <p:spPr>
          <a:xfrm>
            <a:off x="731520" y="5852159"/>
            <a:ext cx="3017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End-to-end + per-stage latency</a:t>
            </a:r>
            <a:endParaRPr/>
          </a:p>
        </p:txBody>
      </p:sp>
      <p:sp>
        <p:nvSpPr>
          <p:cNvPr id="211" name="Google Shape;208;p20"/>
          <p:cNvSpPr/>
          <p:nvPr/>
        </p:nvSpPr>
        <p:spPr>
          <a:xfrm>
            <a:off x="4297680" y="5349240"/>
            <a:ext cx="3566160" cy="12344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09;p20"/>
          <p:cNvSpPr txBox="1"/>
          <p:nvPr/>
        </p:nvSpPr>
        <p:spPr>
          <a:xfrm>
            <a:off x="4572000" y="5513831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PIPELINE QUALITY SUMMARY</a:t>
            </a:r>
            <a:endParaRPr/>
          </a:p>
        </p:txBody>
      </p:sp>
      <p:sp>
        <p:nvSpPr>
          <p:cNvPr id="213" name="Google Shape;210;p20"/>
          <p:cNvSpPr txBox="1"/>
          <p:nvPr/>
        </p:nvSpPr>
        <p:spPr>
          <a:xfrm>
            <a:off x="4572000" y="5852159"/>
            <a:ext cx="3017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Real metrics when judged; confidence proxy when not</a:t>
            </a:r>
            <a:endParaRPr/>
          </a:p>
        </p:txBody>
      </p:sp>
      <p:sp>
        <p:nvSpPr>
          <p:cNvPr id="214" name="Google Shape;208;p20"/>
          <p:cNvSpPr/>
          <p:nvPr/>
        </p:nvSpPr>
        <p:spPr>
          <a:xfrm>
            <a:off x="8138160" y="5349240"/>
            <a:ext cx="3566160" cy="12344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09;p20"/>
          <p:cNvSpPr txBox="1"/>
          <p:nvPr/>
        </p:nvSpPr>
        <p:spPr>
          <a:xfrm>
            <a:off x="8412480" y="5513831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ENRICHMENT CARD</a:t>
            </a:r>
            <a:endParaRPr/>
          </a:p>
        </p:txBody>
      </p:sp>
      <p:sp>
        <p:nvSpPr>
          <p:cNvPr id="216" name="Google Shape;210;p20"/>
          <p:cNvSpPr txBox="1"/>
          <p:nvPr/>
        </p:nvSpPr>
        <p:spPr>
          <a:xfrm>
            <a:off x="8412480" y="5852159"/>
            <a:ext cx="3017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Attribute, term, canonical bucket, live re-index status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27"/>
          <p:cNvSpPr txBox="1"/>
          <p:nvPr/>
        </p:nvSpPr>
        <p:spPr>
          <a:xfrm>
            <a:off x="365760" y="22860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7 / 18</a:t>
            </a:r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1737360" y="228600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OpenSearchCon NA 2026  ·  Agentic Search: Reimagining Search from Ingestion to Relevancy</a:t>
            </a:r>
            <a:endParaRPr/>
          </a:p>
        </p:txBody>
      </p:sp>
      <p:sp>
        <p:nvSpPr>
          <p:cNvPr id="309" name="Google Shape;309;p27"/>
          <p:cNvSpPr txBox="1"/>
          <p:nvPr/>
        </p:nvSpPr>
        <p:spPr>
          <a:xfrm>
            <a:off x="457200" y="594360"/>
            <a:ext cx="11247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GUARANTEES</a:t>
            </a:r>
            <a:endParaRPr/>
          </a:p>
        </p:txBody>
      </p:sp>
      <p:sp>
        <p:nvSpPr>
          <p:cNvPr id="310" name="Google Shape;310;p27"/>
          <p:cNvSpPr txBox="1"/>
          <p:nvPr/>
        </p:nvSpPr>
        <p:spPr>
          <a:xfrm>
            <a:off x="457200" y="960120"/>
            <a:ext cx="112471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What the design guarantees</a:t>
            </a:r>
            <a:endParaRPr/>
          </a:p>
        </p:txBody>
      </p:sp>
      <p:sp>
        <p:nvSpPr>
          <p:cNvPr id="311" name="Google Shape;311;p27"/>
          <p:cNvSpPr txBox="1"/>
          <p:nvPr/>
        </p:nvSpPr>
        <p:spPr>
          <a:xfrm>
            <a:off x="457200" y="1965960"/>
            <a:ext cx="557784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4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Any natural-language query is accepted — no pre-vetted query list</a:t>
            </a:r>
          </a:p>
          <a:p>
            <a:pPr indent="0" lvl="0" marL="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4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Retrieval is never seeded with judged product IDs — results are earned by the same hybrid search every query gets</a:t>
            </a:r>
          </a:p>
          <a:p>
            <a:pPr indent="0" lvl="0" marL="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4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The quality-gate retry is capped at one, alpha adjusted in the opposite direction</a:t>
            </a:r>
          </a:p>
          <a:p>
            <a:pPr indent="0" lvl="0" marL="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4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The LLM-judge auto-correction is capped at one, and only for fabrication or cross-product bleed</a:t>
            </a:r>
          </a:p>
        </p:txBody>
      </p:sp>
      <p:sp>
        <p:nvSpPr>
          <p:cNvPr id="312" name="Google Shape;312;p27"/>
          <p:cNvSpPr txBox="1"/>
          <p:nvPr/>
        </p:nvSpPr>
        <p:spPr>
          <a:xfrm>
            <a:off x="6309360" y="1965960"/>
            <a:ext cx="557784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4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The taxonomy-correction tool is explicitly feature-flagged (ENABLE_ENRICHMENT_TOOL)</a:t>
            </a:r>
          </a:p>
          <a:p>
            <a:pPr indent="0" lvl="0" marL="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4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It fires only from two detected triggers: a filter-exclusion gap, or a shopper's dispute</a:t>
            </a:r>
          </a:p>
          <a:p>
            <a:pPr indent="0" lvl="0" marL="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4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Every decision, metric, and budget is visible in the trace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21"/>
          <p:cNvSpPr txBox="1"/>
          <p:nvPr/>
        </p:nvSpPr>
        <p:spPr>
          <a:xfrm>
            <a:off x="365760" y="22860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14 / 18</a:t>
            </a:r>
            <a:endParaRPr/>
          </a:p>
        </p:txBody>
      </p:sp>
      <p:sp>
        <p:nvSpPr>
          <p:cNvPr id="216" name="Google Shape;216;p21"/>
          <p:cNvSpPr txBox="1"/>
          <p:nvPr/>
        </p:nvSpPr>
        <p:spPr>
          <a:xfrm>
            <a:off x="1737360" y="228600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OpenSearchCon NA 2026  ·  Agentic Search: Reimagining Search from Ingestion to Relevancy</a:t>
            </a:r>
            <a:endParaRPr/>
          </a:p>
        </p:txBody>
      </p:sp>
      <p:sp>
        <p:nvSpPr>
          <p:cNvPr id="217" name="Google Shape;217;p21"/>
          <p:cNvSpPr txBox="1"/>
          <p:nvPr/>
        </p:nvSpPr>
        <p:spPr>
          <a:xfrm>
            <a:off x="457200" y="594360"/>
            <a:ext cx="11247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DEMO B — WORKBENCH SHOWCASE</a:t>
            </a:r>
            <a:endParaRPr/>
          </a:p>
        </p:txBody>
      </p:sp>
      <p:sp>
        <p:nvSpPr>
          <p:cNvPr id="218" name="Google Shape;218;p21"/>
          <p:cNvSpPr txBox="1"/>
          <p:nvPr/>
        </p:nvSpPr>
        <p:spPr>
          <a:xfrm>
            <a:off x="457200" y="960120"/>
            <a:ext cx="112471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Search Relevance Workbench features (1 of 2)</a:t>
            </a:r>
            <a:endParaRPr/>
          </a:p>
        </p:txBody>
      </p:sp>
      <p:sp>
        <p:nvSpPr>
          <p:cNvPr id="219" name="Google Shape;219;p21"/>
          <p:cNvSpPr txBox="1"/>
          <p:nvPr/>
        </p:nvSpPr>
        <p:spPr>
          <a:xfrm>
            <a:off x="457200" y="182880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A showcase of current OpenSearch relevance features — not part of the LangGraph architecture or evaluation story.</a:t>
            </a:r>
            <a:endParaRPr/>
          </a:p>
        </p:txBody>
      </p:sp>
      <p:sp>
        <p:nvSpPr>
          <p:cNvPr id="220" name="Google Shape;220;p21"/>
          <p:cNvSpPr/>
          <p:nvPr/>
        </p:nvSpPr>
        <p:spPr>
          <a:xfrm>
            <a:off x="457200" y="2377440"/>
            <a:ext cx="3657600" cy="32918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21"/>
          <p:cNvSpPr txBox="1"/>
          <p:nvPr/>
        </p:nvSpPr>
        <p:spPr>
          <a:xfrm>
            <a:off x="731520" y="2542032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1 · QUERY &amp; RESULT COMPARISON</a:t>
            </a:r>
            <a:endParaRPr/>
          </a:p>
        </p:txBody>
      </p:sp>
      <p:sp>
        <p:nvSpPr>
          <p:cNvPr id="222" name="Google Shape;222;p21"/>
          <p:cNvSpPr txBox="1"/>
          <p:nvPr/>
        </p:nvSpPr>
        <p:spPr>
          <a:xfrm>
            <a:off x="731520" y="2880360"/>
            <a:ext cx="310896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Compare two search configurations for one query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Inspect shared, unique, and repositioned documents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Pairwise comparison across a query set: aggregate + per-query differences</a:t>
            </a:r>
            <a:endParaRPr/>
          </a:p>
        </p:txBody>
      </p:sp>
      <p:sp>
        <p:nvSpPr>
          <p:cNvPr id="223" name="Google Shape;223;p21"/>
          <p:cNvSpPr/>
          <p:nvPr/>
        </p:nvSpPr>
        <p:spPr>
          <a:xfrm>
            <a:off x="4251960" y="2377440"/>
            <a:ext cx="3657600" cy="32918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1"/>
          <p:cNvSpPr txBox="1"/>
          <p:nvPr/>
        </p:nvSpPr>
        <p:spPr>
          <a:xfrm>
            <a:off x="4526280" y="2542032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2 · POINTWISE EVALUATION</a:t>
            </a:r>
            <a:endParaRPr/>
          </a:p>
        </p:txBody>
      </p:sp>
      <p:sp>
        <p:nvSpPr>
          <p:cNvPr id="225" name="Google Shape;225;p21"/>
          <p:cNvSpPr txBox="1"/>
          <p:nvPr/>
        </p:nvSpPr>
        <p:spPr>
          <a:xfrm>
            <a:off x="4526280" y="2880360"/>
            <a:ext cx="310896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Independent Workbench query set and judgment list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Evaluate a fixed configuration: NDCG, MAP, precision, coverage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esci_judgments subset used only as convenient demo data</a:t>
            </a:r>
            <a:endParaRPr/>
          </a:p>
        </p:txBody>
      </p:sp>
      <p:sp>
        <p:nvSpPr>
          <p:cNvPr id="226" name="Google Shape;226;p21"/>
          <p:cNvSpPr/>
          <p:nvPr/>
        </p:nvSpPr>
        <p:spPr>
          <a:xfrm>
            <a:off x="8046720" y="2377440"/>
            <a:ext cx="3657600" cy="32918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21"/>
          <p:cNvSpPr txBox="1"/>
          <p:nvPr/>
        </p:nvSpPr>
        <p:spPr>
          <a:xfrm>
            <a:off x="8321040" y="2542032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3 · HYBRID-SEARCH OPTIMIZATION</a:t>
            </a:r>
            <a:endParaRPr/>
          </a:p>
        </p:txBody>
      </p:sp>
      <p:sp>
        <p:nvSpPr>
          <p:cNvPr id="228" name="Google Shape;228;p21"/>
          <p:cNvSpPr txBox="1"/>
          <p:nvPr/>
        </p:nvSpPr>
        <p:spPr>
          <a:xfrm>
            <a:off x="8321040" y="2880360"/>
            <a:ext cx="310896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Optimize a two-clause hybrid query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Score-normalization, combination, lexical/neural weights, RRF variants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A Workbench capability — not a parameter source for LangGraph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22"/>
          <p:cNvSpPr txBox="1"/>
          <p:nvPr/>
        </p:nvSpPr>
        <p:spPr>
          <a:xfrm>
            <a:off x="365760" y="22860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15 / 18</a:t>
            </a:r>
            <a:endParaRPr/>
          </a:p>
        </p:txBody>
      </p:sp>
      <p:sp>
        <p:nvSpPr>
          <p:cNvPr id="234" name="Google Shape;234;p22"/>
          <p:cNvSpPr txBox="1"/>
          <p:nvPr/>
        </p:nvSpPr>
        <p:spPr>
          <a:xfrm>
            <a:off x="1737360" y="228600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OpenSearchCon NA 2026  ·  Agentic Search: Reimagining Search from Ingestion to Relevancy</a:t>
            </a:r>
            <a:endParaRPr/>
          </a:p>
        </p:txBody>
      </p:sp>
      <p:sp>
        <p:nvSpPr>
          <p:cNvPr id="235" name="Google Shape;235;p22"/>
          <p:cNvSpPr txBox="1"/>
          <p:nvPr/>
        </p:nvSpPr>
        <p:spPr>
          <a:xfrm>
            <a:off x="457200" y="594360"/>
            <a:ext cx="11247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DEMO B — WORKBENCH SHOWCASE</a:t>
            </a:r>
            <a:endParaRPr/>
          </a:p>
        </p:txBody>
      </p:sp>
      <p:sp>
        <p:nvSpPr>
          <p:cNvPr id="236" name="Google Shape;236;p22"/>
          <p:cNvSpPr txBox="1"/>
          <p:nvPr/>
        </p:nvSpPr>
        <p:spPr>
          <a:xfrm>
            <a:off x="457200" y="960120"/>
            <a:ext cx="112471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Search Relevance Workbench features (2 of 2)</a:t>
            </a:r>
            <a:endParaRPr/>
          </a:p>
        </p:txBody>
      </p:sp>
      <p:sp>
        <p:nvSpPr>
          <p:cNvPr id="237" name="Google Shape;237;p22"/>
          <p:cNvSpPr/>
          <p:nvPr/>
        </p:nvSpPr>
        <p:spPr>
          <a:xfrm>
            <a:off x="457200" y="2011680"/>
            <a:ext cx="3657600" cy="34747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22"/>
          <p:cNvSpPr txBox="1"/>
          <p:nvPr/>
        </p:nvSpPr>
        <p:spPr>
          <a:xfrm>
            <a:off x="731520" y="2176272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4 · EXPERIMENT DASHBOARDS</a:t>
            </a:r>
            <a:endParaRPr/>
          </a:p>
        </p:txBody>
      </p:sp>
      <p:sp>
        <p:nvSpPr>
          <p:cNvPr id="239" name="Google Shape;239;p22"/>
          <p:cNvSpPr txBox="1"/>
          <p:nvPr/>
        </p:nvSpPr>
        <p:spPr>
          <a:xfrm>
            <a:off x="731520" y="2514600"/>
            <a:ext cx="310896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Aggregate quality metrics and query-level deep dives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Hybrid variant-performance view for exploring parameter combinations</a:t>
            </a:r>
            <a:endParaRPr/>
          </a:p>
        </p:txBody>
      </p:sp>
      <p:sp>
        <p:nvSpPr>
          <p:cNvPr id="240" name="Google Shape;240;p22"/>
          <p:cNvSpPr/>
          <p:nvPr/>
        </p:nvSpPr>
        <p:spPr>
          <a:xfrm>
            <a:off x="4251960" y="2011680"/>
            <a:ext cx="3657600" cy="34747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2"/>
          <p:cNvSpPr txBox="1"/>
          <p:nvPr/>
        </p:nvSpPr>
        <p:spPr>
          <a:xfrm>
            <a:off x="4526280" y="2176272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5 · SCHEDULED MONITORING</a:t>
            </a:r>
            <a:endParaRPr/>
          </a:p>
        </p:txBody>
      </p:sp>
      <p:sp>
        <p:nvSpPr>
          <p:cNvPr id="242" name="Google Shape;242;p22"/>
          <p:cNvSpPr txBox="1"/>
          <p:nvPr/>
        </p:nvSpPr>
        <p:spPr>
          <a:xfrm>
            <a:off x="4526280" y="2514600"/>
            <a:ext cx="310896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Schedule and monitor a completed search-evaluation experiment over time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Relevance drift as data and query behavior change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Independent from the application's live observability panel</a:t>
            </a:r>
            <a:endParaRPr/>
          </a:p>
        </p:txBody>
      </p:sp>
      <p:sp>
        <p:nvSpPr>
          <p:cNvPr id="243" name="Google Shape;243;p22"/>
          <p:cNvSpPr/>
          <p:nvPr/>
        </p:nvSpPr>
        <p:spPr>
          <a:xfrm>
            <a:off x="8046720" y="2011680"/>
            <a:ext cx="3657600" cy="34747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22"/>
          <p:cNvSpPr txBox="1"/>
          <p:nvPr/>
        </p:nvSpPr>
        <p:spPr>
          <a:xfrm>
            <a:off x="8321040" y="2176272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6 · RELEVANCE AGENT (OPTIONAL)</a:t>
            </a:r>
            <a:endParaRPr/>
          </a:p>
        </p:txBody>
      </p:sp>
      <p:sp>
        <p:nvSpPr>
          <p:cNvPr id="245" name="Google Shape;245;p22"/>
          <p:cNvSpPr txBox="1"/>
          <p:nvPr/>
        </p:nvSpPr>
        <p:spPr>
          <a:xfrm>
            <a:off x="8321040" y="2514600"/>
            <a:ext cx="310896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Introduced in OpenSearch 3.6, still experimental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Agent Server + specialized agents: behavior analysis, hypothesis generation, evaluation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Prepared latest-feature preview only — explicitly distinct from the custom LangGraph agent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7"/>
          <p:cNvSpPr txBox="1"/>
          <p:nvPr/>
        </p:nvSpPr>
        <p:spPr>
          <a:xfrm>
            <a:off x="365760" y="22860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16 / 18</a:t>
            </a:r>
            <a:endParaRPr/>
          </a:p>
        </p:txBody>
      </p:sp>
      <p:sp>
        <p:nvSpPr>
          <p:cNvPr id="136" name="Google Shape;136;p17"/>
          <p:cNvSpPr txBox="1"/>
          <p:nvPr/>
        </p:nvSpPr>
        <p:spPr>
          <a:xfrm>
            <a:off x="1737360" y="228600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OpenSearchCon NA 2026  ·  Agentic Search: Reimagining Search from Ingestion to Relevancy</a:t>
            </a:r>
            <a:endParaRPr/>
          </a:p>
        </p:txBody>
      </p:sp>
      <p:sp>
        <p:nvSpPr>
          <p:cNvPr id="137" name="Google Shape;137;p17"/>
          <p:cNvSpPr txBox="1"/>
          <p:nvPr/>
        </p:nvSpPr>
        <p:spPr>
          <a:xfrm>
            <a:off x="457200" y="594360"/>
            <a:ext cx="11247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TAKEAWAYS</a:t>
            </a:r>
            <a:endParaRPr/>
          </a:p>
        </p:txBody>
      </p:sp>
      <p:sp>
        <p:nvSpPr>
          <p:cNvPr id="138" name="Google Shape;138;p17"/>
          <p:cNvSpPr txBox="1"/>
          <p:nvPr/>
        </p:nvSpPr>
        <p:spPr>
          <a:xfrm>
            <a:off x="457200" y="960120"/>
            <a:ext cx="112471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What you leave with</a:t>
            </a:r>
            <a:endParaRPr/>
          </a:p>
        </p:txBody>
      </p:sp>
      <p:sp>
        <p:nvSpPr>
          <p:cNvPr id="139" name="Google Shape;139;p17"/>
          <p:cNvSpPr txBox="1"/>
          <p:nvPr/>
        </p:nvSpPr>
        <p:spPr>
          <a:xfrm>
            <a:off x="457200" y="2011680"/>
            <a:ext cx="1124712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1" i="0" lang="en-US" sz="17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The centerpiece:  </a:t>
            </a:r>
            <a:r>
              <a:rPr b="0" i="0" lang="en-US" sz="17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see an agent fix the catalog, not just the query — the talk's central, differentiating claim.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1" i="0" lang="en-US" sz="17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The progression:  </a:t>
            </a:r>
            <a:r>
              <a:rPr b="0" i="0" lang="en-US" sz="17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BM25 → vector → hybrid fusion → reranking → dynamic-α retrieval with one bounded retry.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1" i="0" lang="en-US" sz="17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Judgments at runtime:  </a:t>
            </a:r>
            <a:r>
              <a:rPr b="0" i="0" lang="en-US" sz="17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a LangGraph application using judgments opportunistically to score one search and its answer — and working just as well without them.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1" i="0" lang="en-US" sz="17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Full transparency:  </a:t>
            </a:r>
            <a:r>
              <a:rPr b="0" i="0" lang="en-US" sz="17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the agent's path, metrics, decisions, evidence, and latency in a live observability panel.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1" i="0" lang="en-US" sz="17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Workbench tour:  </a:t>
            </a:r>
            <a:r>
              <a:rPr b="0" i="0" lang="en-US" sz="17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the latest Search Relevance Workbench capabilities as a separate OpenSearch feature tour.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b="1" i="0" lang="en-US" sz="17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A practical architecture  </a:t>
            </a:r>
            <a:r>
              <a:rPr b="0" i="0" lang="en-US" sz="17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that avoids unconstrained retries and unnecessary dependencies.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28"/>
          <p:cNvSpPr txBox="1"/>
          <p:nvPr/>
        </p:nvSpPr>
        <p:spPr>
          <a:xfrm>
            <a:off x="365760" y="22860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17 / 18</a:t>
            </a:r>
            <a:endParaRPr/>
          </a:p>
        </p:txBody>
      </p:sp>
      <p:sp>
        <p:nvSpPr>
          <p:cNvPr id="321" name="Google Shape;321;p28"/>
          <p:cNvSpPr txBox="1"/>
          <p:nvPr/>
        </p:nvSpPr>
        <p:spPr>
          <a:xfrm>
            <a:off x="1737360" y="228600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OpenSearchCon NA 2026  ·  Agentic Search: Reimagining Search from Ingestion to Relevancy</a:t>
            </a:r>
            <a:endParaRPr/>
          </a:p>
        </p:txBody>
      </p:sp>
      <p:sp>
        <p:nvSpPr>
          <p:cNvPr id="322" name="Google Shape;322;p28"/>
          <p:cNvSpPr txBox="1"/>
          <p:nvPr/>
        </p:nvSpPr>
        <p:spPr>
          <a:xfrm>
            <a:off x="457200" y="594360"/>
            <a:ext cx="11247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SOURCES</a:t>
            </a:r>
            <a:endParaRPr/>
          </a:p>
        </p:txBody>
      </p:sp>
      <p:sp>
        <p:nvSpPr>
          <p:cNvPr id="323" name="Google Shape;323;p28"/>
          <p:cNvSpPr txBox="1"/>
          <p:nvPr/>
        </p:nvSpPr>
        <p:spPr>
          <a:xfrm>
            <a:off x="457200" y="960120"/>
            <a:ext cx="112471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References</a:t>
            </a:r>
            <a:endParaRPr/>
          </a:p>
        </p:txBody>
      </p:sp>
      <p:sp>
        <p:nvSpPr>
          <p:cNvPr id="324" name="Google Shape;324;p28"/>
          <p:cNvSpPr txBox="1"/>
          <p:nvPr/>
        </p:nvSpPr>
        <p:spPr>
          <a:xfrm>
            <a:off x="457200" y="1965960"/>
            <a:ext cx="4023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Search Relevance Workbench</a:t>
            </a:r>
            <a:endParaRPr/>
          </a:p>
        </p:txBody>
      </p:sp>
      <p:sp>
        <p:nvSpPr>
          <p:cNvPr id="325" name="Google Shape;325;p28"/>
          <p:cNvSpPr txBox="1"/>
          <p:nvPr/>
        </p:nvSpPr>
        <p:spPr>
          <a:xfrm>
            <a:off x="4572000" y="1965960"/>
            <a:ext cx="7223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docs.opensearch.org/latest/search-plugins/search-relevance/using-search-relevance-workbench/</a:t>
            </a:r>
            <a:endParaRPr/>
          </a:p>
        </p:txBody>
      </p:sp>
      <p:sp>
        <p:nvSpPr>
          <p:cNvPr id="326" name="Google Shape;326;p28"/>
          <p:cNvSpPr txBox="1"/>
          <p:nvPr/>
        </p:nvSpPr>
        <p:spPr>
          <a:xfrm>
            <a:off x="457200" y="2441448"/>
            <a:ext cx="4023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Judgments</a:t>
            </a:r>
            <a:endParaRPr/>
          </a:p>
        </p:txBody>
      </p:sp>
      <p:sp>
        <p:nvSpPr>
          <p:cNvPr id="327" name="Google Shape;327;p28"/>
          <p:cNvSpPr txBox="1"/>
          <p:nvPr/>
        </p:nvSpPr>
        <p:spPr>
          <a:xfrm>
            <a:off x="4572000" y="2441448"/>
            <a:ext cx="7223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docs.opensearch.org/latest/search-plugins/search-relevance/judgments/</a:t>
            </a:r>
            <a:endParaRPr/>
          </a:p>
        </p:txBody>
      </p:sp>
      <p:sp>
        <p:nvSpPr>
          <p:cNvPr id="328" name="Google Shape;328;p28"/>
          <p:cNvSpPr txBox="1"/>
          <p:nvPr/>
        </p:nvSpPr>
        <p:spPr>
          <a:xfrm>
            <a:off x="457200" y="2916936"/>
            <a:ext cx="4023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Evaluating search quality</a:t>
            </a:r>
            <a:endParaRPr/>
          </a:p>
        </p:txBody>
      </p:sp>
      <p:sp>
        <p:nvSpPr>
          <p:cNvPr id="329" name="Google Shape;329;p28"/>
          <p:cNvSpPr txBox="1"/>
          <p:nvPr/>
        </p:nvSpPr>
        <p:spPr>
          <a:xfrm>
            <a:off x="4572000" y="2916936"/>
            <a:ext cx="7223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docs.opensearch.org/latest/search-plugins/search-relevance/evaluate-search-quality/</a:t>
            </a:r>
            <a:endParaRPr/>
          </a:p>
        </p:txBody>
      </p:sp>
      <p:sp>
        <p:nvSpPr>
          <p:cNvPr id="330" name="Google Shape;330;p28"/>
          <p:cNvSpPr txBox="1"/>
          <p:nvPr/>
        </p:nvSpPr>
        <p:spPr>
          <a:xfrm>
            <a:off x="457200" y="3392424"/>
            <a:ext cx="4023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Optimizing hybrid search</a:t>
            </a:r>
            <a:endParaRPr/>
          </a:p>
        </p:txBody>
      </p:sp>
      <p:sp>
        <p:nvSpPr>
          <p:cNvPr id="331" name="Google Shape;331;p28"/>
          <p:cNvSpPr txBox="1"/>
          <p:nvPr/>
        </p:nvSpPr>
        <p:spPr>
          <a:xfrm>
            <a:off x="4572000" y="3392424"/>
            <a:ext cx="7223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docs.opensearch.org/latest/search-plugins/search-relevance/optimize-hybrid-search/</a:t>
            </a:r>
            <a:endParaRPr/>
          </a:p>
        </p:txBody>
      </p:sp>
      <p:sp>
        <p:nvSpPr>
          <p:cNvPr id="332" name="Google Shape;332;p28"/>
          <p:cNvSpPr txBox="1"/>
          <p:nvPr/>
        </p:nvSpPr>
        <p:spPr>
          <a:xfrm>
            <a:off x="457200" y="3867912"/>
            <a:ext cx="4023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Exploring experiment results</a:t>
            </a:r>
            <a:endParaRPr/>
          </a:p>
        </p:txBody>
      </p:sp>
      <p:sp>
        <p:nvSpPr>
          <p:cNvPr id="333" name="Google Shape;333;p28"/>
          <p:cNvSpPr txBox="1"/>
          <p:nvPr/>
        </p:nvSpPr>
        <p:spPr>
          <a:xfrm>
            <a:off x="4572000" y="3867912"/>
            <a:ext cx="7223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docs.opensearch.org/latest/search-plugins/search-relevance/explore-experiment-results/</a:t>
            </a:r>
            <a:endParaRPr/>
          </a:p>
        </p:txBody>
      </p:sp>
      <p:sp>
        <p:nvSpPr>
          <p:cNvPr id="334" name="Google Shape;334;p28"/>
          <p:cNvSpPr txBox="1"/>
          <p:nvPr/>
        </p:nvSpPr>
        <p:spPr>
          <a:xfrm>
            <a:off x="457200" y="4343400"/>
            <a:ext cx="4023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Monitoring search quality</a:t>
            </a:r>
            <a:endParaRPr/>
          </a:p>
        </p:txBody>
      </p:sp>
      <p:sp>
        <p:nvSpPr>
          <p:cNvPr id="335" name="Google Shape;335;p28"/>
          <p:cNvSpPr txBox="1"/>
          <p:nvPr/>
        </p:nvSpPr>
        <p:spPr>
          <a:xfrm>
            <a:off x="4572000" y="4343400"/>
            <a:ext cx="7223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docs.opensearch.org/latest/search-plugins/search-relevance/regularly-scheduled-experiments/</a:t>
            </a:r>
            <a:endParaRPr/>
          </a:p>
        </p:txBody>
      </p:sp>
      <p:sp>
        <p:nvSpPr>
          <p:cNvPr id="336" name="Google Shape;336;p28"/>
          <p:cNvSpPr txBox="1"/>
          <p:nvPr/>
        </p:nvSpPr>
        <p:spPr>
          <a:xfrm>
            <a:off x="457200" y="4818888"/>
            <a:ext cx="4023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Relevance agent</a:t>
            </a:r>
            <a:endParaRPr/>
          </a:p>
        </p:txBody>
      </p:sp>
      <p:sp>
        <p:nvSpPr>
          <p:cNvPr id="337" name="Google Shape;337;p28"/>
          <p:cNvSpPr txBox="1"/>
          <p:nvPr/>
        </p:nvSpPr>
        <p:spPr>
          <a:xfrm>
            <a:off x="4572000" y="4818888"/>
            <a:ext cx="7223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docs.opensearch.org/latest/search-plugins/search-relevance/relevance-agent/</a:t>
            </a:r>
            <a:endParaRPr/>
          </a:p>
        </p:txBody>
      </p:sp>
      <p:sp>
        <p:nvSpPr>
          <p:cNvPr id="338" name="Google Shape;338;p28"/>
          <p:cNvSpPr txBox="1"/>
          <p:nvPr/>
        </p:nvSpPr>
        <p:spPr>
          <a:xfrm>
            <a:off x="457200" y="5294375"/>
            <a:ext cx="4023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LangGraph evaluator–optimizer workflows</a:t>
            </a:r>
            <a:endParaRPr/>
          </a:p>
        </p:txBody>
      </p:sp>
      <p:sp>
        <p:nvSpPr>
          <p:cNvPr id="339" name="Google Shape;339;p28"/>
          <p:cNvSpPr txBox="1"/>
          <p:nvPr/>
        </p:nvSpPr>
        <p:spPr>
          <a:xfrm>
            <a:off x="4572000" y="5294375"/>
            <a:ext cx="7223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docs.langchain.com/oss/python/langgraph/workflows-agents</a:t>
            </a:r>
            <a:endParaRPr/>
          </a:p>
        </p:txBody>
      </p:sp>
      <p:sp>
        <p:nvSpPr>
          <p:cNvPr id="340" name="Google Shape;340;p28"/>
          <p:cNvSpPr txBox="1"/>
          <p:nvPr/>
        </p:nvSpPr>
        <p:spPr>
          <a:xfrm>
            <a:off x="457200" y="5769863"/>
            <a:ext cx="4023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GitHub repository</a:t>
            </a:r>
            <a:endParaRPr/>
          </a:p>
        </p:txBody>
      </p:sp>
      <p:sp>
        <p:nvSpPr>
          <p:cNvPr id="341" name="Google Shape;341;p28"/>
          <p:cNvSpPr txBox="1"/>
          <p:nvPr/>
        </p:nvSpPr>
        <p:spPr>
          <a:xfrm>
            <a:off x="4572000" y="5769863"/>
            <a:ext cx="7223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github.com/kmwtechnology/opensearch2026-agentic-search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2540"/>
        </a:solidFill>
      </p:bgPr>
    </p:bg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9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29"/>
          <p:cNvSpPr txBox="1"/>
          <p:nvPr/>
        </p:nvSpPr>
        <p:spPr>
          <a:xfrm>
            <a:off x="640080" y="146304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THANK YOU</a:t>
            </a:r>
            <a:endParaRPr/>
          </a:p>
        </p:txBody>
      </p:sp>
      <p:sp>
        <p:nvSpPr>
          <p:cNvPr id="348" name="Google Shape;348;p29"/>
          <p:cNvSpPr txBox="1"/>
          <p:nvPr/>
        </p:nvSpPr>
        <p:spPr>
          <a:xfrm>
            <a:off x="640080" y="1920240"/>
            <a:ext cx="112471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Questions?</a:t>
            </a:r>
            <a:endParaRPr/>
          </a:p>
        </p:txBody>
      </p:sp>
      <p:sp>
        <p:nvSpPr>
          <p:cNvPr id="349" name="Google Shape;349;p29"/>
          <p:cNvSpPr txBox="1"/>
          <p:nvPr/>
        </p:nvSpPr>
        <p:spPr>
          <a:xfrm>
            <a:off x="640080" y="365760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REPO</a:t>
            </a:r>
            <a:endParaRPr/>
          </a:p>
        </p:txBody>
      </p:sp>
      <p:sp>
        <p:nvSpPr>
          <p:cNvPr id="350" name="Google Shape;350;p29"/>
          <p:cNvSpPr txBox="1"/>
          <p:nvPr/>
        </p:nvSpPr>
        <p:spPr>
          <a:xfrm>
            <a:off x="640080" y="393192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github.com/kmwtechnology/opensearch2026-agentic-search</a:t>
            </a:r>
            <a:endParaRPr/>
          </a:p>
        </p:txBody>
      </p:sp>
      <p:sp>
        <p:nvSpPr>
          <p:cNvPr id="351" name="Google Shape;351;p29"/>
          <p:cNvSpPr txBox="1"/>
          <p:nvPr/>
        </p:nvSpPr>
        <p:spPr>
          <a:xfrm>
            <a:off x="640080" y="452628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DATASET</a:t>
            </a:r>
            <a:endParaRPr/>
          </a:p>
        </p:txBody>
      </p:sp>
      <p:sp>
        <p:nvSpPr>
          <p:cNvPr id="352" name="Google Shape;352;p29"/>
          <p:cNvSpPr txBox="1"/>
          <p:nvPr/>
        </p:nvSpPr>
        <p:spPr>
          <a:xfrm>
            <a:off x="640080" y="4800600"/>
            <a:ext cx="6858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github.com/amazon-science/esci-data</a:t>
            </a:r>
            <a:endParaRPr/>
          </a:p>
        </p:txBody>
      </p:sp>
      <p:sp>
        <p:nvSpPr>
          <p:cNvPr id="353" name="Google Shape;353;p29"/>
          <p:cNvSpPr txBox="1"/>
          <p:nvPr/>
        </p:nvSpPr>
        <p:spPr>
          <a:xfrm>
            <a:off x="640080" y="6400800"/>
            <a:ext cx="11247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B8C5D1"/>
                </a:solidFill>
                <a:latin typeface="Calibri"/>
                <a:ea typeface="Calibri"/>
                <a:cs typeface="Calibri"/>
                <a:sym typeface="Calibri"/>
              </a:rPr>
              <a:t>Kevin M. Butler  ·  KMW Technology  ·  OpenSearchCon North America 2026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6" name="Google Shape;106;p15"/>
          <p:cNvSpPr txBox="1"/>
          <p:nvPr/>
        </p:nvSpPr>
        <p:spPr>
          <a:xfrm>
            <a:off x="365760" y="22860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9 / 18</a:t>
            </a:r>
            <a:endParaRPr/>
          </a:p>
        </p:txBody>
      </p:sp>
      <p:sp>
        <p:nvSpPr>
          <p:cNvPr id="107" name="Google Shape;107;p15"/>
          <p:cNvSpPr txBox="1"/>
          <p:nvPr/>
        </p:nvSpPr>
        <p:spPr>
          <a:xfrm>
            <a:off x="1737360" y="228600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OpenSearchCon NA 2026  ·  Agentic Search: Reimagining Search from Ingestion to Relevancy</a:t>
            </a:r>
            <a:endParaRPr/>
          </a:p>
        </p:txBody>
      </p:sp>
      <p:sp>
        <p:nvSpPr>
          <p:cNvPr id="108" name="Google Shape;108;p15"/>
          <p:cNvSpPr txBox="1"/>
          <p:nvPr/>
        </p:nvSpPr>
        <p:spPr>
          <a:xfrm>
            <a:off x="457200" y="594360"/>
            <a:ext cx="11247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TAXONOMY SELF-CORRECTION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457200" y="960120"/>
            <a:ext cx="112471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The agent can fix the catalog, not just the query</a:t>
            </a:r>
            <a:endParaRPr/>
          </a:p>
        </p:txBody>
      </p:sp>
      <p:sp>
        <p:nvSpPr>
          <p:cNvPr id="110" name="Google Shape;110;p15"/>
          <p:cNvSpPr txBox="1"/>
          <p:nvPr/>
        </p:nvSpPr>
        <p:spPr>
          <a:xfrm>
            <a:off x="457200" y="2011680"/>
            <a:ext cx="112471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8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A real, verified bug ships in the taxonomy: “tan” maps to “yellow”, not “brown” — 29 products affected.</a:t>
            </a:r>
            <a:endParaRPr/>
          </a:p>
        </p:txBody>
      </p:sp>
      <p:sp>
        <p:nvSpPr>
          <p:cNvPr id="111" name="Google Shape;111;p15"/>
          <p:cNvSpPr txBox="1"/>
          <p:nvPr/>
        </p:nvSpPr>
        <p:spPr>
          <a:xfrm>
            <a:off x="457200" y="3017520"/>
            <a:ext cx="112471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Passes the quality gate confidently, tagged yellow not brown. A shopper disputes it — the agent verifies, corrects the mapping, and triggers a real ~19–20s re-index.</a:t>
            </a:r>
            <a:endParaRPr/>
          </a:p>
        </p:txBody>
      </p:sp>
      <p:sp>
        <p:nvSpPr>
          <p:cNvPr id="112" name="Google Shape;112;p15"/>
          <p:cNvSpPr/>
          <p:nvPr/>
        </p:nvSpPr>
        <p:spPr>
          <a:xfrm>
            <a:off x="457200" y="4343400"/>
            <a:ext cx="11247120" cy="1737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5"/>
          <p:cNvSpPr txBox="1"/>
          <p:nvPr/>
        </p:nvSpPr>
        <p:spPr>
          <a:xfrm>
            <a:off x="731520" y="4526280"/>
            <a:ext cx="10698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369A1"/>
                </a:solidFill>
                <a:latin typeface="Calibri"/>
                <a:ea typeface="Calibri"/>
                <a:cs typeface="Calibri"/>
                <a:sym typeface="Calibri"/>
              </a:rPr>
              <a:t>WHY THIS IS THE HARDER CASE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731520" y="4864608"/>
            <a:ext cx="1069848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An unrecognized term returns nothing — obvious. A mis-mapped term returns a plausible, confident, wrong result — invisible to any automated check. Only a human catches it.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4" name="Google Shape;84;p1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3"/>
          <p:cNvSpPr txBox="1"/>
          <p:nvPr/>
        </p:nvSpPr>
        <p:spPr>
          <a:xfrm>
            <a:off x="640080" y="19202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TRANSITION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640080" y="2331720"/>
            <a:ext cx="109728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Search Relevance Workbench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640080" y="3136392"/>
            <a:ext cx="109728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 separate feature tour — independent of what you just saw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640080" y="416052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7DD3FC"/>
                </a:solidFill>
                <a:latin typeface="Calibri"/>
                <a:ea typeface="Calibri"/>
                <a:cs typeface="Calibri"/>
                <a:sym typeface="Calibri"/>
              </a:rPr>
              <a:t>That was our custom LangGraph application improving a search — and fixing its own catalog — in real time. Separately, the latest OpenSearch release provides Search Relevance Workbench features for relevance engineers working in Dashboards. Let's take a short tour.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640080" y="516636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Demo B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640080" y="555955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B8C5D1"/>
                </a:solidFill>
                <a:latin typeface="Calibri"/>
                <a:ea typeface="Calibri"/>
                <a:cs typeface="Calibri"/>
                <a:sym typeface="Calibri"/>
              </a:rPr>
              <a:t>Nothing here depends on, validates, or configures Demo A</a:t>
            </a:r>
            <a:endParaRPr/>
          </a:p>
        </p:txBody>
      </p:sp>
      <p:sp>
        <p:nvSpPr>
          <p:cNvPr id="91" name="Google Shape;91;p13"/>
          <p:cNvSpPr txBox="1"/>
          <p:nvPr/>
        </p:nvSpPr>
        <p:spPr>
          <a:xfrm>
            <a:off x="640080" y="587044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github.com/kmwtechnology/opensearch2026-agentic-search</a:t>
            </a:r>
            <a:endParaRPr/>
          </a:p>
        </p:txBody>
      </p:sp>
      <p:sp>
        <p:nvSpPr>
          <p:cNvPr id="92" name="Google Shape;92;p13"/>
          <p:cNvSpPr txBox="1"/>
          <p:nvPr/>
        </p:nvSpPr>
        <p:spPr>
          <a:xfrm>
            <a:off x="7772400" y="6446520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7B8C9F"/>
                </a:solidFill>
                <a:latin typeface="Calibri"/>
                <a:ea typeface="Calibri"/>
                <a:cs typeface="Calibri"/>
                <a:sym typeface="Calibri"/>
              </a:rPr>
              <a:t>OpenSearchCon North America 2026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