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2.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60"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Lst>
  <p:sldSz cy="6858000" cx="12191675"/>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160">
          <p15:clr>
            <a:srgbClr val="000000"/>
          </p15:clr>
        </p15:guide>
        <p15:guide id="2" pos="2880">
          <p15:clr>
            <a:srgbClr val="000000"/>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16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5.xml"/><Relationship Id="rId11" Type="http://schemas.openxmlformats.org/officeDocument/2006/relationships/slide" Target="slides/slide6.xml"/><Relationship Id="rId10" Type="http://schemas.openxmlformats.org/officeDocument/2006/relationships/slide" Target="slides/slide5.xml"/><Relationship Id="rId21" Type="http://schemas.openxmlformats.org/officeDocument/2006/relationships/slide" Target="slides/slide16.xml"/><Relationship Id="rId13" Type="http://schemas.openxmlformats.org/officeDocument/2006/relationships/slide" Target="slides/slide8.xml"/><Relationship Id="rId12" Type="http://schemas.openxmlformats.org/officeDocument/2006/relationships/slide" Target="slides/slide7.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4.xml"/><Relationship Id="rId15" Type="http://schemas.openxmlformats.org/officeDocument/2006/relationships/slide" Target="slides/slide10.xml"/><Relationship Id="rId14" Type="http://schemas.openxmlformats.org/officeDocument/2006/relationships/slide" Target="slides/slide9.xml"/><Relationship Id="rId17" Type="http://schemas.openxmlformats.org/officeDocument/2006/relationships/slide" Target="slides/slide12.xml"/><Relationship Id="rId16" Type="http://schemas.openxmlformats.org/officeDocument/2006/relationships/slide" Target="slides/slide11.xml"/><Relationship Id="rId5" Type="http://schemas.openxmlformats.org/officeDocument/2006/relationships/notesMaster" Target="notesMasters/notesMaster1.xml"/><Relationship Id="rId19" Type="http://schemas.openxmlformats.org/officeDocument/2006/relationships/slide" Target="slides/slide14.xml"/><Relationship Id="rId6" Type="http://schemas.openxmlformats.org/officeDocument/2006/relationships/slide" Target="slides/slide1.xml"/><Relationship Id="rId18" Type="http://schemas.openxmlformats.org/officeDocument/2006/relationships/slide" Target="slides/slide13.xml"/><Relationship Id="rId7" Type="http://schemas.openxmlformats.org/officeDocument/2006/relationships/slide" Target="slides/slide2.xml"/><Relationship Id="rId8" Type="http://schemas.openxmlformats.org/officeDocument/2006/relationships/slide" Target="slides/slide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1pPr>
            <a:lvl2pPr indent="-298450" lvl="1" marL="914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2pPr>
            <a:lvl3pPr indent="-298450" lvl="2" marL="1371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3pPr>
            <a:lvl4pPr indent="-298450" lvl="3" marL="1828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4pPr>
            <a:lvl5pPr indent="-298450" lvl="4" marL="22860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5pPr>
            <a:lvl6pPr indent="-298450" lvl="5" marL="2743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6pPr>
            <a:lvl7pPr indent="-298450" lvl="6" marL="3200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7pPr>
            <a:lvl8pPr indent="-298450" lvl="7" marL="3657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8pPr>
            <a:lvl9pPr indent="-298450" lvl="8" marL="4114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 name="Shape 81"/>
        <p:cNvGrpSpPr/>
        <p:nvPr/>
      </p:nvGrpSpPr>
      <p:grpSpPr>
        <a:xfrm>
          <a:off x="0" y="0"/>
          <a:ext cx="0" cy="0"/>
          <a:chOff x="0" y="0"/>
          <a:chExt cx="0" cy="0"/>
        </a:xfrm>
      </p:grpSpPr>
      <p:sp>
        <p:nvSpPr>
          <p:cNvPr id="82" name="Google Shape;82;p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83" name="Google Shape;83;p1: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 name="Shape 94"/>
        <p:cNvGrpSpPr/>
        <p:nvPr/>
      </p:nvGrpSpPr>
      <p:grpSpPr>
        <a:xfrm>
          <a:off x="0" y="0"/>
          <a:ext cx="0" cy="0"/>
          <a:chOff x="0" y="0"/>
          <a:chExt cx="0" cy="0"/>
        </a:xfrm>
      </p:grpSpPr>
      <p:sp>
        <p:nvSpPr>
          <p:cNvPr id="95" name="Google Shape;95;p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a:t>When we talk about ESCI, we are referring to Amazon's Shopping Queries Dataset, which contains roughly 1.8 million real shopper queries paired with human relevance judgments. The four categories are Explicit, meaning an exact query match; Substitute, meaning a functional alternative; Complement, meaning an item that pairs well or is an accessory; and Irrelevant, meaning an unrelated search result. We rely on this dataset because it captures authentic shopper intent rather than synthetic queries, providing a rigorous benchmark for our retrieval pipeline.</a:t>
            </a:r>
            <a:endParaRPr/>
          </a:p>
        </p:txBody>
      </p:sp>
      <p:sp>
        <p:nvSpPr>
          <p:cNvPr id="96" name="Google Shape;96;p2: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3" name="Shape 123"/>
        <p:cNvGrpSpPr/>
        <p:nvPr/>
      </p:nvGrpSpPr>
      <p:grpSpPr>
        <a:xfrm>
          <a:off x="0" y="0"/>
          <a:ext cx="0" cy="0"/>
          <a:chOff x="0" y="0"/>
          <a:chExt cx="0" cy="0"/>
        </a:xfrm>
      </p:grpSpPr>
      <p:sp>
        <p:nvSpPr>
          <p:cNvPr id="124" name="Google Shape;124;g3fb9ea3d9b1_0_711: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25" name="Google Shape;125;g3fb9ea3d9b1_0_71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6" name="Shape 146"/>
        <p:cNvGrpSpPr/>
        <p:nvPr/>
      </p:nvGrpSpPr>
      <p:grpSpPr>
        <a:xfrm>
          <a:off x="0" y="0"/>
          <a:ext cx="0" cy="0"/>
          <a:chOff x="0" y="0"/>
          <a:chExt cx="0" cy="0"/>
        </a:xfrm>
      </p:grpSpPr>
      <p:sp>
        <p:nvSpPr>
          <p:cNvPr id="147" name="Google Shape;147;g3fb9ea3d9b1_0_2238: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48" name="Google Shape;148;g3fb9ea3d9b1_0_2238: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5" name="Shape 165"/>
        <p:cNvGrpSpPr/>
        <p:nvPr/>
      </p:nvGrpSpPr>
      <p:grpSpPr>
        <a:xfrm>
          <a:off x="0" y="0"/>
          <a:ext cx="0" cy="0"/>
          <a:chOff x="0" y="0"/>
          <a:chExt cx="0" cy="0"/>
        </a:xfrm>
      </p:grpSpPr>
      <p:sp>
        <p:nvSpPr>
          <p:cNvPr id="166" name="Google Shape;166;g3fb9ea3d9b1_0_505: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67" name="Google Shape;167;g3fb9ea3d9b1_0_50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2" name="Shape 202"/>
        <p:cNvGrpSpPr/>
        <p:nvPr/>
      </p:nvGrpSpPr>
      <p:grpSpPr>
        <a:xfrm>
          <a:off x="0" y="0"/>
          <a:ext cx="0" cy="0"/>
          <a:chOff x="0" y="0"/>
          <a:chExt cx="0" cy="0"/>
        </a:xfrm>
      </p:grpSpPr>
      <p:sp>
        <p:nvSpPr>
          <p:cNvPr id="203" name="Google Shape;203;g3fb74e8e66d_2_49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204" name="Google Shape;204;g3fb74e8e66d_2_495: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2" name="Shape 222"/>
        <p:cNvGrpSpPr/>
        <p:nvPr/>
      </p:nvGrpSpPr>
      <p:grpSpPr>
        <a:xfrm>
          <a:off x="0" y="0"/>
          <a:ext cx="0" cy="0"/>
          <a:chOff x="0" y="0"/>
          <a:chExt cx="0" cy="0"/>
        </a:xfrm>
      </p:grpSpPr>
      <p:sp>
        <p:nvSpPr>
          <p:cNvPr id="223" name="Google Shape;223;g3fb74e8e66d_2_691: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24" name="Google Shape;224;g3fb74e8e66d_2_69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2" name="Shape 252"/>
        <p:cNvGrpSpPr/>
        <p:nvPr/>
      </p:nvGrpSpPr>
      <p:grpSpPr>
        <a:xfrm>
          <a:off x="0" y="0"/>
          <a:ext cx="0" cy="0"/>
          <a:chOff x="0" y="0"/>
          <a:chExt cx="0" cy="0"/>
        </a:xfrm>
      </p:grpSpPr>
      <p:sp>
        <p:nvSpPr>
          <p:cNvPr id="253" name="Google Shape;253;g3fb74e8e66d_2_222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254" name="Google Shape;254;g3fb74e8e66d_2_222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5" name="Shape 265"/>
        <p:cNvGrpSpPr/>
        <p:nvPr/>
      </p:nvGrpSpPr>
      <p:grpSpPr>
        <a:xfrm>
          <a:off x="0" y="0"/>
          <a:ext cx="0" cy="0"/>
          <a:chOff x="0" y="0"/>
          <a:chExt cx="0" cy="0"/>
        </a:xfrm>
      </p:grpSpPr>
      <p:sp>
        <p:nvSpPr>
          <p:cNvPr id="266" name="Google Shape;266;g3fb74e8e66d_2_1352: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67" name="Google Shape;267;g3fb74e8e66d_2_135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fb74e8e66d_2_154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94" name="Google Shape;294;g3fb74e8e66d_2_154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fb74e8e66d_2_1728: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15" name="Google Shape;315;g3fb74e8e66d_2_1728: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4" name="Shape 334"/>
        <p:cNvGrpSpPr/>
        <p:nvPr/>
      </p:nvGrpSpPr>
      <p:grpSpPr>
        <a:xfrm>
          <a:off x="0" y="0"/>
          <a:ext cx="0" cy="0"/>
          <a:chOff x="0" y="0"/>
          <a:chExt cx="0" cy="0"/>
        </a:xfrm>
      </p:grpSpPr>
      <p:sp>
        <p:nvSpPr>
          <p:cNvPr id="335" name="Google Shape;335;g3fb9ea3d9b1_0_1295: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36" name="Google Shape;336;g3fb9ea3d9b1_0_129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4" name="Shape 354"/>
        <p:cNvGrpSpPr/>
        <p:nvPr/>
      </p:nvGrpSpPr>
      <p:grpSpPr>
        <a:xfrm>
          <a:off x="0" y="0"/>
          <a:ext cx="0" cy="0"/>
          <a:chOff x="0" y="0"/>
          <a:chExt cx="0" cy="0"/>
        </a:xfrm>
      </p:grpSpPr>
      <p:sp>
        <p:nvSpPr>
          <p:cNvPr id="355" name="Google Shape;355;g3fb74e8e66d_2_1919: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56" name="Google Shape;356;g3fb74e8e66d_2_1919: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8" name="Shape 378"/>
        <p:cNvGrpSpPr/>
        <p:nvPr/>
      </p:nvGrpSpPr>
      <p:grpSpPr>
        <a:xfrm>
          <a:off x="0" y="0"/>
          <a:ext cx="0" cy="0"/>
          <a:chOff x="0" y="0"/>
          <a:chExt cx="0" cy="0"/>
        </a:xfrm>
      </p:grpSpPr>
      <p:sp>
        <p:nvSpPr>
          <p:cNvPr id="379" name="Google Shape;379;g3fb9ea3d9b1_0_203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80" name="Google Shape;380;g3fb9ea3d9b1_0_203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8" name="Shape 398"/>
        <p:cNvGrpSpPr/>
        <p:nvPr/>
      </p:nvGrpSpPr>
      <p:grpSpPr>
        <a:xfrm>
          <a:off x="0" y="0"/>
          <a:ext cx="0" cy="0"/>
          <a:chOff x="0" y="0"/>
          <a:chExt cx="0" cy="0"/>
        </a:xfrm>
      </p:grpSpPr>
      <p:sp>
        <p:nvSpPr>
          <p:cNvPr id="399" name="Google Shape;399;p1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400" name="Google Shape;400;p16: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2" name="Shape 412"/>
        <p:cNvGrpSpPr/>
        <p:nvPr/>
      </p:nvGrpSpPr>
      <p:grpSpPr>
        <a:xfrm>
          <a:off x="0" y="0"/>
          <a:ext cx="0" cy="0"/>
          <a:chOff x="0" y="0"/>
          <a:chExt cx="0" cy="0"/>
        </a:xfrm>
      </p:grpSpPr>
      <p:sp>
        <p:nvSpPr>
          <p:cNvPr id="413" name="Google Shape;413;p1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414" name="Google Shape;414;p15: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1" name="Shape 11"/>
        <p:cNvGrpSpPr/>
        <p:nvPr/>
      </p:nvGrpSpPr>
      <p:grpSpPr>
        <a:xfrm>
          <a:off x="0" y="0"/>
          <a:ext cx="0" cy="0"/>
          <a:chOff x="0" y="0"/>
          <a:chExt cx="0" cy="0"/>
        </a:xfrm>
      </p:grpSpPr>
      <p:sp>
        <p:nvSpPr>
          <p:cNvPr id="12" name="Google Shape;12;p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3" name="Google Shape;13;p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4" name="Google Shape;14;p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5" name="Shape 15"/>
        <p:cNvGrpSpPr/>
        <p:nvPr/>
      </p:nvGrpSpPr>
      <p:grpSpPr>
        <a:xfrm>
          <a:off x="0" y="0"/>
          <a:ext cx="0" cy="0"/>
          <a:chOff x="0" y="0"/>
          <a:chExt cx="0" cy="0"/>
        </a:xfrm>
      </p:grpSpPr>
      <p:sp>
        <p:nvSpPr>
          <p:cNvPr id="16" name="Google Shape;16;p3"/>
          <p:cNvSpPr txBox="1"/>
          <p:nvPr>
            <p:ph type="ctrTitle"/>
          </p:nvPr>
        </p:nvSpPr>
        <p:spPr>
          <a:xfrm>
            <a:off x="685800" y="2130425"/>
            <a:ext cx="7772400" cy="1470025"/>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7" name="Google Shape;17;p3"/>
          <p:cNvSpPr txBox="1"/>
          <p:nvPr>
            <p:ph idx="1" type="subTitle"/>
          </p:nvPr>
        </p:nvSpPr>
        <p:spPr>
          <a:xfrm>
            <a:off x="1371600" y="3886200"/>
            <a:ext cx="6400800" cy="1752600"/>
          </a:xfrm>
          <a:prstGeom prst="rect">
            <a:avLst/>
          </a:prstGeom>
          <a:noFill/>
          <a:ln>
            <a:noFill/>
          </a:ln>
        </p:spPr>
        <p:txBody>
          <a:bodyPr anchorCtr="0" anchor="t" bIns="45700" lIns="91425" spcFirstLastPara="1" rIns="91425" wrap="square" tIns="45700">
            <a:normAutofit/>
          </a:bodyPr>
          <a:lstStyle>
            <a:lvl1pPr lvl="0" algn="ctr">
              <a:lnSpc>
                <a:spcPct val="100000"/>
              </a:lnSpc>
              <a:spcBef>
                <a:spcPts val="640"/>
              </a:spcBef>
              <a:spcAft>
                <a:spcPts val="0"/>
              </a:spcAft>
              <a:buClr>
                <a:srgbClr val="888888"/>
              </a:buClr>
              <a:buSzPts val="3200"/>
              <a:buNone/>
              <a:defRPr>
                <a:solidFill>
                  <a:srgbClr val="888888"/>
                </a:solidFill>
              </a:defRPr>
            </a:lvl1pPr>
            <a:lvl2pPr lvl="1" algn="ctr">
              <a:lnSpc>
                <a:spcPct val="100000"/>
              </a:lnSpc>
              <a:spcBef>
                <a:spcPts val="560"/>
              </a:spcBef>
              <a:spcAft>
                <a:spcPts val="0"/>
              </a:spcAft>
              <a:buClr>
                <a:srgbClr val="888888"/>
              </a:buClr>
              <a:buSzPts val="2800"/>
              <a:buNone/>
              <a:defRPr>
                <a:solidFill>
                  <a:srgbClr val="888888"/>
                </a:solidFill>
              </a:defRPr>
            </a:lvl2pPr>
            <a:lvl3pPr lvl="2" algn="ctr">
              <a:lnSpc>
                <a:spcPct val="100000"/>
              </a:lnSpc>
              <a:spcBef>
                <a:spcPts val="480"/>
              </a:spcBef>
              <a:spcAft>
                <a:spcPts val="0"/>
              </a:spcAft>
              <a:buClr>
                <a:srgbClr val="888888"/>
              </a:buClr>
              <a:buSzPts val="2400"/>
              <a:buNone/>
              <a:defRPr>
                <a:solidFill>
                  <a:srgbClr val="888888"/>
                </a:solidFill>
              </a:defRPr>
            </a:lvl3pPr>
            <a:lvl4pPr lvl="3" algn="ctr">
              <a:lnSpc>
                <a:spcPct val="100000"/>
              </a:lnSpc>
              <a:spcBef>
                <a:spcPts val="400"/>
              </a:spcBef>
              <a:spcAft>
                <a:spcPts val="0"/>
              </a:spcAft>
              <a:buClr>
                <a:srgbClr val="888888"/>
              </a:buClr>
              <a:buSzPts val="2000"/>
              <a:buNone/>
              <a:defRPr>
                <a:solidFill>
                  <a:srgbClr val="888888"/>
                </a:solidFill>
              </a:defRPr>
            </a:lvl4pPr>
            <a:lvl5pPr lvl="4" algn="ctr">
              <a:lnSpc>
                <a:spcPct val="100000"/>
              </a:lnSpc>
              <a:spcBef>
                <a:spcPts val="400"/>
              </a:spcBef>
              <a:spcAft>
                <a:spcPts val="0"/>
              </a:spcAft>
              <a:buClr>
                <a:srgbClr val="888888"/>
              </a:buClr>
              <a:buSzPts val="2000"/>
              <a:buNone/>
              <a:defRPr>
                <a:solidFill>
                  <a:srgbClr val="888888"/>
                </a:solidFill>
              </a:defRPr>
            </a:lvl5pPr>
            <a:lvl6pPr lvl="5" algn="ctr">
              <a:lnSpc>
                <a:spcPct val="100000"/>
              </a:lnSpc>
              <a:spcBef>
                <a:spcPts val="400"/>
              </a:spcBef>
              <a:spcAft>
                <a:spcPts val="0"/>
              </a:spcAft>
              <a:buClr>
                <a:srgbClr val="888888"/>
              </a:buClr>
              <a:buSzPts val="2000"/>
              <a:buNone/>
              <a:defRPr>
                <a:solidFill>
                  <a:srgbClr val="888888"/>
                </a:solidFill>
              </a:defRPr>
            </a:lvl6pPr>
            <a:lvl7pPr lvl="6" algn="ctr">
              <a:lnSpc>
                <a:spcPct val="100000"/>
              </a:lnSpc>
              <a:spcBef>
                <a:spcPts val="400"/>
              </a:spcBef>
              <a:spcAft>
                <a:spcPts val="0"/>
              </a:spcAft>
              <a:buClr>
                <a:srgbClr val="888888"/>
              </a:buClr>
              <a:buSzPts val="2000"/>
              <a:buNone/>
              <a:defRPr>
                <a:solidFill>
                  <a:srgbClr val="888888"/>
                </a:solidFill>
              </a:defRPr>
            </a:lvl7pPr>
            <a:lvl8pPr lvl="7" algn="ctr">
              <a:lnSpc>
                <a:spcPct val="100000"/>
              </a:lnSpc>
              <a:spcBef>
                <a:spcPts val="400"/>
              </a:spcBef>
              <a:spcAft>
                <a:spcPts val="0"/>
              </a:spcAft>
              <a:buClr>
                <a:srgbClr val="888888"/>
              </a:buClr>
              <a:buSzPts val="2000"/>
              <a:buNone/>
              <a:defRPr>
                <a:solidFill>
                  <a:srgbClr val="888888"/>
                </a:solidFill>
              </a:defRPr>
            </a:lvl8pPr>
            <a:lvl9pPr lvl="8" algn="ctr">
              <a:lnSpc>
                <a:spcPct val="100000"/>
              </a:lnSpc>
              <a:spcBef>
                <a:spcPts val="400"/>
              </a:spcBef>
              <a:spcAft>
                <a:spcPts val="0"/>
              </a:spcAft>
              <a:buClr>
                <a:srgbClr val="888888"/>
              </a:buClr>
              <a:buSzPts val="2000"/>
              <a:buNone/>
              <a:defRPr>
                <a:solidFill>
                  <a:srgbClr val="888888"/>
                </a:solidFill>
              </a:defRPr>
            </a:lvl9pPr>
          </a:lstStyle>
          <a:p/>
        </p:txBody>
      </p:sp>
      <p:sp>
        <p:nvSpPr>
          <p:cNvPr id="18" name="Google Shape;18;p3"/>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9" name="Google Shape;19;p3"/>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0" name="Google Shape;20;p3"/>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1" name="Shape 21"/>
        <p:cNvGrpSpPr/>
        <p:nvPr/>
      </p:nvGrpSpPr>
      <p:grpSpPr>
        <a:xfrm>
          <a:off x="0" y="0"/>
          <a:ext cx="0" cy="0"/>
          <a:chOff x="0" y="0"/>
          <a:chExt cx="0" cy="0"/>
        </a:xfrm>
      </p:grpSpPr>
      <p:sp>
        <p:nvSpPr>
          <p:cNvPr id="22" name="Google Shape;22;p4"/>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3" name="Google Shape;23;p4"/>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342900" lvl="0" marL="457200" algn="l">
              <a:lnSpc>
                <a:spcPct val="100000"/>
              </a:lnSpc>
              <a:spcBef>
                <a:spcPts val="360"/>
              </a:spcBef>
              <a:spcAft>
                <a:spcPts val="0"/>
              </a:spcAft>
              <a:buClr>
                <a:schemeClr val="dk1"/>
              </a:buClr>
              <a:buSzPts val="1800"/>
              <a:buChar char="•"/>
              <a:defRPr/>
            </a:lvl1pPr>
            <a:lvl2pPr indent="-342900" lvl="1" marL="914400" algn="l">
              <a:lnSpc>
                <a:spcPct val="100000"/>
              </a:lnSpc>
              <a:spcBef>
                <a:spcPts val="360"/>
              </a:spcBef>
              <a:spcAft>
                <a:spcPts val="0"/>
              </a:spcAft>
              <a:buClr>
                <a:schemeClr val="dk1"/>
              </a:buClr>
              <a:buSzPts val="1800"/>
              <a:buChar char="–"/>
              <a:defRPr/>
            </a:lvl2pPr>
            <a:lvl3pPr indent="-342900" lvl="2" marL="1371600" algn="l">
              <a:lnSpc>
                <a:spcPct val="100000"/>
              </a:lnSpc>
              <a:spcBef>
                <a:spcPts val="360"/>
              </a:spcBef>
              <a:spcAft>
                <a:spcPts val="0"/>
              </a:spcAft>
              <a:buClr>
                <a:schemeClr val="dk1"/>
              </a:buClr>
              <a:buSzPts val="1800"/>
              <a:buChar char="•"/>
              <a:defRPr/>
            </a:lvl3pPr>
            <a:lvl4pPr indent="-342900" lvl="3" marL="1828800" algn="l">
              <a:lnSpc>
                <a:spcPct val="100000"/>
              </a:lnSpc>
              <a:spcBef>
                <a:spcPts val="360"/>
              </a:spcBef>
              <a:spcAft>
                <a:spcPts val="0"/>
              </a:spcAft>
              <a:buClr>
                <a:schemeClr val="dk1"/>
              </a:buClr>
              <a:buSzPts val="1800"/>
              <a:buChar char="–"/>
              <a:defRPr/>
            </a:lvl4pPr>
            <a:lvl5pPr indent="-342900" lvl="4" marL="2286000" algn="l">
              <a:lnSpc>
                <a:spcPct val="100000"/>
              </a:lnSpc>
              <a:spcBef>
                <a:spcPts val="360"/>
              </a:spcBef>
              <a:spcAft>
                <a:spcPts val="0"/>
              </a:spcAft>
              <a:buClr>
                <a:schemeClr val="dk1"/>
              </a:buClr>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4" name="Google Shape;24;p4"/>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5" name="Google Shape;25;p4"/>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6" name="Google Shape;26;p4"/>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27" name="Shape 27"/>
        <p:cNvGrpSpPr/>
        <p:nvPr/>
      </p:nvGrpSpPr>
      <p:grpSpPr>
        <a:xfrm>
          <a:off x="0" y="0"/>
          <a:ext cx="0" cy="0"/>
          <a:chOff x="0" y="0"/>
          <a:chExt cx="0" cy="0"/>
        </a:xfrm>
      </p:grpSpPr>
      <p:sp>
        <p:nvSpPr>
          <p:cNvPr id="28" name="Google Shape;28;p5"/>
          <p:cNvSpPr txBox="1"/>
          <p:nvPr>
            <p:ph type="title"/>
          </p:nvPr>
        </p:nvSpPr>
        <p:spPr>
          <a:xfrm>
            <a:off x="722313" y="4406900"/>
            <a:ext cx="7772400" cy="1362075"/>
          </a:xfrm>
          <a:prstGeom prst="rect">
            <a:avLst/>
          </a:prstGeom>
          <a:noFill/>
          <a:ln>
            <a:noFill/>
          </a:ln>
        </p:spPr>
        <p:txBody>
          <a:bodyPr anchorCtr="0" anchor="t" bIns="45700" lIns="91425" spcFirstLastPara="1" rIns="91425" wrap="square" tIns="45700">
            <a:normAutofit/>
          </a:bodyPr>
          <a:lstStyle>
            <a:lvl1pPr lvl="0" algn="l">
              <a:lnSpc>
                <a:spcPct val="100000"/>
              </a:lnSpc>
              <a:spcBef>
                <a:spcPts val="0"/>
              </a:spcBef>
              <a:spcAft>
                <a:spcPts val="0"/>
              </a:spcAft>
              <a:buClr>
                <a:schemeClr val="dk1"/>
              </a:buClr>
              <a:buSzPts val="4000"/>
              <a:buFont typeface="Calibri"/>
              <a:buNone/>
              <a:defRPr b="1" sz="4000" cap="none"/>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9" name="Google Shape;29;p5"/>
          <p:cNvSpPr txBox="1"/>
          <p:nvPr>
            <p:ph idx="1" type="body"/>
          </p:nvPr>
        </p:nvSpPr>
        <p:spPr>
          <a:xfrm>
            <a:off x="722313" y="2906713"/>
            <a:ext cx="7772400" cy="1500187"/>
          </a:xfrm>
          <a:prstGeom prst="rect">
            <a:avLst/>
          </a:prstGeom>
          <a:noFill/>
          <a:ln>
            <a:noFill/>
          </a:ln>
        </p:spPr>
        <p:txBody>
          <a:bodyPr anchorCtr="0" anchor="b" bIns="45700" lIns="91425" spcFirstLastPara="1" rIns="91425" wrap="square" tIns="45700">
            <a:normAutofit/>
          </a:bodyPr>
          <a:lstStyle>
            <a:lvl1pPr indent="-228600" lvl="0" marL="457200" algn="l">
              <a:lnSpc>
                <a:spcPct val="100000"/>
              </a:lnSpc>
              <a:spcBef>
                <a:spcPts val="400"/>
              </a:spcBef>
              <a:spcAft>
                <a:spcPts val="0"/>
              </a:spcAft>
              <a:buClr>
                <a:srgbClr val="888888"/>
              </a:buClr>
              <a:buSzPts val="2000"/>
              <a:buNone/>
              <a:defRPr sz="2000">
                <a:solidFill>
                  <a:srgbClr val="888888"/>
                </a:solidFill>
              </a:defRPr>
            </a:lvl1pPr>
            <a:lvl2pPr indent="-228600" lvl="1" marL="914400" algn="l">
              <a:lnSpc>
                <a:spcPct val="100000"/>
              </a:lnSpc>
              <a:spcBef>
                <a:spcPts val="360"/>
              </a:spcBef>
              <a:spcAft>
                <a:spcPts val="0"/>
              </a:spcAft>
              <a:buClr>
                <a:srgbClr val="888888"/>
              </a:buClr>
              <a:buSzPts val="1800"/>
              <a:buNone/>
              <a:defRPr sz="1800">
                <a:solidFill>
                  <a:srgbClr val="888888"/>
                </a:solidFill>
              </a:defRPr>
            </a:lvl2pPr>
            <a:lvl3pPr indent="-228600" lvl="2" marL="1371600" algn="l">
              <a:lnSpc>
                <a:spcPct val="100000"/>
              </a:lnSpc>
              <a:spcBef>
                <a:spcPts val="320"/>
              </a:spcBef>
              <a:spcAft>
                <a:spcPts val="0"/>
              </a:spcAft>
              <a:buClr>
                <a:srgbClr val="888888"/>
              </a:buClr>
              <a:buSzPts val="1600"/>
              <a:buNone/>
              <a:defRPr sz="1600">
                <a:solidFill>
                  <a:srgbClr val="888888"/>
                </a:solidFill>
              </a:defRPr>
            </a:lvl3pPr>
            <a:lvl4pPr indent="-228600" lvl="3" marL="1828800" algn="l">
              <a:lnSpc>
                <a:spcPct val="100000"/>
              </a:lnSpc>
              <a:spcBef>
                <a:spcPts val="280"/>
              </a:spcBef>
              <a:spcAft>
                <a:spcPts val="0"/>
              </a:spcAft>
              <a:buClr>
                <a:srgbClr val="888888"/>
              </a:buClr>
              <a:buSzPts val="1400"/>
              <a:buNone/>
              <a:defRPr sz="1400">
                <a:solidFill>
                  <a:srgbClr val="888888"/>
                </a:solidFill>
              </a:defRPr>
            </a:lvl4pPr>
            <a:lvl5pPr indent="-228600" lvl="4" marL="2286000" algn="l">
              <a:lnSpc>
                <a:spcPct val="100000"/>
              </a:lnSpc>
              <a:spcBef>
                <a:spcPts val="280"/>
              </a:spcBef>
              <a:spcAft>
                <a:spcPts val="0"/>
              </a:spcAft>
              <a:buClr>
                <a:srgbClr val="888888"/>
              </a:buClr>
              <a:buSzPts val="1400"/>
              <a:buNone/>
              <a:defRPr sz="1400">
                <a:solidFill>
                  <a:srgbClr val="888888"/>
                </a:solidFill>
              </a:defRPr>
            </a:lvl5pPr>
            <a:lvl6pPr indent="-228600" lvl="5" marL="2743200" algn="l">
              <a:lnSpc>
                <a:spcPct val="100000"/>
              </a:lnSpc>
              <a:spcBef>
                <a:spcPts val="280"/>
              </a:spcBef>
              <a:spcAft>
                <a:spcPts val="0"/>
              </a:spcAft>
              <a:buClr>
                <a:srgbClr val="888888"/>
              </a:buClr>
              <a:buSzPts val="1400"/>
              <a:buNone/>
              <a:defRPr sz="1400">
                <a:solidFill>
                  <a:srgbClr val="888888"/>
                </a:solidFill>
              </a:defRPr>
            </a:lvl6pPr>
            <a:lvl7pPr indent="-228600" lvl="6" marL="3200400" algn="l">
              <a:lnSpc>
                <a:spcPct val="100000"/>
              </a:lnSpc>
              <a:spcBef>
                <a:spcPts val="280"/>
              </a:spcBef>
              <a:spcAft>
                <a:spcPts val="0"/>
              </a:spcAft>
              <a:buClr>
                <a:srgbClr val="888888"/>
              </a:buClr>
              <a:buSzPts val="1400"/>
              <a:buNone/>
              <a:defRPr sz="1400">
                <a:solidFill>
                  <a:srgbClr val="888888"/>
                </a:solidFill>
              </a:defRPr>
            </a:lvl7pPr>
            <a:lvl8pPr indent="-228600" lvl="7" marL="3657600" algn="l">
              <a:lnSpc>
                <a:spcPct val="100000"/>
              </a:lnSpc>
              <a:spcBef>
                <a:spcPts val="280"/>
              </a:spcBef>
              <a:spcAft>
                <a:spcPts val="0"/>
              </a:spcAft>
              <a:buClr>
                <a:srgbClr val="888888"/>
              </a:buClr>
              <a:buSzPts val="1400"/>
              <a:buNone/>
              <a:defRPr sz="1400">
                <a:solidFill>
                  <a:srgbClr val="888888"/>
                </a:solidFill>
              </a:defRPr>
            </a:lvl8pPr>
            <a:lvl9pPr indent="-228600" lvl="8" marL="4114800" algn="l">
              <a:lnSpc>
                <a:spcPct val="100000"/>
              </a:lnSpc>
              <a:spcBef>
                <a:spcPts val="280"/>
              </a:spcBef>
              <a:spcAft>
                <a:spcPts val="0"/>
              </a:spcAft>
              <a:buClr>
                <a:srgbClr val="888888"/>
              </a:buClr>
              <a:buSzPts val="1400"/>
              <a:buNone/>
              <a:defRPr sz="1400">
                <a:solidFill>
                  <a:srgbClr val="888888"/>
                </a:solidFill>
              </a:defRPr>
            </a:lvl9pPr>
          </a:lstStyle>
          <a:p/>
        </p:txBody>
      </p:sp>
      <p:sp>
        <p:nvSpPr>
          <p:cNvPr id="30" name="Google Shape;30;p5"/>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1" name="Google Shape;31;p5"/>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2" name="Google Shape;32;p5"/>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3" name="Shape 33"/>
        <p:cNvGrpSpPr/>
        <p:nvPr/>
      </p:nvGrpSpPr>
      <p:grpSpPr>
        <a:xfrm>
          <a:off x="0" y="0"/>
          <a:ext cx="0" cy="0"/>
          <a:chOff x="0" y="0"/>
          <a:chExt cx="0" cy="0"/>
        </a:xfrm>
      </p:grpSpPr>
      <p:sp>
        <p:nvSpPr>
          <p:cNvPr id="34" name="Google Shape;34;p6"/>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5" name="Google Shape;35;p6"/>
          <p:cNvSpPr txBox="1"/>
          <p:nvPr>
            <p:ph idx="1" type="body"/>
          </p:nvPr>
        </p:nvSpPr>
        <p:spPr>
          <a:xfrm>
            <a:off x="457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chemeClr val="dk1"/>
              </a:buClr>
              <a:buSzPts val="2800"/>
              <a:buChar char="•"/>
              <a:defRPr sz="2800"/>
            </a:lvl1pPr>
            <a:lvl2pPr indent="-381000" lvl="1" marL="914400" algn="l">
              <a:lnSpc>
                <a:spcPct val="100000"/>
              </a:lnSpc>
              <a:spcBef>
                <a:spcPts val="480"/>
              </a:spcBef>
              <a:spcAft>
                <a:spcPts val="0"/>
              </a:spcAft>
              <a:buClr>
                <a:schemeClr val="dk1"/>
              </a:buClr>
              <a:buSzPts val="2400"/>
              <a:buChar char="–"/>
              <a:defRPr sz="2400"/>
            </a:lvl2pPr>
            <a:lvl3pPr indent="-355600" lvl="2" marL="1371600" algn="l">
              <a:lnSpc>
                <a:spcPct val="100000"/>
              </a:lnSpc>
              <a:spcBef>
                <a:spcPts val="400"/>
              </a:spcBef>
              <a:spcAft>
                <a:spcPts val="0"/>
              </a:spcAft>
              <a:buClr>
                <a:schemeClr val="dk1"/>
              </a:buClr>
              <a:buSzPts val="2000"/>
              <a:buChar char="•"/>
              <a:defRPr sz="2000"/>
            </a:lvl3pPr>
            <a:lvl4pPr indent="-342900" lvl="3" marL="1828800" algn="l">
              <a:lnSpc>
                <a:spcPct val="100000"/>
              </a:lnSpc>
              <a:spcBef>
                <a:spcPts val="360"/>
              </a:spcBef>
              <a:spcAft>
                <a:spcPts val="0"/>
              </a:spcAft>
              <a:buClr>
                <a:schemeClr val="dk1"/>
              </a:buClr>
              <a:buSzPts val="1800"/>
              <a:buChar char="–"/>
              <a:defRPr sz="1800"/>
            </a:lvl4pPr>
            <a:lvl5pPr indent="-342900" lvl="4" marL="2286000" algn="l">
              <a:lnSpc>
                <a:spcPct val="100000"/>
              </a:lnSpc>
              <a:spcBef>
                <a:spcPts val="360"/>
              </a:spcBef>
              <a:spcAft>
                <a:spcPts val="0"/>
              </a:spcAft>
              <a:buClr>
                <a:schemeClr val="dk1"/>
              </a:buClr>
              <a:buSzPts val="1800"/>
              <a:buChar char="»"/>
              <a:defRPr sz="1800"/>
            </a:lvl5pPr>
            <a:lvl6pPr indent="-342900" lvl="5" marL="2743200" algn="l">
              <a:lnSpc>
                <a:spcPct val="100000"/>
              </a:lnSpc>
              <a:spcBef>
                <a:spcPts val="360"/>
              </a:spcBef>
              <a:spcAft>
                <a:spcPts val="0"/>
              </a:spcAft>
              <a:buClr>
                <a:schemeClr val="dk1"/>
              </a:buClr>
              <a:buSzPts val="1800"/>
              <a:buChar char="•"/>
              <a:defRPr sz="1800"/>
            </a:lvl6pPr>
            <a:lvl7pPr indent="-342900" lvl="6" marL="3200400" algn="l">
              <a:lnSpc>
                <a:spcPct val="100000"/>
              </a:lnSpc>
              <a:spcBef>
                <a:spcPts val="360"/>
              </a:spcBef>
              <a:spcAft>
                <a:spcPts val="0"/>
              </a:spcAft>
              <a:buClr>
                <a:schemeClr val="dk1"/>
              </a:buClr>
              <a:buSzPts val="1800"/>
              <a:buChar char="•"/>
              <a:defRPr sz="1800"/>
            </a:lvl7pPr>
            <a:lvl8pPr indent="-342900" lvl="7" marL="3657600" algn="l">
              <a:lnSpc>
                <a:spcPct val="100000"/>
              </a:lnSpc>
              <a:spcBef>
                <a:spcPts val="360"/>
              </a:spcBef>
              <a:spcAft>
                <a:spcPts val="0"/>
              </a:spcAft>
              <a:buClr>
                <a:schemeClr val="dk1"/>
              </a:buClr>
              <a:buSzPts val="1800"/>
              <a:buChar char="•"/>
              <a:defRPr sz="1800"/>
            </a:lvl8pPr>
            <a:lvl9pPr indent="-342900" lvl="8" marL="4114800" algn="l">
              <a:lnSpc>
                <a:spcPct val="100000"/>
              </a:lnSpc>
              <a:spcBef>
                <a:spcPts val="360"/>
              </a:spcBef>
              <a:spcAft>
                <a:spcPts val="0"/>
              </a:spcAft>
              <a:buClr>
                <a:schemeClr val="dk1"/>
              </a:buClr>
              <a:buSzPts val="1800"/>
              <a:buChar char="•"/>
              <a:defRPr sz="1800"/>
            </a:lvl9pPr>
          </a:lstStyle>
          <a:p/>
        </p:txBody>
      </p:sp>
      <p:sp>
        <p:nvSpPr>
          <p:cNvPr id="36" name="Google Shape;36;p6"/>
          <p:cNvSpPr txBox="1"/>
          <p:nvPr>
            <p:ph idx="2" type="body"/>
          </p:nvPr>
        </p:nvSpPr>
        <p:spPr>
          <a:xfrm>
            <a:off x="4648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chemeClr val="dk1"/>
              </a:buClr>
              <a:buSzPts val="2800"/>
              <a:buChar char="•"/>
              <a:defRPr sz="2800"/>
            </a:lvl1pPr>
            <a:lvl2pPr indent="-381000" lvl="1" marL="914400" algn="l">
              <a:lnSpc>
                <a:spcPct val="100000"/>
              </a:lnSpc>
              <a:spcBef>
                <a:spcPts val="480"/>
              </a:spcBef>
              <a:spcAft>
                <a:spcPts val="0"/>
              </a:spcAft>
              <a:buClr>
                <a:schemeClr val="dk1"/>
              </a:buClr>
              <a:buSzPts val="2400"/>
              <a:buChar char="–"/>
              <a:defRPr sz="2400"/>
            </a:lvl2pPr>
            <a:lvl3pPr indent="-355600" lvl="2" marL="1371600" algn="l">
              <a:lnSpc>
                <a:spcPct val="100000"/>
              </a:lnSpc>
              <a:spcBef>
                <a:spcPts val="400"/>
              </a:spcBef>
              <a:spcAft>
                <a:spcPts val="0"/>
              </a:spcAft>
              <a:buClr>
                <a:schemeClr val="dk1"/>
              </a:buClr>
              <a:buSzPts val="2000"/>
              <a:buChar char="•"/>
              <a:defRPr sz="2000"/>
            </a:lvl3pPr>
            <a:lvl4pPr indent="-342900" lvl="3" marL="1828800" algn="l">
              <a:lnSpc>
                <a:spcPct val="100000"/>
              </a:lnSpc>
              <a:spcBef>
                <a:spcPts val="360"/>
              </a:spcBef>
              <a:spcAft>
                <a:spcPts val="0"/>
              </a:spcAft>
              <a:buClr>
                <a:schemeClr val="dk1"/>
              </a:buClr>
              <a:buSzPts val="1800"/>
              <a:buChar char="–"/>
              <a:defRPr sz="1800"/>
            </a:lvl4pPr>
            <a:lvl5pPr indent="-342900" lvl="4" marL="2286000" algn="l">
              <a:lnSpc>
                <a:spcPct val="100000"/>
              </a:lnSpc>
              <a:spcBef>
                <a:spcPts val="360"/>
              </a:spcBef>
              <a:spcAft>
                <a:spcPts val="0"/>
              </a:spcAft>
              <a:buClr>
                <a:schemeClr val="dk1"/>
              </a:buClr>
              <a:buSzPts val="1800"/>
              <a:buChar char="»"/>
              <a:defRPr sz="1800"/>
            </a:lvl5pPr>
            <a:lvl6pPr indent="-342900" lvl="5" marL="2743200" algn="l">
              <a:lnSpc>
                <a:spcPct val="100000"/>
              </a:lnSpc>
              <a:spcBef>
                <a:spcPts val="360"/>
              </a:spcBef>
              <a:spcAft>
                <a:spcPts val="0"/>
              </a:spcAft>
              <a:buClr>
                <a:schemeClr val="dk1"/>
              </a:buClr>
              <a:buSzPts val="1800"/>
              <a:buChar char="•"/>
              <a:defRPr sz="1800"/>
            </a:lvl6pPr>
            <a:lvl7pPr indent="-342900" lvl="6" marL="3200400" algn="l">
              <a:lnSpc>
                <a:spcPct val="100000"/>
              </a:lnSpc>
              <a:spcBef>
                <a:spcPts val="360"/>
              </a:spcBef>
              <a:spcAft>
                <a:spcPts val="0"/>
              </a:spcAft>
              <a:buClr>
                <a:schemeClr val="dk1"/>
              </a:buClr>
              <a:buSzPts val="1800"/>
              <a:buChar char="•"/>
              <a:defRPr sz="1800"/>
            </a:lvl7pPr>
            <a:lvl8pPr indent="-342900" lvl="7" marL="3657600" algn="l">
              <a:lnSpc>
                <a:spcPct val="100000"/>
              </a:lnSpc>
              <a:spcBef>
                <a:spcPts val="360"/>
              </a:spcBef>
              <a:spcAft>
                <a:spcPts val="0"/>
              </a:spcAft>
              <a:buClr>
                <a:schemeClr val="dk1"/>
              </a:buClr>
              <a:buSzPts val="1800"/>
              <a:buChar char="•"/>
              <a:defRPr sz="1800"/>
            </a:lvl8pPr>
            <a:lvl9pPr indent="-342900" lvl="8" marL="4114800" algn="l">
              <a:lnSpc>
                <a:spcPct val="100000"/>
              </a:lnSpc>
              <a:spcBef>
                <a:spcPts val="360"/>
              </a:spcBef>
              <a:spcAft>
                <a:spcPts val="0"/>
              </a:spcAft>
              <a:buClr>
                <a:schemeClr val="dk1"/>
              </a:buClr>
              <a:buSzPts val="1800"/>
              <a:buChar char="•"/>
              <a:defRPr sz="1800"/>
            </a:lvl9pPr>
          </a:lstStyle>
          <a:p/>
        </p:txBody>
      </p:sp>
      <p:sp>
        <p:nvSpPr>
          <p:cNvPr id="37" name="Google Shape;37;p6"/>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8" name="Google Shape;38;p6"/>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9" name="Google Shape;39;p6"/>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0" name="Shape 40"/>
        <p:cNvGrpSpPr/>
        <p:nvPr/>
      </p:nvGrpSpPr>
      <p:grpSpPr>
        <a:xfrm>
          <a:off x="0" y="0"/>
          <a:ext cx="0" cy="0"/>
          <a:chOff x="0" y="0"/>
          <a:chExt cx="0" cy="0"/>
        </a:xfrm>
      </p:grpSpPr>
      <p:sp>
        <p:nvSpPr>
          <p:cNvPr id="41" name="Google Shape;41;p7"/>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4400"/>
              <a:buFont typeface="Calibri"/>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2" name="Google Shape;42;p7"/>
          <p:cNvSpPr txBox="1"/>
          <p:nvPr>
            <p:ph idx="1" type="body"/>
          </p:nvPr>
        </p:nvSpPr>
        <p:spPr>
          <a:xfrm>
            <a:off x="457200" y="1535113"/>
            <a:ext cx="4040188" cy="639762"/>
          </a:xfrm>
          <a:prstGeom prst="rect">
            <a:avLst/>
          </a:prstGeom>
          <a:noFill/>
          <a:ln>
            <a:noFill/>
          </a:ln>
        </p:spPr>
        <p:txBody>
          <a:bodyPr anchorCtr="0" anchor="b" bIns="45700" lIns="91425" spcFirstLastPara="1" rIns="91425" wrap="square" tIns="45700">
            <a:normAutofit/>
          </a:bodyPr>
          <a:lstStyle>
            <a:lvl1pPr indent="-228600" lvl="0" marL="457200" algn="l">
              <a:lnSpc>
                <a:spcPct val="100000"/>
              </a:lnSpc>
              <a:spcBef>
                <a:spcPts val="480"/>
              </a:spcBef>
              <a:spcAft>
                <a:spcPts val="0"/>
              </a:spcAft>
              <a:buClr>
                <a:schemeClr val="dk1"/>
              </a:buClr>
              <a:buSzPts val="2400"/>
              <a:buNone/>
              <a:defRPr b="1" sz="2400"/>
            </a:lvl1pPr>
            <a:lvl2pPr indent="-228600" lvl="1" marL="914400" algn="l">
              <a:lnSpc>
                <a:spcPct val="100000"/>
              </a:lnSpc>
              <a:spcBef>
                <a:spcPts val="400"/>
              </a:spcBef>
              <a:spcAft>
                <a:spcPts val="0"/>
              </a:spcAft>
              <a:buClr>
                <a:schemeClr val="dk1"/>
              </a:buClr>
              <a:buSzPts val="2000"/>
              <a:buNone/>
              <a:defRPr b="1" sz="2000"/>
            </a:lvl2pPr>
            <a:lvl3pPr indent="-228600" lvl="2" marL="1371600" algn="l">
              <a:lnSpc>
                <a:spcPct val="100000"/>
              </a:lnSpc>
              <a:spcBef>
                <a:spcPts val="360"/>
              </a:spcBef>
              <a:spcAft>
                <a:spcPts val="0"/>
              </a:spcAft>
              <a:buClr>
                <a:schemeClr val="dk1"/>
              </a:buClr>
              <a:buSzPts val="1800"/>
              <a:buNone/>
              <a:defRPr b="1" sz="1800"/>
            </a:lvl3pPr>
            <a:lvl4pPr indent="-228600" lvl="3" marL="1828800" algn="l">
              <a:lnSpc>
                <a:spcPct val="100000"/>
              </a:lnSpc>
              <a:spcBef>
                <a:spcPts val="320"/>
              </a:spcBef>
              <a:spcAft>
                <a:spcPts val="0"/>
              </a:spcAft>
              <a:buClr>
                <a:schemeClr val="dk1"/>
              </a:buClr>
              <a:buSzPts val="1600"/>
              <a:buNone/>
              <a:defRPr b="1" sz="1600"/>
            </a:lvl4pPr>
            <a:lvl5pPr indent="-228600" lvl="4" marL="2286000" algn="l">
              <a:lnSpc>
                <a:spcPct val="100000"/>
              </a:lnSpc>
              <a:spcBef>
                <a:spcPts val="320"/>
              </a:spcBef>
              <a:spcAft>
                <a:spcPts val="0"/>
              </a:spcAft>
              <a:buClr>
                <a:schemeClr val="dk1"/>
              </a:buClr>
              <a:buSzPts val="1600"/>
              <a:buNone/>
              <a:defRPr b="1" sz="1600"/>
            </a:lvl5pPr>
            <a:lvl6pPr indent="-228600" lvl="5" marL="2743200" algn="l">
              <a:lnSpc>
                <a:spcPct val="100000"/>
              </a:lnSpc>
              <a:spcBef>
                <a:spcPts val="320"/>
              </a:spcBef>
              <a:spcAft>
                <a:spcPts val="0"/>
              </a:spcAft>
              <a:buClr>
                <a:schemeClr val="dk1"/>
              </a:buClr>
              <a:buSzPts val="1600"/>
              <a:buNone/>
              <a:defRPr b="1" sz="1600"/>
            </a:lvl6pPr>
            <a:lvl7pPr indent="-228600" lvl="6" marL="3200400" algn="l">
              <a:lnSpc>
                <a:spcPct val="100000"/>
              </a:lnSpc>
              <a:spcBef>
                <a:spcPts val="320"/>
              </a:spcBef>
              <a:spcAft>
                <a:spcPts val="0"/>
              </a:spcAft>
              <a:buClr>
                <a:schemeClr val="dk1"/>
              </a:buClr>
              <a:buSzPts val="1600"/>
              <a:buNone/>
              <a:defRPr b="1" sz="1600"/>
            </a:lvl7pPr>
            <a:lvl8pPr indent="-228600" lvl="7" marL="3657600" algn="l">
              <a:lnSpc>
                <a:spcPct val="100000"/>
              </a:lnSpc>
              <a:spcBef>
                <a:spcPts val="320"/>
              </a:spcBef>
              <a:spcAft>
                <a:spcPts val="0"/>
              </a:spcAft>
              <a:buClr>
                <a:schemeClr val="dk1"/>
              </a:buClr>
              <a:buSzPts val="1600"/>
              <a:buNone/>
              <a:defRPr b="1" sz="1600"/>
            </a:lvl8pPr>
            <a:lvl9pPr indent="-228600" lvl="8" marL="4114800" algn="l">
              <a:lnSpc>
                <a:spcPct val="100000"/>
              </a:lnSpc>
              <a:spcBef>
                <a:spcPts val="320"/>
              </a:spcBef>
              <a:spcAft>
                <a:spcPts val="0"/>
              </a:spcAft>
              <a:buClr>
                <a:schemeClr val="dk1"/>
              </a:buClr>
              <a:buSzPts val="1600"/>
              <a:buNone/>
              <a:defRPr b="1" sz="1600"/>
            </a:lvl9pPr>
          </a:lstStyle>
          <a:p/>
        </p:txBody>
      </p:sp>
      <p:sp>
        <p:nvSpPr>
          <p:cNvPr id="43" name="Google Shape;43;p7"/>
          <p:cNvSpPr txBox="1"/>
          <p:nvPr>
            <p:ph idx="2" type="body"/>
          </p:nvPr>
        </p:nvSpPr>
        <p:spPr>
          <a:xfrm>
            <a:off x="457200" y="2174875"/>
            <a:ext cx="4040188" cy="3951288"/>
          </a:xfrm>
          <a:prstGeom prst="rect">
            <a:avLst/>
          </a:prstGeom>
          <a:noFill/>
          <a:ln>
            <a:noFill/>
          </a:ln>
        </p:spPr>
        <p:txBody>
          <a:bodyPr anchorCtr="0" anchor="t" bIns="45700" lIns="91425" spcFirstLastPara="1" rIns="91425" wrap="square" tIns="45700">
            <a:normAutofit/>
          </a:bodyPr>
          <a:lstStyle>
            <a:lvl1pPr indent="-381000" lvl="0" marL="457200" algn="l">
              <a:lnSpc>
                <a:spcPct val="100000"/>
              </a:lnSpc>
              <a:spcBef>
                <a:spcPts val="480"/>
              </a:spcBef>
              <a:spcAft>
                <a:spcPts val="0"/>
              </a:spcAft>
              <a:buClr>
                <a:schemeClr val="dk1"/>
              </a:buClr>
              <a:buSzPts val="2400"/>
              <a:buChar char="•"/>
              <a:defRPr sz="2400"/>
            </a:lvl1pPr>
            <a:lvl2pPr indent="-355600" lvl="1" marL="914400" algn="l">
              <a:lnSpc>
                <a:spcPct val="100000"/>
              </a:lnSpc>
              <a:spcBef>
                <a:spcPts val="400"/>
              </a:spcBef>
              <a:spcAft>
                <a:spcPts val="0"/>
              </a:spcAft>
              <a:buClr>
                <a:schemeClr val="dk1"/>
              </a:buClr>
              <a:buSzPts val="2000"/>
              <a:buChar char="–"/>
              <a:defRPr sz="2000"/>
            </a:lvl2pPr>
            <a:lvl3pPr indent="-342900" lvl="2" marL="1371600" algn="l">
              <a:lnSpc>
                <a:spcPct val="100000"/>
              </a:lnSpc>
              <a:spcBef>
                <a:spcPts val="360"/>
              </a:spcBef>
              <a:spcAft>
                <a:spcPts val="0"/>
              </a:spcAft>
              <a:buClr>
                <a:schemeClr val="dk1"/>
              </a:buClr>
              <a:buSzPts val="1800"/>
              <a:buChar char="•"/>
              <a:defRPr sz="1800"/>
            </a:lvl3pPr>
            <a:lvl4pPr indent="-330200" lvl="3" marL="1828800" algn="l">
              <a:lnSpc>
                <a:spcPct val="100000"/>
              </a:lnSpc>
              <a:spcBef>
                <a:spcPts val="320"/>
              </a:spcBef>
              <a:spcAft>
                <a:spcPts val="0"/>
              </a:spcAft>
              <a:buClr>
                <a:schemeClr val="dk1"/>
              </a:buClr>
              <a:buSzPts val="1600"/>
              <a:buChar char="–"/>
              <a:defRPr sz="1600"/>
            </a:lvl4pPr>
            <a:lvl5pPr indent="-330200" lvl="4" marL="2286000" algn="l">
              <a:lnSpc>
                <a:spcPct val="100000"/>
              </a:lnSpc>
              <a:spcBef>
                <a:spcPts val="320"/>
              </a:spcBef>
              <a:spcAft>
                <a:spcPts val="0"/>
              </a:spcAft>
              <a:buClr>
                <a:schemeClr val="dk1"/>
              </a:buClr>
              <a:buSzPts val="1600"/>
              <a:buChar char="»"/>
              <a:defRPr sz="1600"/>
            </a:lvl5pPr>
            <a:lvl6pPr indent="-330200" lvl="5" marL="2743200" algn="l">
              <a:lnSpc>
                <a:spcPct val="100000"/>
              </a:lnSpc>
              <a:spcBef>
                <a:spcPts val="320"/>
              </a:spcBef>
              <a:spcAft>
                <a:spcPts val="0"/>
              </a:spcAft>
              <a:buClr>
                <a:schemeClr val="dk1"/>
              </a:buClr>
              <a:buSzPts val="1600"/>
              <a:buChar char="•"/>
              <a:defRPr sz="1600"/>
            </a:lvl6pPr>
            <a:lvl7pPr indent="-330200" lvl="6" marL="3200400" algn="l">
              <a:lnSpc>
                <a:spcPct val="100000"/>
              </a:lnSpc>
              <a:spcBef>
                <a:spcPts val="320"/>
              </a:spcBef>
              <a:spcAft>
                <a:spcPts val="0"/>
              </a:spcAft>
              <a:buClr>
                <a:schemeClr val="dk1"/>
              </a:buClr>
              <a:buSzPts val="1600"/>
              <a:buChar char="•"/>
              <a:defRPr sz="1600"/>
            </a:lvl7pPr>
            <a:lvl8pPr indent="-330200" lvl="7" marL="3657600" algn="l">
              <a:lnSpc>
                <a:spcPct val="100000"/>
              </a:lnSpc>
              <a:spcBef>
                <a:spcPts val="320"/>
              </a:spcBef>
              <a:spcAft>
                <a:spcPts val="0"/>
              </a:spcAft>
              <a:buClr>
                <a:schemeClr val="dk1"/>
              </a:buClr>
              <a:buSzPts val="1600"/>
              <a:buChar char="•"/>
              <a:defRPr sz="1600"/>
            </a:lvl8pPr>
            <a:lvl9pPr indent="-330200" lvl="8" marL="4114800" algn="l">
              <a:lnSpc>
                <a:spcPct val="100000"/>
              </a:lnSpc>
              <a:spcBef>
                <a:spcPts val="320"/>
              </a:spcBef>
              <a:spcAft>
                <a:spcPts val="0"/>
              </a:spcAft>
              <a:buClr>
                <a:schemeClr val="dk1"/>
              </a:buClr>
              <a:buSzPts val="1600"/>
              <a:buChar char="•"/>
              <a:defRPr sz="1600"/>
            </a:lvl9pPr>
          </a:lstStyle>
          <a:p/>
        </p:txBody>
      </p:sp>
      <p:sp>
        <p:nvSpPr>
          <p:cNvPr id="44" name="Google Shape;44;p7"/>
          <p:cNvSpPr txBox="1"/>
          <p:nvPr>
            <p:ph idx="3" type="body"/>
          </p:nvPr>
        </p:nvSpPr>
        <p:spPr>
          <a:xfrm>
            <a:off x="4645025" y="1535113"/>
            <a:ext cx="4041775" cy="639762"/>
          </a:xfrm>
          <a:prstGeom prst="rect">
            <a:avLst/>
          </a:prstGeom>
          <a:noFill/>
          <a:ln>
            <a:noFill/>
          </a:ln>
        </p:spPr>
        <p:txBody>
          <a:bodyPr anchorCtr="0" anchor="b" bIns="45700" lIns="91425" spcFirstLastPara="1" rIns="91425" wrap="square" tIns="45700">
            <a:normAutofit/>
          </a:bodyPr>
          <a:lstStyle>
            <a:lvl1pPr indent="-228600" lvl="0" marL="457200" algn="l">
              <a:lnSpc>
                <a:spcPct val="100000"/>
              </a:lnSpc>
              <a:spcBef>
                <a:spcPts val="480"/>
              </a:spcBef>
              <a:spcAft>
                <a:spcPts val="0"/>
              </a:spcAft>
              <a:buClr>
                <a:schemeClr val="dk1"/>
              </a:buClr>
              <a:buSzPts val="2400"/>
              <a:buNone/>
              <a:defRPr b="1" sz="2400"/>
            </a:lvl1pPr>
            <a:lvl2pPr indent="-228600" lvl="1" marL="914400" algn="l">
              <a:lnSpc>
                <a:spcPct val="100000"/>
              </a:lnSpc>
              <a:spcBef>
                <a:spcPts val="400"/>
              </a:spcBef>
              <a:spcAft>
                <a:spcPts val="0"/>
              </a:spcAft>
              <a:buClr>
                <a:schemeClr val="dk1"/>
              </a:buClr>
              <a:buSzPts val="2000"/>
              <a:buNone/>
              <a:defRPr b="1" sz="2000"/>
            </a:lvl2pPr>
            <a:lvl3pPr indent="-228600" lvl="2" marL="1371600" algn="l">
              <a:lnSpc>
                <a:spcPct val="100000"/>
              </a:lnSpc>
              <a:spcBef>
                <a:spcPts val="360"/>
              </a:spcBef>
              <a:spcAft>
                <a:spcPts val="0"/>
              </a:spcAft>
              <a:buClr>
                <a:schemeClr val="dk1"/>
              </a:buClr>
              <a:buSzPts val="1800"/>
              <a:buNone/>
              <a:defRPr b="1" sz="1800"/>
            </a:lvl3pPr>
            <a:lvl4pPr indent="-228600" lvl="3" marL="1828800" algn="l">
              <a:lnSpc>
                <a:spcPct val="100000"/>
              </a:lnSpc>
              <a:spcBef>
                <a:spcPts val="320"/>
              </a:spcBef>
              <a:spcAft>
                <a:spcPts val="0"/>
              </a:spcAft>
              <a:buClr>
                <a:schemeClr val="dk1"/>
              </a:buClr>
              <a:buSzPts val="1600"/>
              <a:buNone/>
              <a:defRPr b="1" sz="1600"/>
            </a:lvl4pPr>
            <a:lvl5pPr indent="-228600" lvl="4" marL="2286000" algn="l">
              <a:lnSpc>
                <a:spcPct val="100000"/>
              </a:lnSpc>
              <a:spcBef>
                <a:spcPts val="320"/>
              </a:spcBef>
              <a:spcAft>
                <a:spcPts val="0"/>
              </a:spcAft>
              <a:buClr>
                <a:schemeClr val="dk1"/>
              </a:buClr>
              <a:buSzPts val="1600"/>
              <a:buNone/>
              <a:defRPr b="1" sz="1600"/>
            </a:lvl5pPr>
            <a:lvl6pPr indent="-228600" lvl="5" marL="2743200" algn="l">
              <a:lnSpc>
                <a:spcPct val="100000"/>
              </a:lnSpc>
              <a:spcBef>
                <a:spcPts val="320"/>
              </a:spcBef>
              <a:spcAft>
                <a:spcPts val="0"/>
              </a:spcAft>
              <a:buClr>
                <a:schemeClr val="dk1"/>
              </a:buClr>
              <a:buSzPts val="1600"/>
              <a:buNone/>
              <a:defRPr b="1" sz="1600"/>
            </a:lvl6pPr>
            <a:lvl7pPr indent="-228600" lvl="6" marL="3200400" algn="l">
              <a:lnSpc>
                <a:spcPct val="100000"/>
              </a:lnSpc>
              <a:spcBef>
                <a:spcPts val="320"/>
              </a:spcBef>
              <a:spcAft>
                <a:spcPts val="0"/>
              </a:spcAft>
              <a:buClr>
                <a:schemeClr val="dk1"/>
              </a:buClr>
              <a:buSzPts val="1600"/>
              <a:buNone/>
              <a:defRPr b="1" sz="1600"/>
            </a:lvl7pPr>
            <a:lvl8pPr indent="-228600" lvl="7" marL="3657600" algn="l">
              <a:lnSpc>
                <a:spcPct val="100000"/>
              </a:lnSpc>
              <a:spcBef>
                <a:spcPts val="320"/>
              </a:spcBef>
              <a:spcAft>
                <a:spcPts val="0"/>
              </a:spcAft>
              <a:buClr>
                <a:schemeClr val="dk1"/>
              </a:buClr>
              <a:buSzPts val="1600"/>
              <a:buNone/>
              <a:defRPr b="1" sz="1600"/>
            </a:lvl8pPr>
            <a:lvl9pPr indent="-228600" lvl="8" marL="4114800" algn="l">
              <a:lnSpc>
                <a:spcPct val="100000"/>
              </a:lnSpc>
              <a:spcBef>
                <a:spcPts val="320"/>
              </a:spcBef>
              <a:spcAft>
                <a:spcPts val="0"/>
              </a:spcAft>
              <a:buClr>
                <a:schemeClr val="dk1"/>
              </a:buClr>
              <a:buSzPts val="1600"/>
              <a:buNone/>
              <a:defRPr b="1" sz="1600"/>
            </a:lvl9pPr>
          </a:lstStyle>
          <a:p/>
        </p:txBody>
      </p:sp>
      <p:sp>
        <p:nvSpPr>
          <p:cNvPr id="45" name="Google Shape;45;p7"/>
          <p:cNvSpPr txBox="1"/>
          <p:nvPr>
            <p:ph idx="4" type="body"/>
          </p:nvPr>
        </p:nvSpPr>
        <p:spPr>
          <a:xfrm>
            <a:off x="4645025" y="2174875"/>
            <a:ext cx="4041775" cy="3951288"/>
          </a:xfrm>
          <a:prstGeom prst="rect">
            <a:avLst/>
          </a:prstGeom>
          <a:noFill/>
          <a:ln>
            <a:noFill/>
          </a:ln>
        </p:spPr>
        <p:txBody>
          <a:bodyPr anchorCtr="0" anchor="t" bIns="45700" lIns="91425" spcFirstLastPara="1" rIns="91425" wrap="square" tIns="45700">
            <a:normAutofit/>
          </a:bodyPr>
          <a:lstStyle>
            <a:lvl1pPr indent="-381000" lvl="0" marL="457200" algn="l">
              <a:lnSpc>
                <a:spcPct val="100000"/>
              </a:lnSpc>
              <a:spcBef>
                <a:spcPts val="480"/>
              </a:spcBef>
              <a:spcAft>
                <a:spcPts val="0"/>
              </a:spcAft>
              <a:buClr>
                <a:schemeClr val="dk1"/>
              </a:buClr>
              <a:buSzPts val="2400"/>
              <a:buChar char="•"/>
              <a:defRPr sz="2400"/>
            </a:lvl1pPr>
            <a:lvl2pPr indent="-355600" lvl="1" marL="914400" algn="l">
              <a:lnSpc>
                <a:spcPct val="100000"/>
              </a:lnSpc>
              <a:spcBef>
                <a:spcPts val="400"/>
              </a:spcBef>
              <a:spcAft>
                <a:spcPts val="0"/>
              </a:spcAft>
              <a:buClr>
                <a:schemeClr val="dk1"/>
              </a:buClr>
              <a:buSzPts val="2000"/>
              <a:buChar char="–"/>
              <a:defRPr sz="2000"/>
            </a:lvl2pPr>
            <a:lvl3pPr indent="-342900" lvl="2" marL="1371600" algn="l">
              <a:lnSpc>
                <a:spcPct val="100000"/>
              </a:lnSpc>
              <a:spcBef>
                <a:spcPts val="360"/>
              </a:spcBef>
              <a:spcAft>
                <a:spcPts val="0"/>
              </a:spcAft>
              <a:buClr>
                <a:schemeClr val="dk1"/>
              </a:buClr>
              <a:buSzPts val="1800"/>
              <a:buChar char="•"/>
              <a:defRPr sz="1800"/>
            </a:lvl3pPr>
            <a:lvl4pPr indent="-330200" lvl="3" marL="1828800" algn="l">
              <a:lnSpc>
                <a:spcPct val="100000"/>
              </a:lnSpc>
              <a:spcBef>
                <a:spcPts val="320"/>
              </a:spcBef>
              <a:spcAft>
                <a:spcPts val="0"/>
              </a:spcAft>
              <a:buClr>
                <a:schemeClr val="dk1"/>
              </a:buClr>
              <a:buSzPts val="1600"/>
              <a:buChar char="–"/>
              <a:defRPr sz="1600"/>
            </a:lvl4pPr>
            <a:lvl5pPr indent="-330200" lvl="4" marL="2286000" algn="l">
              <a:lnSpc>
                <a:spcPct val="100000"/>
              </a:lnSpc>
              <a:spcBef>
                <a:spcPts val="320"/>
              </a:spcBef>
              <a:spcAft>
                <a:spcPts val="0"/>
              </a:spcAft>
              <a:buClr>
                <a:schemeClr val="dk1"/>
              </a:buClr>
              <a:buSzPts val="1600"/>
              <a:buChar char="»"/>
              <a:defRPr sz="1600"/>
            </a:lvl5pPr>
            <a:lvl6pPr indent="-330200" lvl="5" marL="2743200" algn="l">
              <a:lnSpc>
                <a:spcPct val="100000"/>
              </a:lnSpc>
              <a:spcBef>
                <a:spcPts val="320"/>
              </a:spcBef>
              <a:spcAft>
                <a:spcPts val="0"/>
              </a:spcAft>
              <a:buClr>
                <a:schemeClr val="dk1"/>
              </a:buClr>
              <a:buSzPts val="1600"/>
              <a:buChar char="•"/>
              <a:defRPr sz="1600"/>
            </a:lvl6pPr>
            <a:lvl7pPr indent="-330200" lvl="6" marL="3200400" algn="l">
              <a:lnSpc>
                <a:spcPct val="100000"/>
              </a:lnSpc>
              <a:spcBef>
                <a:spcPts val="320"/>
              </a:spcBef>
              <a:spcAft>
                <a:spcPts val="0"/>
              </a:spcAft>
              <a:buClr>
                <a:schemeClr val="dk1"/>
              </a:buClr>
              <a:buSzPts val="1600"/>
              <a:buChar char="•"/>
              <a:defRPr sz="1600"/>
            </a:lvl7pPr>
            <a:lvl8pPr indent="-330200" lvl="7" marL="3657600" algn="l">
              <a:lnSpc>
                <a:spcPct val="100000"/>
              </a:lnSpc>
              <a:spcBef>
                <a:spcPts val="320"/>
              </a:spcBef>
              <a:spcAft>
                <a:spcPts val="0"/>
              </a:spcAft>
              <a:buClr>
                <a:schemeClr val="dk1"/>
              </a:buClr>
              <a:buSzPts val="1600"/>
              <a:buChar char="•"/>
              <a:defRPr sz="1600"/>
            </a:lvl8pPr>
            <a:lvl9pPr indent="-330200" lvl="8" marL="4114800" algn="l">
              <a:lnSpc>
                <a:spcPct val="100000"/>
              </a:lnSpc>
              <a:spcBef>
                <a:spcPts val="320"/>
              </a:spcBef>
              <a:spcAft>
                <a:spcPts val="0"/>
              </a:spcAft>
              <a:buClr>
                <a:schemeClr val="dk1"/>
              </a:buClr>
              <a:buSzPts val="1600"/>
              <a:buChar char="•"/>
              <a:defRPr sz="1600"/>
            </a:lvl9pPr>
          </a:lstStyle>
          <a:p/>
        </p:txBody>
      </p:sp>
      <p:sp>
        <p:nvSpPr>
          <p:cNvPr id="46" name="Google Shape;46;p7"/>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7" name="Google Shape;47;p7"/>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8" name="Google Shape;48;p7"/>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9" name="Shape 49"/>
        <p:cNvGrpSpPr/>
        <p:nvPr/>
      </p:nvGrpSpPr>
      <p:grpSpPr>
        <a:xfrm>
          <a:off x="0" y="0"/>
          <a:ext cx="0" cy="0"/>
          <a:chOff x="0" y="0"/>
          <a:chExt cx="0" cy="0"/>
        </a:xfrm>
      </p:grpSpPr>
      <p:sp>
        <p:nvSpPr>
          <p:cNvPr id="50" name="Google Shape;50;p8"/>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1" name="Google Shape;51;p8"/>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2" name="Google Shape;52;p8"/>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3" name="Google Shape;53;p8"/>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54" name="Shape 54"/>
        <p:cNvGrpSpPr/>
        <p:nvPr/>
      </p:nvGrpSpPr>
      <p:grpSpPr>
        <a:xfrm>
          <a:off x="0" y="0"/>
          <a:ext cx="0" cy="0"/>
          <a:chOff x="0" y="0"/>
          <a:chExt cx="0" cy="0"/>
        </a:xfrm>
      </p:grpSpPr>
      <p:sp>
        <p:nvSpPr>
          <p:cNvPr id="55" name="Google Shape;55;p9"/>
          <p:cNvSpPr txBox="1"/>
          <p:nvPr>
            <p:ph type="title"/>
          </p:nvPr>
        </p:nvSpPr>
        <p:spPr>
          <a:xfrm>
            <a:off x="457200" y="273050"/>
            <a:ext cx="3008313" cy="1162050"/>
          </a:xfrm>
          <a:prstGeom prst="rect">
            <a:avLst/>
          </a:prstGeom>
          <a:noFill/>
          <a:ln>
            <a:noFill/>
          </a:ln>
        </p:spPr>
        <p:txBody>
          <a:bodyPr anchorCtr="0" anchor="b" bIns="45700" lIns="91425" spcFirstLastPara="1" rIns="91425" wrap="square" tIns="45700">
            <a:normAutofit/>
          </a:bodyPr>
          <a:lstStyle>
            <a:lvl1pPr lvl="0" algn="l">
              <a:lnSpc>
                <a:spcPct val="100000"/>
              </a:lnSpc>
              <a:spcBef>
                <a:spcPts val="0"/>
              </a:spcBef>
              <a:spcAft>
                <a:spcPts val="0"/>
              </a:spcAft>
              <a:buClr>
                <a:schemeClr val="dk1"/>
              </a:buClr>
              <a:buSzPts val="2000"/>
              <a:buFont typeface="Calibri"/>
              <a:buNone/>
              <a:defRPr b="1" sz="2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6" name="Google Shape;56;p9"/>
          <p:cNvSpPr txBox="1"/>
          <p:nvPr>
            <p:ph idx="1" type="body"/>
          </p:nvPr>
        </p:nvSpPr>
        <p:spPr>
          <a:xfrm>
            <a:off x="3575050" y="273050"/>
            <a:ext cx="5111750" cy="5853113"/>
          </a:xfrm>
          <a:prstGeom prst="rect">
            <a:avLst/>
          </a:prstGeom>
          <a:noFill/>
          <a:ln>
            <a:noFill/>
          </a:ln>
        </p:spPr>
        <p:txBody>
          <a:bodyPr anchorCtr="0" anchor="t" bIns="45700" lIns="91425" spcFirstLastPara="1" rIns="91425" wrap="square" tIns="45700">
            <a:normAutofit/>
          </a:bodyPr>
          <a:lstStyle>
            <a:lvl1pPr indent="-431800" lvl="0" marL="457200" algn="l">
              <a:lnSpc>
                <a:spcPct val="100000"/>
              </a:lnSpc>
              <a:spcBef>
                <a:spcPts val="640"/>
              </a:spcBef>
              <a:spcAft>
                <a:spcPts val="0"/>
              </a:spcAft>
              <a:buClr>
                <a:schemeClr val="dk1"/>
              </a:buClr>
              <a:buSzPts val="3200"/>
              <a:buChar char="•"/>
              <a:defRPr sz="3200"/>
            </a:lvl1pPr>
            <a:lvl2pPr indent="-406400" lvl="1" marL="914400" algn="l">
              <a:lnSpc>
                <a:spcPct val="100000"/>
              </a:lnSpc>
              <a:spcBef>
                <a:spcPts val="560"/>
              </a:spcBef>
              <a:spcAft>
                <a:spcPts val="0"/>
              </a:spcAft>
              <a:buClr>
                <a:schemeClr val="dk1"/>
              </a:buClr>
              <a:buSzPts val="2800"/>
              <a:buChar char="–"/>
              <a:defRPr sz="2800"/>
            </a:lvl2pPr>
            <a:lvl3pPr indent="-381000" lvl="2" marL="1371600" algn="l">
              <a:lnSpc>
                <a:spcPct val="100000"/>
              </a:lnSpc>
              <a:spcBef>
                <a:spcPts val="480"/>
              </a:spcBef>
              <a:spcAft>
                <a:spcPts val="0"/>
              </a:spcAft>
              <a:buClr>
                <a:schemeClr val="dk1"/>
              </a:buClr>
              <a:buSzPts val="2400"/>
              <a:buChar char="•"/>
              <a:defRPr sz="2400"/>
            </a:lvl3pPr>
            <a:lvl4pPr indent="-355600" lvl="3" marL="1828800" algn="l">
              <a:lnSpc>
                <a:spcPct val="100000"/>
              </a:lnSpc>
              <a:spcBef>
                <a:spcPts val="400"/>
              </a:spcBef>
              <a:spcAft>
                <a:spcPts val="0"/>
              </a:spcAft>
              <a:buClr>
                <a:schemeClr val="dk1"/>
              </a:buClr>
              <a:buSzPts val="2000"/>
              <a:buChar char="–"/>
              <a:defRPr sz="2000"/>
            </a:lvl4pPr>
            <a:lvl5pPr indent="-355600" lvl="4" marL="2286000" algn="l">
              <a:lnSpc>
                <a:spcPct val="100000"/>
              </a:lnSpc>
              <a:spcBef>
                <a:spcPts val="400"/>
              </a:spcBef>
              <a:spcAft>
                <a:spcPts val="0"/>
              </a:spcAft>
              <a:buClr>
                <a:schemeClr val="dk1"/>
              </a:buClr>
              <a:buSzPts val="2000"/>
              <a:buChar char="»"/>
              <a:defRPr sz="2000"/>
            </a:lvl5pPr>
            <a:lvl6pPr indent="-355600" lvl="5" marL="2743200" algn="l">
              <a:lnSpc>
                <a:spcPct val="100000"/>
              </a:lnSpc>
              <a:spcBef>
                <a:spcPts val="400"/>
              </a:spcBef>
              <a:spcAft>
                <a:spcPts val="0"/>
              </a:spcAft>
              <a:buClr>
                <a:schemeClr val="dk1"/>
              </a:buClr>
              <a:buSzPts val="2000"/>
              <a:buChar char="•"/>
              <a:defRPr sz="2000"/>
            </a:lvl6pPr>
            <a:lvl7pPr indent="-355600" lvl="6" marL="3200400" algn="l">
              <a:lnSpc>
                <a:spcPct val="100000"/>
              </a:lnSpc>
              <a:spcBef>
                <a:spcPts val="400"/>
              </a:spcBef>
              <a:spcAft>
                <a:spcPts val="0"/>
              </a:spcAft>
              <a:buClr>
                <a:schemeClr val="dk1"/>
              </a:buClr>
              <a:buSzPts val="2000"/>
              <a:buChar char="•"/>
              <a:defRPr sz="2000"/>
            </a:lvl7pPr>
            <a:lvl8pPr indent="-355600" lvl="7" marL="3657600" algn="l">
              <a:lnSpc>
                <a:spcPct val="100000"/>
              </a:lnSpc>
              <a:spcBef>
                <a:spcPts val="400"/>
              </a:spcBef>
              <a:spcAft>
                <a:spcPts val="0"/>
              </a:spcAft>
              <a:buClr>
                <a:schemeClr val="dk1"/>
              </a:buClr>
              <a:buSzPts val="2000"/>
              <a:buChar char="•"/>
              <a:defRPr sz="2000"/>
            </a:lvl8pPr>
            <a:lvl9pPr indent="-355600" lvl="8" marL="4114800" algn="l">
              <a:lnSpc>
                <a:spcPct val="100000"/>
              </a:lnSpc>
              <a:spcBef>
                <a:spcPts val="400"/>
              </a:spcBef>
              <a:spcAft>
                <a:spcPts val="0"/>
              </a:spcAft>
              <a:buClr>
                <a:schemeClr val="dk1"/>
              </a:buClr>
              <a:buSzPts val="2000"/>
              <a:buChar char="•"/>
              <a:defRPr sz="2000"/>
            </a:lvl9pPr>
          </a:lstStyle>
          <a:p/>
        </p:txBody>
      </p:sp>
      <p:sp>
        <p:nvSpPr>
          <p:cNvPr id="57" name="Google Shape;57;p9"/>
          <p:cNvSpPr txBox="1"/>
          <p:nvPr>
            <p:ph idx="2" type="body"/>
          </p:nvPr>
        </p:nvSpPr>
        <p:spPr>
          <a:xfrm>
            <a:off x="457200" y="1435100"/>
            <a:ext cx="3008313" cy="4691063"/>
          </a:xfrm>
          <a:prstGeom prst="rect">
            <a:avLst/>
          </a:prstGeom>
          <a:noFill/>
          <a:ln>
            <a:noFill/>
          </a:ln>
        </p:spPr>
        <p:txBody>
          <a:bodyPr anchorCtr="0" anchor="t" bIns="45700" lIns="91425" spcFirstLastPara="1" rIns="91425" wrap="square" tIns="45700">
            <a:normAutofit/>
          </a:bodyPr>
          <a:lstStyle>
            <a:lvl1pPr indent="-228600" lvl="0" marL="457200" algn="l">
              <a:lnSpc>
                <a:spcPct val="100000"/>
              </a:lnSpc>
              <a:spcBef>
                <a:spcPts val="280"/>
              </a:spcBef>
              <a:spcAft>
                <a:spcPts val="0"/>
              </a:spcAft>
              <a:buClr>
                <a:schemeClr val="dk1"/>
              </a:buClr>
              <a:buSzPts val="1400"/>
              <a:buNone/>
              <a:defRPr sz="1400"/>
            </a:lvl1pPr>
            <a:lvl2pPr indent="-228600" lvl="1" marL="914400" algn="l">
              <a:lnSpc>
                <a:spcPct val="100000"/>
              </a:lnSpc>
              <a:spcBef>
                <a:spcPts val="240"/>
              </a:spcBef>
              <a:spcAft>
                <a:spcPts val="0"/>
              </a:spcAft>
              <a:buClr>
                <a:schemeClr val="dk1"/>
              </a:buClr>
              <a:buSzPts val="1200"/>
              <a:buNone/>
              <a:defRPr sz="1200"/>
            </a:lvl2pPr>
            <a:lvl3pPr indent="-228600" lvl="2" marL="1371600" algn="l">
              <a:lnSpc>
                <a:spcPct val="100000"/>
              </a:lnSpc>
              <a:spcBef>
                <a:spcPts val="200"/>
              </a:spcBef>
              <a:spcAft>
                <a:spcPts val="0"/>
              </a:spcAft>
              <a:buClr>
                <a:schemeClr val="dk1"/>
              </a:buClr>
              <a:buSzPts val="1000"/>
              <a:buNone/>
              <a:defRPr sz="1000"/>
            </a:lvl3pPr>
            <a:lvl4pPr indent="-228600" lvl="3" marL="1828800" algn="l">
              <a:lnSpc>
                <a:spcPct val="100000"/>
              </a:lnSpc>
              <a:spcBef>
                <a:spcPts val="180"/>
              </a:spcBef>
              <a:spcAft>
                <a:spcPts val="0"/>
              </a:spcAft>
              <a:buClr>
                <a:schemeClr val="dk1"/>
              </a:buClr>
              <a:buSzPts val="900"/>
              <a:buNone/>
              <a:defRPr sz="900"/>
            </a:lvl4pPr>
            <a:lvl5pPr indent="-228600" lvl="4" marL="2286000" algn="l">
              <a:lnSpc>
                <a:spcPct val="100000"/>
              </a:lnSpc>
              <a:spcBef>
                <a:spcPts val="180"/>
              </a:spcBef>
              <a:spcAft>
                <a:spcPts val="0"/>
              </a:spcAft>
              <a:buClr>
                <a:schemeClr val="dk1"/>
              </a:buClr>
              <a:buSzPts val="900"/>
              <a:buNone/>
              <a:defRPr sz="900"/>
            </a:lvl5pPr>
            <a:lvl6pPr indent="-228600" lvl="5" marL="2743200" algn="l">
              <a:lnSpc>
                <a:spcPct val="100000"/>
              </a:lnSpc>
              <a:spcBef>
                <a:spcPts val="180"/>
              </a:spcBef>
              <a:spcAft>
                <a:spcPts val="0"/>
              </a:spcAft>
              <a:buClr>
                <a:schemeClr val="dk1"/>
              </a:buClr>
              <a:buSzPts val="900"/>
              <a:buNone/>
              <a:defRPr sz="900"/>
            </a:lvl6pPr>
            <a:lvl7pPr indent="-228600" lvl="6" marL="3200400" algn="l">
              <a:lnSpc>
                <a:spcPct val="100000"/>
              </a:lnSpc>
              <a:spcBef>
                <a:spcPts val="180"/>
              </a:spcBef>
              <a:spcAft>
                <a:spcPts val="0"/>
              </a:spcAft>
              <a:buClr>
                <a:schemeClr val="dk1"/>
              </a:buClr>
              <a:buSzPts val="900"/>
              <a:buNone/>
              <a:defRPr sz="900"/>
            </a:lvl7pPr>
            <a:lvl8pPr indent="-228600" lvl="7" marL="3657600" algn="l">
              <a:lnSpc>
                <a:spcPct val="100000"/>
              </a:lnSpc>
              <a:spcBef>
                <a:spcPts val="180"/>
              </a:spcBef>
              <a:spcAft>
                <a:spcPts val="0"/>
              </a:spcAft>
              <a:buClr>
                <a:schemeClr val="dk1"/>
              </a:buClr>
              <a:buSzPts val="900"/>
              <a:buNone/>
              <a:defRPr sz="900"/>
            </a:lvl8pPr>
            <a:lvl9pPr indent="-228600" lvl="8" marL="4114800" algn="l">
              <a:lnSpc>
                <a:spcPct val="100000"/>
              </a:lnSpc>
              <a:spcBef>
                <a:spcPts val="180"/>
              </a:spcBef>
              <a:spcAft>
                <a:spcPts val="0"/>
              </a:spcAft>
              <a:buClr>
                <a:schemeClr val="dk1"/>
              </a:buClr>
              <a:buSzPts val="900"/>
              <a:buNone/>
              <a:defRPr sz="900"/>
            </a:lvl9pPr>
          </a:lstStyle>
          <a:p/>
        </p:txBody>
      </p:sp>
      <p:sp>
        <p:nvSpPr>
          <p:cNvPr id="58" name="Google Shape;58;p9"/>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9" name="Google Shape;59;p9"/>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0" name="Google Shape;60;p9"/>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61" name="Shape 61"/>
        <p:cNvGrpSpPr/>
        <p:nvPr/>
      </p:nvGrpSpPr>
      <p:grpSpPr>
        <a:xfrm>
          <a:off x="0" y="0"/>
          <a:ext cx="0" cy="0"/>
          <a:chOff x="0" y="0"/>
          <a:chExt cx="0" cy="0"/>
        </a:xfrm>
      </p:grpSpPr>
      <p:sp>
        <p:nvSpPr>
          <p:cNvPr id="62" name="Google Shape;62;p10"/>
          <p:cNvSpPr txBox="1"/>
          <p:nvPr>
            <p:ph type="title"/>
          </p:nvPr>
        </p:nvSpPr>
        <p:spPr>
          <a:xfrm>
            <a:off x="1792288" y="4800600"/>
            <a:ext cx="5486400" cy="566738"/>
          </a:xfrm>
          <a:prstGeom prst="rect">
            <a:avLst/>
          </a:prstGeom>
          <a:noFill/>
          <a:ln>
            <a:noFill/>
          </a:ln>
        </p:spPr>
        <p:txBody>
          <a:bodyPr anchorCtr="0" anchor="b" bIns="45700" lIns="91425" spcFirstLastPara="1" rIns="91425" wrap="square" tIns="45700">
            <a:normAutofit/>
          </a:bodyPr>
          <a:lstStyle>
            <a:lvl1pPr lvl="0" algn="l">
              <a:lnSpc>
                <a:spcPct val="100000"/>
              </a:lnSpc>
              <a:spcBef>
                <a:spcPts val="0"/>
              </a:spcBef>
              <a:spcAft>
                <a:spcPts val="0"/>
              </a:spcAft>
              <a:buClr>
                <a:schemeClr val="dk1"/>
              </a:buClr>
              <a:buSzPts val="2000"/>
              <a:buFont typeface="Calibri"/>
              <a:buNone/>
              <a:defRPr b="1" sz="2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3" name="Google Shape;63;p10"/>
          <p:cNvSpPr/>
          <p:nvPr>
            <p:ph idx="2" type="pic"/>
          </p:nvPr>
        </p:nvSpPr>
        <p:spPr>
          <a:xfrm>
            <a:off x="1792288" y="612775"/>
            <a:ext cx="5486400" cy="4114800"/>
          </a:xfrm>
          <a:prstGeom prst="rect">
            <a:avLst/>
          </a:prstGeom>
          <a:noFill/>
          <a:ln>
            <a:noFill/>
          </a:ln>
        </p:spPr>
      </p:sp>
      <p:sp>
        <p:nvSpPr>
          <p:cNvPr id="64" name="Google Shape;64;p10"/>
          <p:cNvSpPr txBox="1"/>
          <p:nvPr>
            <p:ph idx="1" type="body"/>
          </p:nvPr>
        </p:nvSpPr>
        <p:spPr>
          <a:xfrm>
            <a:off x="1792288" y="5367338"/>
            <a:ext cx="5486400" cy="804862"/>
          </a:xfrm>
          <a:prstGeom prst="rect">
            <a:avLst/>
          </a:prstGeom>
          <a:noFill/>
          <a:ln>
            <a:noFill/>
          </a:ln>
        </p:spPr>
        <p:txBody>
          <a:bodyPr anchorCtr="0" anchor="t" bIns="45700" lIns="91425" spcFirstLastPara="1" rIns="91425" wrap="square" tIns="45700">
            <a:normAutofit/>
          </a:bodyPr>
          <a:lstStyle>
            <a:lvl1pPr indent="-228600" lvl="0" marL="457200" algn="l">
              <a:lnSpc>
                <a:spcPct val="100000"/>
              </a:lnSpc>
              <a:spcBef>
                <a:spcPts val="280"/>
              </a:spcBef>
              <a:spcAft>
                <a:spcPts val="0"/>
              </a:spcAft>
              <a:buClr>
                <a:schemeClr val="dk1"/>
              </a:buClr>
              <a:buSzPts val="1400"/>
              <a:buNone/>
              <a:defRPr sz="1400"/>
            </a:lvl1pPr>
            <a:lvl2pPr indent="-228600" lvl="1" marL="914400" algn="l">
              <a:lnSpc>
                <a:spcPct val="100000"/>
              </a:lnSpc>
              <a:spcBef>
                <a:spcPts val="240"/>
              </a:spcBef>
              <a:spcAft>
                <a:spcPts val="0"/>
              </a:spcAft>
              <a:buClr>
                <a:schemeClr val="dk1"/>
              </a:buClr>
              <a:buSzPts val="1200"/>
              <a:buNone/>
              <a:defRPr sz="1200"/>
            </a:lvl2pPr>
            <a:lvl3pPr indent="-228600" lvl="2" marL="1371600" algn="l">
              <a:lnSpc>
                <a:spcPct val="100000"/>
              </a:lnSpc>
              <a:spcBef>
                <a:spcPts val="200"/>
              </a:spcBef>
              <a:spcAft>
                <a:spcPts val="0"/>
              </a:spcAft>
              <a:buClr>
                <a:schemeClr val="dk1"/>
              </a:buClr>
              <a:buSzPts val="1000"/>
              <a:buNone/>
              <a:defRPr sz="1000"/>
            </a:lvl3pPr>
            <a:lvl4pPr indent="-228600" lvl="3" marL="1828800" algn="l">
              <a:lnSpc>
                <a:spcPct val="100000"/>
              </a:lnSpc>
              <a:spcBef>
                <a:spcPts val="180"/>
              </a:spcBef>
              <a:spcAft>
                <a:spcPts val="0"/>
              </a:spcAft>
              <a:buClr>
                <a:schemeClr val="dk1"/>
              </a:buClr>
              <a:buSzPts val="900"/>
              <a:buNone/>
              <a:defRPr sz="900"/>
            </a:lvl4pPr>
            <a:lvl5pPr indent="-228600" lvl="4" marL="2286000" algn="l">
              <a:lnSpc>
                <a:spcPct val="100000"/>
              </a:lnSpc>
              <a:spcBef>
                <a:spcPts val="180"/>
              </a:spcBef>
              <a:spcAft>
                <a:spcPts val="0"/>
              </a:spcAft>
              <a:buClr>
                <a:schemeClr val="dk1"/>
              </a:buClr>
              <a:buSzPts val="900"/>
              <a:buNone/>
              <a:defRPr sz="900"/>
            </a:lvl5pPr>
            <a:lvl6pPr indent="-228600" lvl="5" marL="2743200" algn="l">
              <a:lnSpc>
                <a:spcPct val="100000"/>
              </a:lnSpc>
              <a:spcBef>
                <a:spcPts val="180"/>
              </a:spcBef>
              <a:spcAft>
                <a:spcPts val="0"/>
              </a:spcAft>
              <a:buClr>
                <a:schemeClr val="dk1"/>
              </a:buClr>
              <a:buSzPts val="900"/>
              <a:buNone/>
              <a:defRPr sz="900"/>
            </a:lvl6pPr>
            <a:lvl7pPr indent="-228600" lvl="6" marL="3200400" algn="l">
              <a:lnSpc>
                <a:spcPct val="100000"/>
              </a:lnSpc>
              <a:spcBef>
                <a:spcPts val="180"/>
              </a:spcBef>
              <a:spcAft>
                <a:spcPts val="0"/>
              </a:spcAft>
              <a:buClr>
                <a:schemeClr val="dk1"/>
              </a:buClr>
              <a:buSzPts val="900"/>
              <a:buNone/>
              <a:defRPr sz="900"/>
            </a:lvl7pPr>
            <a:lvl8pPr indent="-228600" lvl="7" marL="3657600" algn="l">
              <a:lnSpc>
                <a:spcPct val="100000"/>
              </a:lnSpc>
              <a:spcBef>
                <a:spcPts val="180"/>
              </a:spcBef>
              <a:spcAft>
                <a:spcPts val="0"/>
              </a:spcAft>
              <a:buClr>
                <a:schemeClr val="dk1"/>
              </a:buClr>
              <a:buSzPts val="900"/>
              <a:buNone/>
              <a:defRPr sz="900"/>
            </a:lvl8pPr>
            <a:lvl9pPr indent="-228600" lvl="8" marL="4114800" algn="l">
              <a:lnSpc>
                <a:spcPct val="100000"/>
              </a:lnSpc>
              <a:spcBef>
                <a:spcPts val="180"/>
              </a:spcBef>
              <a:spcAft>
                <a:spcPts val="0"/>
              </a:spcAft>
              <a:buClr>
                <a:schemeClr val="dk1"/>
              </a:buClr>
              <a:buSzPts val="900"/>
              <a:buNone/>
              <a:defRPr sz="900"/>
            </a:lvl9pPr>
          </a:lstStyle>
          <a:p/>
        </p:txBody>
      </p:sp>
      <p:sp>
        <p:nvSpPr>
          <p:cNvPr id="65" name="Google Shape;65;p10"/>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6" name="Google Shape;66;p10"/>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7" name="Google Shape;67;p10"/>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68" name="Shape 68"/>
        <p:cNvGrpSpPr/>
        <p:nvPr/>
      </p:nvGrpSpPr>
      <p:grpSpPr>
        <a:xfrm>
          <a:off x="0" y="0"/>
          <a:ext cx="0" cy="0"/>
          <a:chOff x="0" y="0"/>
          <a:chExt cx="0" cy="0"/>
        </a:xfrm>
      </p:grpSpPr>
      <p:sp>
        <p:nvSpPr>
          <p:cNvPr id="69" name="Google Shape;69;p11"/>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0" name="Google Shape;70;p11"/>
          <p:cNvSpPr txBox="1"/>
          <p:nvPr>
            <p:ph idx="1" type="body"/>
          </p:nvPr>
        </p:nvSpPr>
        <p:spPr>
          <a:xfrm rot="5400000">
            <a:off x="2309019" y="-251618"/>
            <a:ext cx="4525963" cy="8229600"/>
          </a:xfrm>
          <a:prstGeom prst="rect">
            <a:avLst/>
          </a:prstGeom>
          <a:noFill/>
          <a:ln>
            <a:noFill/>
          </a:ln>
        </p:spPr>
        <p:txBody>
          <a:bodyPr anchorCtr="0" anchor="t" bIns="45700" lIns="91425" spcFirstLastPara="1" rIns="91425" wrap="square" tIns="45700">
            <a:normAutofit/>
          </a:bodyPr>
          <a:lstStyle>
            <a:lvl1pPr indent="-342900" lvl="0" marL="457200" algn="l">
              <a:lnSpc>
                <a:spcPct val="100000"/>
              </a:lnSpc>
              <a:spcBef>
                <a:spcPts val="360"/>
              </a:spcBef>
              <a:spcAft>
                <a:spcPts val="0"/>
              </a:spcAft>
              <a:buClr>
                <a:schemeClr val="dk1"/>
              </a:buClr>
              <a:buSzPts val="1800"/>
              <a:buChar char="•"/>
              <a:defRPr/>
            </a:lvl1pPr>
            <a:lvl2pPr indent="-342900" lvl="1" marL="914400" algn="l">
              <a:lnSpc>
                <a:spcPct val="100000"/>
              </a:lnSpc>
              <a:spcBef>
                <a:spcPts val="360"/>
              </a:spcBef>
              <a:spcAft>
                <a:spcPts val="0"/>
              </a:spcAft>
              <a:buClr>
                <a:schemeClr val="dk1"/>
              </a:buClr>
              <a:buSzPts val="1800"/>
              <a:buChar char="–"/>
              <a:defRPr/>
            </a:lvl2pPr>
            <a:lvl3pPr indent="-342900" lvl="2" marL="1371600" algn="l">
              <a:lnSpc>
                <a:spcPct val="100000"/>
              </a:lnSpc>
              <a:spcBef>
                <a:spcPts val="360"/>
              </a:spcBef>
              <a:spcAft>
                <a:spcPts val="0"/>
              </a:spcAft>
              <a:buClr>
                <a:schemeClr val="dk1"/>
              </a:buClr>
              <a:buSzPts val="1800"/>
              <a:buChar char="•"/>
              <a:defRPr/>
            </a:lvl3pPr>
            <a:lvl4pPr indent="-342900" lvl="3" marL="1828800" algn="l">
              <a:lnSpc>
                <a:spcPct val="100000"/>
              </a:lnSpc>
              <a:spcBef>
                <a:spcPts val="360"/>
              </a:spcBef>
              <a:spcAft>
                <a:spcPts val="0"/>
              </a:spcAft>
              <a:buClr>
                <a:schemeClr val="dk1"/>
              </a:buClr>
              <a:buSzPts val="1800"/>
              <a:buChar char="–"/>
              <a:defRPr/>
            </a:lvl4pPr>
            <a:lvl5pPr indent="-342900" lvl="4" marL="2286000" algn="l">
              <a:lnSpc>
                <a:spcPct val="100000"/>
              </a:lnSpc>
              <a:spcBef>
                <a:spcPts val="360"/>
              </a:spcBef>
              <a:spcAft>
                <a:spcPts val="0"/>
              </a:spcAft>
              <a:buClr>
                <a:schemeClr val="dk1"/>
              </a:buClr>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71" name="Google Shape;71;p1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2" name="Google Shape;72;p1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3" name="Google Shape;73;p1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74" name="Shape 74"/>
        <p:cNvGrpSpPr/>
        <p:nvPr/>
      </p:nvGrpSpPr>
      <p:grpSpPr>
        <a:xfrm>
          <a:off x="0" y="0"/>
          <a:ext cx="0" cy="0"/>
          <a:chOff x="0" y="0"/>
          <a:chExt cx="0" cy="0"/>
        </a:xfrm>
      </p:grpSpPr>
      <p:sp>
        <p:nvSpPr>
          <p:cNvPr id="75" name="Google Shape;75;p12"/>
          <p:cNvSpPr txBox="1"/>
          <p:nvPr>
            <p:ph type="title"/>
          </p:nvPr>
        </p:nvSpPr>
        <p:spPr>
          <a:xfrm rot="5400000">
            <a:off x="4732338" y="2171701"/>
            <a:ext cx="5851525" cy="2057400"/>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6" name="Google Shape;76;p12"/>
          <p:cNvSpPr txBox="1"/>
          <p:nvPr>
            <p:ph idx="1" type="body"/>
          </p:nvPr>
        </p:nvSpPr>
        <p:spPr>
          <a:xfrm rot="5400000">
            <a:off x="541338" y="190500"/>
            <a:ext cx="5851525" cy="6019800"/>
          </a:xfrm>
          <a:prstGeom prst="rect">
            <a:avLst/>
          </a:prstGeom>
          <a:noFill/>
          <a:ln>
            <a:noFill/>
          </a:ln>
        </p:spPr>
        <p:txBody>
          <a:bodyPr anchorCtr="0" anchor="t" bIns="45700" lIns="91425" spcFirstLastPara="1" rIns="91425" wrap="square" tIns="45700">
            <a:normAutofit/>
          </a:bodyPr>
          <a:lstStyle>
            <a:lvl1pPr indent="-342900" lvl="0" marL="457200" algn="l">
              <a:lnSpc>
                <a:spcPct val="100000"/>
              </a:lnSpc>
              <a:spcBef>
                <a:spcPts val="360"/>
              </a:spcBef>
              <a:spcAft>
                <a:spcPts val="0"/>
              </a:spcAft>
              <a:buClr>
                <a:schemeClr val="dk1"/>
              </a:buClr>
              <a:buSzPts val="1800"/>
              <a:buChar char="•"/>
              <a:defRPr/>
            </a:lvl1pPr>
            <a:lvl2pPr indent="-342900" lvl="1" marL="914400" algn="l">
              <a:lnSpc>
                <a:spcPct val="100000"/>
              </a:lnSpc>
              <a:spcBef>
                <a:spcPts val="360"/>
              </a:spcBef>
              <a:spcAft>
                <a:spcPts val="0"/>
              </a:spcAft>
              <a:buClr>
                <a:schemeClr val="dk1"/>
              </a:buClr>
              <a:buSzPts val="1800"/>
              <a:buChar char="–"/>
              <a:defRPr/>
            </a:lvl2pPr>
            <a:lvl3pPr indent="-342900" lvl="2" marL="1371600" algn="l">
              <a:lnSpc>
                <a:spcPct val="100000"/>
              </a:lnSpc>
              <a:spcBef>
                <a:spcPts val="360"/>
              </a:spcBef>
              <a:spcAft>
                <a:spcPts val="0"/>
              </a:spcAft>
              <a:buClr>
                <a:schemeClr val="dk1"/>
              </a:buClr>
              <a:buSzPts val="1800"/>
              <a:buChar char="•"/>
              <a:defRPr/>
            </a:lvl3pPr>
            <a:lvl4pPr indent="-342900" lvl="3" marL="1828800" algn="l">
              <a:lnSpc>
                <a:spcPct val="100000"/>
              </a:lnSpc>
              <a:spcBef>
                <a:spcPts val="360"/>
              </a:spcBef>
              <a:spcAft>
                <a:spcPts val="0"/>
              </a:spcAft>
              <a:buClr>
                <a:schemeClr val="dk1"/>
              </a:buClr>
              <a:buSzPts val="1800"/>
              <a:buChar char="–"/>
              <a:defRPr/>
            </a:lvl4pPr>
            <a:lvl5pPr indent="-342900" lvl="4" marL="2286000" algn="l">
              <a:lnSpc>
                <a:spcPct val="100000"/>
              </a:lnSpc>
              <a:spcBef>
                <a:spcPts val="360"/>
              </a:spcBef>
              <a:spcAft>
                <a:spcPts val="0"/>
              </a:spcAft>
              <a:buClr>
                <a:schemeClr val="dk1"/>
              </a:buClr>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77" name="Google Shape;77;p1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8" name="Google Shape;78;p1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9" name="Google Shape;79;p1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Generated (g3fb74e8e66d_68_0)">
  <p:cSld name="Generated (g3fb74e8e66d_68_0)">
    <p:spTree>
      <p:nvGrpSpPr>
        <p:cNvPr id="80" name="Shape 80"/>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theme" Target="../theme/theme2.xml"/><Relationship Id="rId12" Type="http://schemas.openxmlformats.org/officeDocument/2006/relationships/slideLayout" Target="../slideLayouts/slideLayout12.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marR="0" rtl="0" algn="ctr">
              <a:lnSpc>
                <a:spcPct val="100000"/>
              </a:lnSpc>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7" name="Google Shape;7;p1"/>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431800" lvl="0" marL="457200" marR="0" rtl="0" algn="l">
              <a:lnSpc>
                <a:spcPct val="100000"/>
              </a:lnSpc>
              <a:spcBef>
                <a:spcPts val="640"/>
              </a:spcBef>
              <a:spcAft>
                <a:spcPts val="0"/>
              </a:spcAft>
              <a:buClr>
                <a:schemeClr val="dk1"/>
              </a:buClr>
              <a:buSzPts val="3200"/>
              <a:buFont typeface="Arial"/>
              <a:buChar char="•"/>
              <a:defRPr b="0" i="0" sz="3200" u="none" cap="none" strike="noStrike">
                <a:solidFill>
                  <a:schemeClr val="dk1"/>
                </a:solidFill>
                <a:latin typeface="Calibri"/>
                <a:ea typeface="Calibri"/>
                <a:cs typeface="Calibri"/>
                <a:sym typeface="Calibri"/>
              </a:defRPr>
            </a:lvl1pPr>
            <a:lvl2pPr indent="-406400" lvl="1" marL="914400" marR="0" rtl="0" algn="l">
              <a:lnSpc>
                <a:spcPct val="100000"/>
              </a:lnSpc>
              <a:spcBef>
                <a:spcPts val="56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2pPr>
            <a:lvl3pPr indent="-381000" lvl="2" marL="1371600" marR="0" rtl="0" algn="l">
              <a:lnSpc>
                <a:spcPct val="100000"/>
              </a:lnSpc>
              <a:spcBef>
                <a:spcPts val="48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3pPr>
            <a:lvl4pPr indent="-355600" lvl="3" marL="1828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4pPr>
            <a:lvl5pPr indent="-355600" lvl="4" marL="22860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rgbClr val="888888"/>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9" name="Google Shape;9;p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marR="0" rtl="0" algn="ctr">
              <a:lnSpc>
                <a:spcPct val="100000"/>
              </a:lnSpc>
              <a:spcBef>
                <a:spcPts val="0"/>
              </a:spcBef>
              <a:spcAft>
                <a:spcPts val="0"/>
              </a:spcAft>
              <a:buClr>
                <a:srgbClr val="000000"/>
              </a:buClr>
              <a:buSzPts val="1400"/>
              <a:buFont typeface="Arial"/>
              <a:buNone/>
              <a:defRPr b="0" i="0" sz="1200" u="none" cap="none" strike="noStrike">
                <a:solidFill>
                  <a:srgbClr val="888888"/>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10" name="Google Shape;10;p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0.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xml"/><Relationship Id="rId3" Type="http://schemas.openxmlformats.org/officeDocument/2006/relationships/image" Target="../media/image20.png"/><Relationship Id="rId4" Type="http://schemas.openxmlformats.org/officeDocument/2006/relationships/image" Target="../media/image1.png"/><Relationship Id="rId5" Type="http://schemas.openxmlformats.org/officeDocument/2006/relationships/image" Target="../media/image16.png"/><Relationship Id="rId6" Type="http://schemas.openxmlformats.org/officeDocument/2006/relationships/image" Target="../media/image10.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xml"/><Relationship Id="rId3" Type="http://schemas.openxmlformats.org/officeDocument/2006/relationships/image" Target="../media/image10.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xml"/><Relationship Id="rId3" Type="http://schemas.openxmlformats.org/officeDocument/2006/relationships/image" Target="../media/image1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7.xml"/><Relationship Id="rId3" Type="http://schemas.openxmlformats.org/officeDocument/2006/relationships/image" Target="../media/image20.png"/><Relationship Id="rId4" Type="http://schemas.openxmlformats.org/officeDocument/2006/relationships/image" Target="../media/image1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9.xml"/><Relationship Id="rId3" Type="http://schemas.openxmlformats.org/officeDocument/2006/relationships/image" Target="../media/image20.png"/><Relationship Id="rId4"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0.xml"/><Relationship Id="rId3" Type="http://schemas.openxmlformats.org/officeDocument/2006/relationships/image" Target="../media/image20.png"/><Relationship Id="rId4" Type="http://schemas.openxmlformats.org/officeDocument/2006/relationships/image" Target="../media/image1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1.xml"/><Relationship Id="rId3" Type="http://schemas.openxmlformats.org/officeDocument/2006/relationships/image" Target="../media/image20.png"/><Relationship Id="rId4" Type="http://schemas.openxmlformats.org/officeDocument/2006/relationships/image" Target="../media/image1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2.xml"/><Relationship Id="rId3" Type="http://schemas.openxmlformats.org/officeDocument/2006/relationships/image" Target="../media/image20.png"/><Relationship Id="rId4"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3.xml"/><Relationship Id="rId3" Type="http://schemas.openxmlformats.org/officeDocument/2006/relationships/image" Target="../media/image20.png"/><Relationship Id="rId4" Type="http://schemas.openxmlformats.org/officeDocument/2006/relationships/image" Target="../media/image1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4.xml"/><Relationship Id="rId3" Type="http://schemas.openxmlformats.org/officeDocument/2006/relationships/image" Target="../media/image20.png"/><Relationship Id="rId4" Type="http://schemas.openxmlformats.org/officeDocument/2006/relationships/image" Target="../media/image10.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2.png"/><Relationship Id="rId4" Type="http://schemas.openxmlformats.org/officeDocument/2006/relationships/image" Target="../media/image1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10.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2540"/>
        </a:solidFill>
      </p:bgPr>
    </p:bg>
    <p:spTree>
      <p:nvGrpSpPr>
        <p:cNvPr id="84" name="Shape 84"/>
        <p:cNvGrpSpPr/>
        <p:nvPr/>
      </p:nvGrpSpPr>
      <p:grpSpPr>
        <a:xfrm>
          <a:off x="0" y="0"/>
          <a:ext cx="0" cy="0"/>
          <a:chOff x="0" y="0"/>
          <a:chExt cx="0" cy="0"/>
        </a:xfrm>
      </p:grpSpPr>
      <p:sp>
        <p:nvSpPr>
          <p:cNvPr id="85" name="Google Shape;85;p14"/>
          <p:cNvSpPr/>
          <p:nvPr/>
        </p:nvSpPr>
        <p:spPr>
          <a:xfrm>
            <a:off x="0" y="0"/>
            <a:ext cx="164700" cy="6858000"/>
          </a:xfrm>
          <a:prstGeom prst="rect">
            <a:avLst/>
          </a:prstGeom>
          <a:solidFill>
            <a:srgbClr val="0EA5E9"/>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86" name="Google Shape;86;p14"/>
          <p:cNvSpPr txBox="1"/>
          <p:nvPr/>
        </p:nvSpPr>
        <p:spPr>
          <a:xfrm>
            <a:off x="609443" y="2000250"/>
            <a:ext cx="8096400" cy="277200"/>
          </a:xfrm>
          <a:prstGeom prst="rect">
            <a:avLst/>
          </a:prstGeom>
          <a:solidFill>
            <a:srgbClr val="000000">
              <a:alpha val="0"/>
            </a:srgbClr>
          </a:solidFill>
          <a:ln>
            <a:noFill/>
          </a:ln>
        </p:spPr>
        <p:txBody>
          <a:bodyPr anchorCtr="0" anchor="ctr" bIns="0" lIns="0" spcFirstLastPara="1" rIns="0" wrap="square" tIns="0">
            <a:spAutoFit/>
          </a:bodyPr>
          <a:lstStyle/>
          <a:p>
            <a:pPr indent="0" lvl="0" marL="0" rtl="0" algn="l">
              <a:spcBef>
                <a:spcPts val="0"/>
              </a:spcBef>
              <a:spcAft>
                <a:spcPts val="0"/>
              </a:spcAft>
              <a:buNone/>
            </a:pPr>
            <a:r>
              <a:rPr b="1" i="0" lang="en-US" sz="1800">
                <a:solidFill>
                  <a:srgbClr val="0EA5E9"/>
                </a:solidFill>
                <a:latin typeface="Calibri"/>
                <a:ea typeface="Calibri"/>
                <a:cs typeface="Calibri"/>
                <a:sym typeface="Calibri"/>
              </a:rPr>
              <a:t>OPENSEARCHCON NORTH AMERICA 2026</a:t>
            </a:r>
            <a:endParaRPr b="1" i="0" sz="1800">
              <a:solidFill>
                <a:srgbClr val="0EA5E9"/>
              </a:solidFill>
              <a:latin typeface="Calibri"/>
              <a:ea typeface="Calibri"/>
              <a:cs typeface="Calibri"/>
              <a:sym typeface="Calibri"/>
            </a:endParaRPr>
          </a:p>
        </p:txBody>
      </p:sp>
      <p:sp>
        <p:nvSpPr>
          <p:cNvPr id="87" name="Google Shape;87;p14"/>
          <p:cNvSpPr txBox="1"/>
          <p:nvPr/>
        </p:nvSpPr>
        <p:spPr>
          <a:xfrm>
            <a:off x="609443" y="2381250"/>
            <a:ext cx="10972800" cy="825900"/>
          </a:xfrm>
          <a:prstGeom prst="rect">
            <a:avLst/>
          </a:prstGeom>
          <a:solidFill>
            <a:srgbClr val="000000">
              <a:alpha val="0"/>
            </a:srgbClr>
          </a:solidFill>
          <a:ln>
            <a:noFill/>
          </a:ln>
        </p:spPr>
        <p:txBody>
          <a:bodyPr anchorCtr="0" anchor="ctr" bIns="0" lIns="0" spcFirstLastPara="1" rIns="0" wrap="square" tIns="0">
            <a:spAutoFit/>
          </a:bodyPr>
          <a:lstStyle/>
          <a:p>
            <a:pPr indent="0" lvl="0" marL="0" rtl="0" algn="l">
              <a:spcBef>
                <a:spcPts val="0"/>
              </a:spcBef>
              <a:spcAft>
                <a:spcPts val="0"/>
              </a:spcAft>
              <a:buNone/>
            </a:pPr>
            <a:r>
              <a:rPr b="1" i="0" lang="en-US" sz="5365">
                <a:solidFill>
                  <a:srgbClr val="FFFFFF"/>
                </a:solidFill>
                <a:latin typeface="Calibri"/>
                <a:ea typeface="Calibri"/>
                <a:cs typeface="Calibri"/>
                <a:sym typeface="Calibri"/>
              </a:rPr>
              <a:t>Agentic Search</a:t>
            </a:r>
            <a:endParaRPr b="1" i="0" sz="5365">
              <a:solidFill>
                <a:srgbClr val="FFFFFF"/>
              </a:solidFill>
              <a:latin typeface="Calibri"/>
              <a:ea typeface="Calibri"/>
              <a:cs typeface="Calibri"/>
              <a:sym typeface="Calibri"/>
            </a:endParaRPr>
          </a:p>
        </p:txBody>
      </p:sp>
      <p:sp>
        <p:nvSpPr>
          <p:cNvPr id="88" name="Google Shape;88;p14"/>
          <p:cNvSpPr txBox="1"/>
          <p:nvPr/>
        </p:nvSpPr>
        <p:spPr>
          <a:xfrm>
            <a:off x="609443" y="3381375"/>
            <a:ext cx="10972800" cy="585000"/>
          </a:xfrm>
          <a:prstGeom prst="rect">
            <a:avLst/>
          </a:prstGeom>
          <a:solidFill>
            <a:srgbClr val="000000">
              <a:alpha val="0"/>
            </a:srgbClr>
          </a:solidFill>
          <a:ln>
            <a:noFill/>
          </a:ln>
        </p:spPr>
        <p:txBody>
          <a:bodyPr anchorCtr="0" anchor="ctr" bIns="0" lIns="0" spcFirstLastPara="1" rIns="0" wrap="square" tIns="0">
            <a:spAutoFit/>
          </a:bodyPr>
          <a:lstStyle/>
          <a:p>
            <a:pPr indent="0" lvl="0" marL="0" rtl="0" algn="l">
              <a:spcBef>
                <a:spcPts val="0"/>
              </a:spcBef>
              <a:spcAft>
                <a:spcPts val="0"/>
              </a:spcAft>
              <a:buNone/>
            </a:pPr>
            <a:r>
              <a:rPr b="1" i="0" lang="en-US" sz="3800">
                <a:solidFill>
                  <a:srgbClr val="FFFFFF"/>
                </a:solidFill>
                <a:latin typeface="Calibri"/>
                <a:ea typeface="Calibri"/>
                <a:cs typeface="Calibri"/>
                <a:sym typeface="Calibri"/>
              </a:rPr>
              <a:t>Reimagining search from ingestion to relevancy</a:t>
            </a:r>
            <a:endParaRPr b="1" i="0" sz="3800">
              <a:solidFill>
                <a:srgbClr val="FFFFFF"/>
              </a:solidFill>
              <a:latin typeface="Calibri"/>
              <a:ea typeface="Calibri"/>
              <a:cs typeface="Calibri"/>
              <a:sym typeface="Calibri"/>
            </a:endParaRPr>
          </a:p>
        </p:txBody>
      </p:sp>
      <p:sp>
        <p:nvSpPr>
          <p:cNvPr id="89" name="Google Shape;89;p14"/>
          <p:cNvSpPr txBox="1"/>
          <p:nvPr/>
        </p:nvSpPr>
        <p:spPr>
          <a:xfrm>
            <a:off x="609443" y="4191000"/>
            <a:ext cx="10972800" cy="307800"/>
          </a:xfrm>
          <a:prstGeom prst="rect">
            <a:avLst/>
          </a:prstGeom>
          <a:solidFill>
            <a:srgbClr val="000000">
              <a:alpha val="0"/>
            </a:srgbClr>
          </a:solidFill>
          <a:ln>
            <a:noFill/>
          </a:ln>
        </p:spPr>
        <p:txBody>
          <a:bodyPr anchorCtr="0" anchor="ctr" bIns="0" lIns="0" spcFirstLastPara="1" rIns="0" wrap="square" tIns="0">
            <a:spAutoFit/>
          </a:bodyPr>
          <a:lstStyle/>
          <a:p>
            <a:pPr indent="0" lvl="0" marL="0" rtl="0" algn="l">
              <a:spcBef>
                <a:spcPts val="0"/>
              </a:spcBef>
              <a:spcAft>
                <a:spcPts val="0"/>
              </a:spcAft>
              <a:buNone/>
            </a:pPr>
            <a:r>
              <a:rPr b="0" i="0" lang="en-US" sz="2000">
                <a:solidFill>
                  <a:srgbClr val="7DD3FC"/>
                </a:solidFill>
                <a:latin typeface="Calibri"/>
                <a:ea typeface="Calibri"/>
                <a:cs typeface="Calibri"/>
                <a:sym typeface="Calibri"/>
              </a:rPr>
              <a:t>One live LangGraph agent — adaptive retrieval, real ESCI-judged proof, and a catalog it enriches live.</a:t>
            </a:r>
            <a:endParaRPr b="0" i="0" sz="2000">
              <a:solidFill>
                <a:srgbClr val="7DD3FC"/>
              </a:solidFill>
              <a:latin typeface="Calibri"/>
              <a:ea typeface="Calibri"/>
              <a:cs typeface="Calibri"/>
              <a:sym typeface="Calibri"/>
            </a:endParaRPr>
          </a:p>
        </p:txBody>
      </p:sp>
      <p:sp>
        <p:nvSpPr>
          <p:cNvPr id="90" name="Google Shape;90;p14"/>
          <p:cNvSpPr txBox="1"/>
          <p:nvPr/>
        </p:nvSpPr>
        <p:spPr>
          <a:xfrm>
            <a:off x="609443" y="5000625"/>
            <a:ext cx="10972800" cy="369300"/>
          </a:xfrm>
          <a:prstGeom prst="rect">
            <a:avLst/>
          </a:prstGeom>
          <a:solidFill>
            <a:srgbClr val="000000">
              <a:alpha val="0"/>
            </a:srgbClr>
          </a:solidFill>
          <a:ln>
            <a:noFill/>
          </a:ln>
        </p:spPr>
        <p:txBody>
          <a:bodyPr anchorCtr="0" anchor="ctr" bIns="0" lIns="0" spcFirstLastPara="1" rIns="0" wrap="square" tIns="0">
            <a:spAutoFit/>
          </a:bodyPr>
          <a:lstStyle/>
          <a:p>
            <a:pPr indent="0" lvl="0" marL="0" rtl="0" algn="l">
              <a:spcBef>
                <a:spcPts val="0"/>
              </a:spcBef>
              <a:spcAft>
                <a:spcPts val="0"/>
              </a:spcAft>
              <a:buNone/>
            </a:pPr>
            <a:r>
              <a:rPr b="1" i="0" lang="en-US" sz="2400">
                <a:solidFill>
                  <a:srgbClr val="FFFFFF"/>
                </a:solidFill>
                <a:latin typeface="Calibri"/>
                <a:ea typeface="Calibri"/>
                <a:cs typeface="Calibri"/>
                <a:sym typeface="Calibri"/>
              </a:rPr>
              <a:t>Kevin M. Butler</a:t>
            </a:r>
            <a:endParaRPr b="1" i="0" sz="2400">
              <a:solidFill>
                <a:srgbClr val="FFFFFF"/>
              </a:solidFill>
              <a:latin typeface="Calibri"/>
              <a:ea typeface="Calibri"/>
              <a:cs typeface="Calibri"/>
              <a:sym typeface="Calibri"/>
            </a:endParaRPr>
          </a:p>
        </p:txBody>
      </p:sp>
      <p:sp>
        <p:nvSpPr>
          <p:cNvPr id="91" name="Google Shape;91;p14"/>
          <p:cNvSpPr txBox="1"/>
          <p:nvPr/>
        </p:nvSpPr>
        <p:spPr>
          <a:xfrm>
            <a:off x="609443" y="5448300"/>
            <a:ext cx="8096400" cy="277200"/>
          </a:xfrm>
          <a:prstGeom prst="rect">
            <a:avLst/>
          </a:prstGeom>
          <a:solidFill>
            <a:srgbClr val="000000">
              <a:alpha val="0"/>
            </a:srgbClr>
          </a:solidFill>
          <a:ln>
            <a:noFill/>
          </a:ln>
        </p:spPr>
        <p:txBody>
          <a:bodyPr anchorCtr="0" anchor="ctr" bIns="0" lIns="0" spcFirstLastPara="1" rIns="0" wrap="square" tIns="0">
            <a:spAutoFit/>
          </a:bodyPr>
          <a:lstStyle/>
          <a:p>
            <a:pPr indent="0" lvl="0" marL="0" rtl="0" algn="l">
              <a:spcBef>
                <a:spcPts val="0"/>
              </a:spcBef>
              <a:spcAft>
                <a:spcPts val="0"/>
              </a:spcAft>
              <a:buNone/>
            </a:pPr>
            <a:r>
              <a:rPr b="0" i="0" lang="en-US" sz="1800">
                <a:solidFill>
                  <a:srgbClr val="B8C5D1"/>
                </a:solidFill>
                <a:latin typeface="Calibri"/>
                <a:ea typeface="Calibri"/>
                <a:cs typeface="Calibri"/>
                <a:sym typeface="Calibri"/>
              </a:rPr>
              <a:t>Senior Search and AI Engineer</a:t>
            </a:r>
            <a:endParaRPr b="0" i="0" sz="1800">
              <a:solidFill>
                <a:srgbClr val="B8C5D1"/>
              </a:solidFill>
              <a:latin typeface="Calibri"/>
              <a:ea typeface="Calibri"/>
              <a:cs typeface="Calibri"/>
              <a:sym typeface="Calibri"/>
            </a:endParaRPr>
          </a:p>
        </p:txBody>
      </p:sp>
      <p:pic>
        <p:nvPicPr>
          <p:cNvPr id="92" name="Google Shape;92;p14" title="KMWLogo_white.png"/>
          <p:cNvPicPr preferRelativeResize="0"/>
          <p:nvPr/>
        </p:nvPicPr>
        <p:blipFill>
          <a:blip r:embed="rId3">
            <a:alphaModFix/>
          </a:blip>
          <a:stretch>
            <a:fillRect/>
          </a:stretch>
        </p:blipFill>
        <p:spPr>
          <a:xfrm>
            <a:off x="640075" y="402350"/>
            <a:ext cx="3593551" cy="1101525"/>
          </a:xfrm>
          <a:prstGeom prst="rect">
            <a:avLst/>
          </a:prstGeom>
          <a:noFill/>
          <a:ln>
            <a:noFill/>
          </a:ln>
        </p:spPr>
      </p:pic>
      <p:sp>
        <p:nvSpPr>
          <p:cNvPr id="93" name="Google Shape;93;p14"/>
          <p:cNvSpPr txBox="1"/>
          <p:nvPr/>
        </p:nvSpPr>
        <p:spPr>
          <a:xfrm>
            <a:off x="1921297" y="6477000"/>
            <a:ext cx="10058400" cy="1692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r">
              <a:spcBef>
                <a:spcPts val="0"/>
              </a:spcBef>
              <a:spcAft>
                <a:spcPts val="0"/>
              </a:spcAft>
              <a:buNone/>
            </a:pPr>
            <a:r>
              <a:rPr b="0" i="0" lang="en-US" sz="1100">
                <a:solidFill>
                  <a:srgbClr val="94A3B8"/>
                </a:solidFill>
                <a:latin typeface="Calibri"/>
                <a:ea typeface="Calibri"/>
                <a:cs typeface="Calibri"/>
                <a:sym typeface="Calibri"/>
              </a:rPr>
              <a:t>OpenSearchCon North America · 2026 · Agentic Search: Reimagining Search from Ingestion to Relevancy</a:t>
            </a:r>
            <a:endParaRPr b="0" i="0" sz="1100">
              <a:solidFill>
                <a:srgbClr val="94A3B8"/>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7" name="Shape 97"/>
        <p:cNvGrpSpPr/>
        <p:nvPr/>
      </p:nvGrpSpPr>
      <p:grpSpPr>
        <a:xfrm>
          <a:off x="0" y="0"/>
          <a:ext cx="0" cy="0"/>
          <a:chOff x="0" y="0"/>
          <a:chExt cx="0" cy="0"/>
        </a:xfrm>
      </p:grpSpPr>
      <p:sp>
        <p:nvSpPr>
          <p:cNvPr id="98" name="Google Shape;98;p15"/>
          <p:cNvSpPr txBox="1"/>
          <p:nvPr/>
        </p:nvSpPr>
        <p:spPr>
          <a:xfrm>
            <a:off x="365760" y="228600"/>
            <a:ext cx="1371600" cy="1692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l">
              <a:spcBef>
                <a:spcPts val="0"/>
              </a:spcBef>
              <a:spcAft>
                <a:spcPts val="0"/>
              </a:spcAft>
              <a:buNone/>
            </a:pPr>
            <a:r>
              <a:rPr b="0" i="0" lang="en-US" sz="1100" u="none" strike="noStrike">
                <a:solidFill>
                  <a:srgbClr val="94A3B8"/>
                </a:solidFill>
                <a:latin typeface="Calibri"/>
                <a:ea typeface="Calibri"/>
                <a:cs typeface="Calibri"/>
                <a:sym typeface="Calibri"/>
              </a:rPr>
              <a:t>2 / 11</a:t>
            </a:r>
            <a:endParaRPr b="0" i="0" sz="1100" u="none" strike="noStrike">
              <a:solidFill>
                <a:srgbClr val="94A3B8"/>
              </a:solidFill>
              <a:latin typeface="Calibri"/>
              <a:ea typeface="Calibri"/>
              <a:cs typeface="Calibri"/>
              <a:sym typeface="Calibri"/>
            </a:endParaRPr>
          </a:p>
        </p:txBody>
      </p:sp>
      <p:sp>
        <p:nvSpPr>
          <p:cNvPr id="99" name="Google Shape;99;p15"/>
          <p:cNvSpPr txBox="1"/>
          <p:nvPr/>
        </p:nvSpPr>
        <p:spPr>
          <a:xfrm>
            <a:off x="457200" y="552450"/>
            <a:ext cx="11247000" cy="1992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l">
              <a:spcBef>
                <a:spcPts val="0"/>
              </a:spcBef>
              <a:spcAft>
                <a:spcPts val="0"/>
              </a:spcAft>
              <a:buNone/>
            </a:pPr>
            <a:r>
              <a:rPr b="1" i="0" lang="en-US" sz="1295" u="none" strike="noStrike">
                <a:solidFill>
                  <a:srgbClr val="0369A1"/>
                </a:solidFill>
                <a:latin typeface="Calibri"/>
                <a:ea typeface="Calibri"/>
                <a:cs typeface="Calibri"/>
                <a:sym typeface="Calibri"/>
              </a:rPr>
              <a:t>THE PROBLEM</a:t>
            </a:r>
            <a:endParaRPr b="1" i="0" sz="1295" u="none" strike="noStrike">
              <a:solidFill>
                <a:srgbClr val="0369A1"/>
              </a:solidFill>
              <a:latin typeface="Calibri"/>
              <a:ea typeface="Calibri"/>
              <a:cs typeface="Calibri"/>
              <a:sym typeface="Calibri"/>
            </a:endParaRPr>
          </a:p>
        </p:txBody>
      </p:sp>
      <p:sp>
        <p:nvSpPr>
          <p:cNvPr id="100" name="Google Shape;100;p15"/>
          <p:cNvSpPr txBox="1"/>
          <p:nvPr/>
        </p:nvSpPr>
        <p:spPr>
          <a:xfrm>
            <a:off x="457200" y="857250"/>
            <a:ext cx="11247000" cy="5541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l">
              <a:spcBef>
                <a:spcPts val="0"/>
              </a:spcBef>
              <a:spcAft>
                <a:spcPts val="0"/>
              </a:spcAft>
              <a:buNone/>
            </a:pPr>
            <a:r>
              <a:rPr b="1" i="0" lang="en-US" sz="3600" u="none" strike="noStrike">
                <a:solidFill>
                  <a:srgbClr val="0A2540"/>
                </a:solidFill>
                <a:latin typeface="Calibri"/>
                <a:ea typeface="Calibri"/>
                <a:cs typeface="Calibri"/>
                <a:sym typeface="Calibri"/>
              </a:rPr>
              <a:t>Fast, plausible, and wrong</a:t>
            </a:r>
            <a:endParaRPr b="1" i="0" sz="3600" u="none" strike="noStrike">
              <a:solidFill>
                <a:srgbClr val="0A2540"/>
              </a:solidFill>
              <a:latin typeface="Calibri"/>
              <a:ea typeface="Calibri"/>
              <a:cs typeface="Calibri"/>
              <a:sym typeface="Calibri"/>
            </a:endParaRPr>
          </a:p>
        </p:txBody>
      </p:sp>
      <p:sp>
        <p:nvSpPr>
          <p:cNvPr id="101" name="Google Shape;101;p15"/>
          <p:cNvSpPr txBox="1"/>
          <p:nvPr/>
        </p:nvSpPr>
        <p:spPr>
          <a:xfrm>
            <a:off x="457200" y="1485900"/>
            <a:ext cx="11247000" cy="4926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l">
              <a:spcBef>
                <a:spcPts val="0"/>
              </a:spcBef>
              <a:spcAft>
                <a:spcPts val="0"/>
              </a:spcAft>
              <a:buNone/>
            </a:pPr>
            <a:r>
              <a:rPr b="1" i="0" lang="en-US" sz="3200" u="none" strike="noStrike">
                <a:solidFill>
                  <a:srgbClr val="0A2540"/>
                </a:solidFill>
                <a:latin typeface="Calibri"/>
                <a:ea typeface="Calibri"/>
                <a:cs typeface="Calibri"/>
                <a:sym typeface="Calibri"/>
              </a:rPr>
              <a:t>The results look fine. The answer is wrong.</a:t>
            </a:r>
            <a:endParaRPr b="1" i="0" sz="3200" u="none" strike="noStrike">
              <a:solidFill>
                <a:srgbClr val="0A2540"/>
              </a:solidFill>
              <a:latin typeface="Calibri"/>
              <a:ea typeface="Calibri"/>
              <a:cs typeface="Calibri"/>
              <a:sym typeface="Calibri"/>
            </a:endParaRPr>
          </a:p>
        </p:txBody>
      </p:sp>
      <p:sp>
        <p:nvSpPr>
          <p:cNvPr id="102" name="Google Shape;102;p15"/>
          <p:cNvSpPr txBox="1"/>
          <p:nvPr/>
        </p:nvSpPr>
        <p:spPr>
          <a:xfrm>
            <a:off x="457200" y="2076450"/>
            <a:ext cx="11247000" cy="2772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l">
              <a:spcBef>
                <a:spcPts val="0"/>
              </a:spcBef>
              <a:spcAft>
                <a:spcPts val="0"/>
              </a:spcAft>
              <a:buNone/>
            </a:pPr>
            <a:r>
              <a:rPr b="0" i="0" lang="en-US" sz="1800" u="none" strike="noStrike">
                <a:solidFill>
                  <a:srgbClr val="475569"/>
                </a:solidFill>
                <a:latin typeface="Calibri"/>
                <a:ea typeface="Calibri"/>
                <a:cs typeface="Calibri"/>
                <a:sym typeface="Calibri"/>
              </a:rPr>
              <a:t>Weak retrieval is invisible · the generator writes fluently over it · confidence is not evidence</a:t>
            </a:r>
            <a:endParaRPr b="0" i="0" sz="1800" u="none" strike="noStrike">
              <a:solidFill>
                <a:srgbClr val="475569"/>
              </a:solidFill>
              <a:latin typeface="Calibri"/>
              <a:ea typeface="Calibri"/>
              <a:cs typeface="Calibri"/>
              <a:sym typeface="Calibri"/>
            </a:endParaRPr>
          </a:p>
        </p:txBody>
      </p:sp>
      <p:grpSp>
        <p:nvGrpSpPr>
          <p:cNvPr id="103" name="Google Shape;103;p15"/>
          <p:cNvGrpSpPr/>
          <p:nvPr/>
        </p:nvGrpSpPr>
        <p:grpSpPr>
          <a:xfrm>
            <a:off x="457200" y="2619375"/>
            <a:ext cx="5429400" cy="3619500"/>
            <a:chOff x="0" y="0"/>
            <a:chExt cx="5429400" cy="3619500"/>
          </a:xfrm>
        </p:grpSpPr>
        <p:sp>
          <p:nvSpPr>
            <p:cNvPr id="104" name="Google Shape;104;p15"/>
            <p:cNvSpPr/>
            <p:nvPr/>
          </p:nvSpPr>
          <p:spPr>
            <a:xfrm>
              <a:off x="0" y="0"/>
              <a:ext cx="5429400" cy="3619500"/>
            </a:xfrm>
            <a:prstGeom prst="roundRect">
              <a:avLst>
                <a:gd fmla="val 2105" name="adj"/>
              </a:avLst>
            </a:prstGeom>
            <a:solidFill>
              <a:srgbClr val="0A2540"/>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05" name="Google Shape;105;p15"/>
            <p:cNvSpPr txBox="1"/>
            <p:nvPr/>
          </p:nvSpPr>
          <p:spPr>
            <a:xfrm>
              <a:off x="266700" y="228600"/>
              <a:ext cx="4896000" cy="30861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i="0" lang="en-US" sz="1300" u="none" strike="noStrike">
                  <a:solidFill>
                    <a:srgbClr val="0EA5E9"/>
                  </a:solidFill>
                  <a:latin typeface="Calibri"/>
                  <a:ea typeface="Calibri"/>
                  <a:cs typeface="Calibri"/>
                  <a:sym typeface="Calibri"/>
                </a:rPr>
                <a:t>THE QUESTION THIS TALK ANSWERS</a:t>
              </a:r>
              <a:endParaRPr b="1" i="0" sz="1300" u="none" strike="noStrike">
                <a:solidFill>
                  <a:srgbClr val="0EA5E9"/>
                </a:solidFill>
                <a:latin typeface="Calibri"/>
                <a:ea typeface="Calibri"/>
                <a:cs typeface="Calibri"/>
                <a:sym typeface="Calibri"/>
              </a:endParaRPr>
            </a:p>
            <a:p>
              <a:pPr indent="0" lvl="0" marL="0" rtl="0" algn="l">
                <a:spcBef>
                  <a:spcPts val="1200"/>
                </a:spcBef>
                <a:spcAft>
                  <a:spcPts val="900"/>
                </a:spcAft>
                <a:buNone/>
              </a:pPr>
              <a:r>
                <a:rPr b="1" i="0" lang="en-US" sz="2500" u="none" strike="noStrike">
                  <a:solidFill>
                    <a:srgbClr val="FFFFFF"/>
                  </a:solidFill>
                  <a:latin typeface="Calibri"/>
                  <a:ea typeface="Calibri"/>
                  <a:cs typeface="Calibri"/>
                  <a:sym typeface="Calibri"/>
                </a:rPr>
                <a:t>How can a search system recognize weak retrieval, change course, and fix data problems on the fly?</a:t>
              </a:r>
              <a:endParaRPr b="1" i="0" sz="1300" u="none" strike="noStrike">
                <a:solidFill>
                  <a:srgbClr val="0EA5E9"/>
                </a:solidFill>
                <a:latin typeface="Calibri"/>
                <a:ea typeface="Calibri"/>
                <a:cs typeface="Calibri"/>
                <a:sym typeface="Calibri"/>
              </a:endParaRPr>
            </a:p>
          </p:txBody>
        </p:sp>
      </p:grpSp>
      <p:grpSp>
        <p:nvGrpSpPr>
          <p:cNvPr id="106" name="Google Shape;106;p15"/>
          <p:cNvGrpSpPr/>
          <p:nvPr/>
        </p:nvGrpSpPr>
        <p:grpSpPr>
          <a:xfrm>
            <a:off x="6076950" y="2619375"/>
            <a:ext cx="5658000" cy="3619500"/>
            <a:chOff x="0" y="0"/>
            <a:chExt cx="5658000" cy="3619500"/>
          </a:xfrm>
        </p:grpSpPr>
        <p:sp>
          <p:nvSpPr>
            <p:cNvPr id="107" name="Google Shape;107;p15"/>
            <p:cNvSpPr/>
            <p:nvPr/>
          </p:nvSpPr>
          <p:spPr>
            <a:xfrm>
              <a:off x="0" y="0"/>
              <a:ext cx="5658000" cy="3619500"/>
            </a:xfrm>
            <a:prstGeom prst="roundRect">
              <a:avLst>
                <a:gd fmla="val 2105" name="adj"/>
              </a:avLst>
            </a:prstGeom>
            <a:solidFill>
              <a:srgbClr val="F8FAFC"/>
            </a:solidFill>
            <a:ln cap="flat" cmpd="sng" w="95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08" name="Google Shape;108;p15"/>
            <p:cNvSpPr txBox="1"/>
            <p:nvPr/>
          </p:nvSpPr>
          <p:spPr>
            <a:xfrm>
              <a:off x="266700" y="190500"/>
              <a:ext cx="5124600" cy="11430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i="0" lang="en-US" sz="1300" u="none" strike="noStrike">
                  <a:solidFill>
                    <a:srgbClr val="0369A1"/>
                  </a:solidFill>
                  <a:latin typeface="Calibri"/>
                  <a:ea typeface="Calibri"/>
                  <a:cs typeface="Calibri"/>
                  <a:sym typeface="Calibri"/>
                </a:rPr>
                <a:t>OUR BENCHMARK DATASET</a:t>
              </a:r>
              <a:endParaRPr b="1" i="0" sz="1300" u="none" strike="noStrike">
                <a:solidFill>
                  <a:srgbClr val="0369A1"/>
                </a:solidFill>
                <a:latin typeface="Calibri"/>
                <a:ea typeface="Calibri"/>
                <a:cs typeface="Calibri"/>
                <a:sym typeface="Calibri"/>
              </a:endParaRPr>
            </a:p>
            <a:p>
              <a:pPr indent="0" lvl="0" marL="0" rtl="0" algn="l">
                <a:spcBef>
                  <a:spcPts val="300"/>
                </a:spcBef>
                <a:spcAft>
                  <a:spcPts val="0"/>
                </a:spcAft>
                <a:buNone/>
              </a:pPr>
              <a:r>
                <a:rPr b="1" i="0" lang="en-US" sz="2300" u="none" strike="noStrike">
                  <a:solidFill>
                    <a:srgbClr val="0A2540"/>
                  </a:solidFill>
                  <a:latin typeface="Calibri"/>
                  <a:ea typeface="Calibri"/>
                  <a:cs typeface="Calibri"/>
                  <a:sym typeface="Calibri"/>
                </a:rPr>
                <a:t>Amazon's ESCI Dataset</a:t>
              </a:r>
              <a:endParaRPr b="1" i="0" sz="1300" u="none" strike="noStrike">
                <a:solidFill>
                  <a:srgbClr val="0369A1"/>
                </a:solidFill>
                <a:latin typeface="Calibri"/>
                <a:ea typeface="Calibri"/>
                <a:cs typeface="Calibri"/>
                <a:sym typeface="Calibri"/>
              </a:endParaRPr>
            </a:p>
            <a:p>
              <a:pPr indent="0" lvl="0" marL="0" rtl="0" algn="l">
                <a:spcBef>
                  <a:spcPts val="600"/>
                </a:spcBef>
                <a:spcAft>
                  <a:spcPts val="300"/>
                </a:spcAft>
                <a:buNone/>
              </a:pPr>
              <a:r>
                <a:rPr b="0" i="0" lang="en-US" sz="1350" u="none" strike="noStrike">
                  <a:solidFill>
                    <a:srgbClr val="475569"/>
                  </a:solidFill>
                  <a:latin typeface="Calibri"/>
                  <a:ea typeface="Calibri"/>
                  <a:cs typeface="Calibri"/>
                  <a:sym typeface="Calibri"/>
                </a:rPr>
                <a:t>~1.8M real Amazon search queries with human relevance judgments — benchmarking real shopper intent rather than synthetic queries.</a:t>
              </a:r>
              <a:endParaRPr b="1" i="0" sz="1300" u="none" strike="noStrike">
                <a:solidFill>
                  <a:srgbClr val="0369A1"/>
                </a:solidFill>
                <a:latin typeface="Calibri"/>
                <a:ea typeface="Calibri"/>
                <a:cs typeface="Calibri"/>
                <a:sym typeface="Calibri"/>
              </a:endParaRPr>
            </a:p>
          </p:txBody>
        </p:sp>
        <p:grpSp>
          <p:nvGrpSpPr>
            <p:cNvPr id="109" name="Google Shape;109;p15"/>
            <p:cNvGrpSpPr/>
            <p:nvPr/>
          </p:nvGrpSpPr>
          <p:grpSpPr>
            <a:xfrm>
              <a:off x="266700" y="1428750"/>
              <a:ext cx="2428800" cy="876300"/>
              <a:chOff x="0" y="0"/>
              <a:chExt cx="2428800" cy="876300"/>
            </a:xfrm>
          </p:grpSpPr>
          <p:sp>
            <p:nvSpPr>
              <p:cNvPr id="110" name="Google Shape;110;p15"/>
              <p:cNvSpPr/>
              <p:nvPr/>
            </p:nvSpPr>
            <p:spPr>
              <a:xfrm>
                <a:off x="0" y="0"/>
                <a:ext cx="2428800" cy="876300"/>
              </a:xfrm>
              <a:prstGeom prst="roundRect">
                <a:avLst>
                  <a:gd fmla="val 6521" name="adj"/>
                </a:avLst>
              </a:prstGeom>
              <a:solidFill>
                <a:srgbClr val="FFFFFF"/>
              </a:solidFill>
              <a:ln cap="flat" cmpd="sng" w="95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11" name="Google Shape;111;p15"/>
              <p:cNvSpPr txBox="1"/>
              <p:nvPr/>
            </p:nvSpPr>
            <p:spPr>
              <a:xfrm>
                <a:off x="152400" y="95250"/>
                <a:ext cx="2124000" cy="6477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l">
                  <a:spcBef>
                    <a:spcPts val="0"/>
                  </a:spcBef>
                  <a:spcAft>
                    <a:spcPts val="0"/>
                  </a:spcAft>
                  <a:buNone/>
                </a:pPr>
                <a:r>
                  <a:rPr b="1" i="0" lang="en-US" sz="1500" u="none" strike="noStrike">
                    <a:solidFill>
                      <a:srgbClr val="0EA5E9"/>
                    </a:solidFill>
                    <a:latin typeface="Calibri"/>
                    <a:ea typeface="Calibri"/>
                    <a:cs typeface="Calibri"/>
                    <a:sym typeface="Calibri"/>
                  </a:rPr>
                  <a:t>E </a:t>
                </a:r>
                <a:r>
                  <a:rPr b="1" i="0" lang="en-US" sz="1350" u="none" strike="noStrike">
                    <a:solidFill>
                      <a:srgbClr val="0A2540"/>
                    </a:solidFill>
                    <a:latin typeface="Calibri"/>
                    <a:ea typeface="Calibri"/>
                    <a:cs typeface="Calibri"/>
                    <a:sym typeface="Calibri"/>
                  </a:rPr>
                  <a:t>· Explicit</a:t>
                </a:r>
                <a:endParaRPr b="1" i="0" sz="1500" u="none" strike="noStrike">
                  <a:solidFill>
                    <a:srgbClr val="0EA5E9"/>
                  </a:solidFill>
                  <a:latin typeface="Calibri"/>
                  <a:ea typeface="Calibri"/>
                  <a:cs typeface="Calibri"/>
                  <a:sym typeface="Calibri"/>
                </a:endParaRPr>
              </a:p>
              <a:p>
                <a:pPr indent="0" lvl="0" marL="0" rtl="0" algn="l">
                  <a:spcBef>
                    <a:spcPts val="150"/>
                  </a:spcBef>
                  <a:spcAft>
                    <a:spcPts val="0"/>
                  </a:spcAft>
                  <a:buNone/>
                </a:pPr>
                <a:r>
                  <a:rPr b="0" i="0" lang="en-US" sz="1150" u="none" strike="noStrike">
                    <a:solidFill>
                      <a:srgbClr val="64748B"/>
                    </a:solidFill>
                    <a:latin typeface="Calibri"/>
                    <a:ea typeface="Calibri"/>
                    <a:cs typeface="Calibri"/>
                    <a:sym typeface="Calibri"/>
                  </a:rPr>
                  <a:t>Exact query match</a:t>
                </a:r>
                <a:endParaRPr b="1" i="0" sz="1150" u="none" strike="noStrike">
                  <a:solidFill>
                    <a:srgbClr val="0EA5E9"/>
                  </a:solidFill>
                  <a:latin typeface="Calibri"/>
                  <a:ea typeface="Calibri"/>
                  <a:cs typeface="Calibri"/>
                  <a:sym typeface="Calibri"/>
                </a:endParaRPr>
              </a:p>
            </p:txBody>
          </p:sp>
        </p:grpSp>
        <p:grpSp>
          <p:nvGrpSpPr>
            <p:cNvPr id="112" name="Google Shape;112;p15"/>
            <p:cNvGrpSpPr/>
            <p:nvPr/>
          </p:nvGrpSpPr>
          <p:grpSpPr>
            <a:xfrm>
              <a:off x="2847975" y="1428750"/>
              <a:ext cx="2543100" cy="876300"/>
              <a:chOff x="0" y="0"/>
              <a:chExt cx="2543100" cy="876300"/>
            </a:xfrm>
          </p:grpSpPr>
          <p:sp>
            <p:nvSpPr>
              <p:cNvPr id="113" name="Google Shape;113;p15"/>
              <p:cNvSpPr/>
              <p:nvPr/>
            </p:nvSpPr>
            <p:spPr>
              <a:xfrm>
                <a:off x="0" y="0"/>
                <a:ext cx="2543100" cy="876300"/>
              </a:xfrm>
              <a:prstGeom prst="roundRect">
                <a:avLst>
                  <a:gd fmla="val 6521" name="adj"/>
                </a:avLst>
              </a:prstGeom>
              <a:solidFill>
                <a:srgbClr val="FFFFFF"/>
              </a:solidFill>
              <a:ln cap="flat" cmpd="sng" w="95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14" name="Google Shape;114;p15"/>
              <p:cNvSpPr txBox="1"/>
              <p:nvPr/>
            </p:nvSpPr>
            <p:spPr>
              <a:xfrm>
                <a:off x="152400" y="95250"/>
                <a:ext cx="2238300" cy="6477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l">
                  <a:spcBef>
                    <a:spcPts val="0"/>
                  </a:spcBef>
                  <a:spcAft>
                    <a:spcPts val="0"/>
                  </a:spcAft>
                  <a:buNone/>
                </a:pPr>
                <a:r>
                  <a:rPr b="1" i="0" lang="en-US" sz="1500" u="none" strike="noStrike">
                    <a:solidFill>
                      <a:srgbClr val="0EA5E9"/>
                    </a:solidFill>
                    <a:latin typeface="Calibri"/>
                    <a:ea typeface="Calibri"/>
                    <a:cs typeface="Calibri"/>
                    <a:sym typeface="Calibri"/>
                  </a:rPr>
                  <a:t>S </a:t>
                </a:r>
                <a:r>
                  <a:rPr b="1" i="0" lang="en-US" sz="1350" u="none" strike="noStrike">
                    <a:solidFill>
                      <a:srgbClr val="0A2540"/>
                    </a:solidFill>
                    <a:latin typeface="Calibri"/>
                    <a:ea typeface="Calibri"/>
                    <a:cs typeface="Calibri"/>
                    <a:sym typeface="Calibri"/>
                  </a:rPr>
                  <a:t>· Substitute</a:t>
                </a:r>
                <a:endParaRPr b="1" i="0" sz="1500" u="none" strike="noStrike">
                  <a:solidFill>
                    <a:srgbClr val="0EA5E9"/>
                  </a:solidFill>
                  <a:latin typeface="Calibri"/>
                  <a:ea typeface="Calibri"/>
                  <a:cs typeface="Calibri"/>
                  <a:sym typeface="Calibri"/>
                </a:endParaRPr>
              </a:p>
              <a:p>
                <a:pPr indent="0" lvl="0" marL="0" rtl="0" algn="l">
                  <a:spcBef>
                    <a:spcPts val="150"/>
                  </a:spcBef>
                  <a:spcAft>
                    <a:spcPts val="0"/>
                  </a:spcAft>
                  <a:buNone/>
                </a:pPr>
                <a:r>
                  <a:rPr b="0" i="0" lang="en-US" sz="1150" u="none" strike="noStrike">
                    <a:solidFill>
                      <a:srgbClr val="64748B"/>
                    </a:solidFill>
                    <a:latin typeface="Calibri"/>
                    <a:ea typeface="Calibri"/>
                    <a:cs typeface="Calibri"/>
                    <a:sym typeface="Calibri"/>
                  </a:rPr>
                  <a:t>Functional alternative</a:t>
                </a:r>
                <a:endParaRPr b="1" i="0" sz="1150" u="none" strike="noStrike">
                  <a:solidFill>
                    <a:srgbClr val="0EA5E9"/>
                  </a:solidFill>
                  <a:latin typeface="Calibri"/>
                  <a:ea typeface="Calibri"/>
                  <a:cs typeface="Calibri"/>
                  <a:sym typeface="Calibri"/>
                </a:endParaRPr>
              </a:p>
            </p:txBody>
          </p:sp>
        </p:grpSp>
        <p:grpSp>
          <p:nvGrpSpPr>
            <p:cNvPr id="115" name="Google Shape;115;p15"/>
            <p:cNvGrpSpPr/>
            <p:nvPr/>
          </p:nvGrpSpPr>
          <p:grpSpPr>
            <a:xfrm>
              <a:off x="266700" y="2419350"/>
              <a:ext cx="2428800" cy="876300"/>
              <a:chOff x="0" y="0"/>
              <a:chExt cx="2428800" cy="876300"/>
            </a:xfrm>
          </p:grpSpPr>
          <p:sp>
            <p:nvSpPr>
              <p:cNvPr id="116" name="Google Shape;116;p15"/>
              <p:cNvSpPr/>
              <p:nvPr/>
            </p:nvSpPr>
            <p:spPr>
              <a:xfrm>
                <a:off x="0" y="0"/>
                <a:ext cx="2428800" cy="876300"/>
              </a:xfrm>
              <a:prstGeom prst="roundRect">
                <a:avLst>
                  <a:gd fmla="val 6521" name="adj"/>
                </a:avLst>
              </a:prstGeom>
              <a:solidFill>
                <a:srgbClr val="FFFFFF"/>
              </a:solidFill>
              <a:ln cap="flat" cmpd="sng" w="95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17" name="Google Shape;117;p15"/>
              <p:cNvSpPr txBox="1"/>
              <p:nvPr/>
            </p:nvSpPr>
            <p:spPr>
              <a:xfrm>
                <a:off x="152400" y="95250"/>
                <a:ext cx="2124000" cy="6477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l">
                  <a:spcBef>
                    <a:spcPts val="0"/>
                  </a:spcBef>
                  <a:spcAft>
                    <a:spcPts val="0"/>
                  </a:spcAft>
                  <a:buNone/>
                </a:pPr>
                <a:r>
                  <a:rPr b="1" i="0" lang="en-US" sz="1500" u="none" strike="noStrike">
                    <a:solidFill>
                      <a:srgbClr val="0EA5E9"/>
                    </a:solidFill>
                    <a:latin typeface="Calibri"/>
                    <a:ea typeface="Calibri"/>
                    <a:cs typeface="Calibri"/>
                    <a:sym typeface="Calibri"/>
                  </a:rPr>
                  <a:t>C </a:t>
                </a:r>
                <a:r>
                  <a:rPr b="1" i="0" lang="en-US" sz="1350" u="none" strike="noStrike">
                    <a:solidFill>
                      <a:srgbClr val="0A2540"/>
                    </a:solidFill>
                    <a:latin typeface="Calibri"/>
                    <a:ea typeface="Calibri"/>
                    <a:cs typeface="Calibri"/>
                    <a:sym typeface="Calibri"/>
                  </a:rPr>
                  <a:t>· Complement</a:t>
                </a:r>
                <a:endParaRPr b="1" i="0" sz="1500" u="none" strike="noStrike">
                  <a:solidFill>
                    <a:srgbClr val="0EA5E9"/>
                  </a:solidFill>
                  <a:latin typeface="Calibri"/>
                  <a:ea typeface="Calibri"/>
                  <a:cs typeface="Calibri"/>
                  <a:sym typeface="Calibri"/>
                </a:endParaRPr>
              </a:p>
              <a:p>
                <a:pPr indent="0" lvl="0" marL="0" rtl="0" algn="l">
                  <a:spcBef>
                    <a:spcPts val="150"/>
                  </a:spcBef>
                  <a:spcAft>
                    <a:spcPts val="0"/>
                  </a:spcAft>
                  <a:buNone/>
                </a:pPr>
                <a:r>
                  <a:rPr b="0" i="0" lang="en-US" sz="1150" u="none" strike="noStrike">
                    <a:solidFill>
                      <a:srgbClr val="64748B"/>
                    </a:solidFill>
                    <a:latin typeface="Calibri"/>
                    <a:ea typeface="Calibri"/>
                    <a:cs typeface="Calibri"/>
                    <a:sym typeface="Calibri"/>
                  </a:rPr>
                  <a:t>Pairs with item / accessory</a:t>
                </a:r>
                <a:endParaRPr b="1" i="0" sz="1150" u="none" strike="noStrike">
                  <a:solidFill>
                    <a:srgbClr val="0EA5E9"/>
                  </a:solidFill>
                  <a:latin typeface="Calibri"/>
                  <a:ea typeface="Calibri"/>
                  <a:cs typeface="Calibri"/>
                  <a:sym typeface="Calibri"/>
                </a:endParaRPr>
              </a:p>
            </p:txBody>
          </p:sp>
        </p:grpSp>
        <p:grpSp>
          <p:nvGrpSpPr>
            <p:cNvPr id="118" name="Google Shape;118;p15"/>
            <p:cNvGrpSpPr/>
            <p:nvPr/>
          </p:nvGrpSpPr>
          <p:grpSpPr>
            <a:xfrm>
              <a:off x="2847975" y="2419350"/>
              <a:ext cx="2543100" cy="876300"/>
              <a:chOff x="0" y="0"/>
              <a:chExt cx="2543100" cy="876300"/>
            </a:xfrm>
          </p:grpSpPr>
          <p:sp>
            <p:nvSpPr>
              <p:cNvPr id="119" name="Google Shape;119;p15"/>
              <p:cNvSpPr/>
              <p:nvPr/>
            </p:nvSpPr>
            <p:spPr>
              <a:xfrm>
                <a:off x="0" y="0"/>
                <a:ext cx="2543100" cy="876300"/>
              </a:xfrm>
              <a:prstGeom prst="roundRect">
                <a:avLst>
                  <a:gd fmla="val 6521" name="adj"/>
                </a:avLst>
              </a:prstGeom>
              <a:solidFill>
                <a:srgbClr val="FFFFFF"/>
              </a:solidFill>
              <a:ln cap="flat" cmpd="sng" w="95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20" name="Google Shape;120;p15"/>
              <p:cNvSpPr txBox="1"/>
              <p:nvPr/>
            </p:nvSpPr>
            <p:spPr>
              <a:xfrm>
                <a:off x="152400" y="95250"/>
                <a:ext cx="2238300" cy="6477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i="0" lang="en-US" sz="1500" u="none" strike="noStrike">
                    <a:solidFill>
                      <a:srgbClr val="EF4444"/>
                    </a:solidFill>
                    <a:latin typeface="Calibri"/>
                    <a:ea typeface="Calibri"/>
                    <a:cs typeface="Calibri"/>
                    <a:sym typeface="Calibri"/>
                  </a:rPr>
                  <a:t>I </a:t>
                </a:r>
                <a:r>
                  <a:rPr b="1" i="0" lang="en-US" sz="1350" u="none" strike="noStrike">
                    <a:solidFill>
                      <a:srgbClr val="0A2540"/>
                    </a:solidFill>
                    <a:latin typeface="Calibri"/>
                    <a:ea typeface="Calibri"/>
                    <a:cs typeface="Calibri"/>
                    <a:sym typeface="Calibri"/>
                  </a:rPr>
                  <a:t>· Irrelevant</a:t>
                </a:r>
                <a:endParaRPr b="1" i="0" sz="1500" u="none" strike="noStrike">
                  <a:solidFill>
                    <a:srgbClr val="EF4444"/>
                  </a:solidFill>
                  <a:latin typeface="Calibri"/>
                  <a:ea typeface="Calibri"/>
                  <a:cs typeface="Calibri"/>
                  <a:sym typeface="Calibri"/>
                </a:endParaRPr>
              </a:p>
              <a:p>
                <a:pPr indent="0" lvl="0" marL="0" rtl="0" algn="l">
                  <a:spcBef>
                    <a:spcPts val="150"/>
                  </a:spcBef>
                  <a:spcAft>
                    <a:spcPts val="0"/>
                  </a:spcAft>
                  <a:buNone/>
                </a:pPr>
                <a:r>
                  <a:rPr b="0" i="0" lang="en-US" sz="1150" u="none" strike="noStrike">
                    <a:solidFill>
                      <a:srgbClr val="64748B"/>
                    </a:solidFill>
                    <a:latin typeface="Calibri"/>
                    <a:ea typeface="Calibri"/>
                    <a:cs typeface="Calibri"/>
                    <a:sym typeface="Calibri"/>
                  </a:rPr>
                  <a:t>Unrelated search result</a:t>
                </a:r>
                <a:endParaRPr b="1" i="0" sz="1150" u="none" strike="noStrike">
                  <a:solidFill>
                    <a:srgbClr val="EF4444"/>
                  </a:solidFill>
                  <a:latin typeface="Calibri"/>
                  <a:ea typeface="Calibri"/>
                  <a:cs typeface="Calibri"/>
                  <a:sym typeface="Calibri"/>
                </a:endParaRPr>
              </a:p>
            </p:txBody>
          </p:sp>
        </p:grpSp>
      </p:grpSp>
      <p:pic>
        <p:nvPicPr>
          <p:cNvPr id="121" name="Google Shape;121;p15" title="KMWLogo_blk_blue.png"/>
          <p:cNvPicPr preferRelativeResize="0"/>
          <p:nvPr/>
        </p:nvPicPr>
        <p:blipFill>
          <a:blip r:embed="rId3">
            <a:alphaModFix/>
          </a:blip>
          <a:stretch>
            <a:fillRect/>
          </a:stretch>
        </p:blipFill>
        <p:spPr>
          <a:xfrm>
            <a:off x="10059924" y="314175"/>
            <a:ext cx="1644399" cy="645950"/>
          </a:xfrm>
          <a:prstGeom prst="rect">
            <a:avLst/>
          </a:prstGeom>
          <a:noFill/>
          <a:ln>
            <a:noFill/>
          </a:ln>
        </p:spPr>
      </p:pic>
      <p:sp>
        <p:nvSpPr>
          <p:cNvPr id="122" name="Google Shape;122;p15"/>
          <p:cNvSpPr txBox="1"/>
          <p:nvPr/>
        </p:nvSpPr>
        <p:spPr>
          <a:xfrm>
            <a:off x="1921297" y="6513376"/>
            <a:ext cx="10058400" cy="1617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r">
              <a:spcBef>
                <a:spcPts val="0"/>
              </a:spcBef>
              <a:spcAft>
                <a:spcPts val="0"/>
              </a:spcAft>
              <a:buNone/>
            </a:pPr>
            <a:r>
              <a:rPr b="0" i="0" lang="en-US" sz="1050" u="none" strike="noStrike">
                <a:solidFill>
                  <a:srgbClr val="94A3B8"/>
                </a:solidFill>
                <a:latin typeface="Calibri"/>
                <a:ea typeface="Calibri"/>
                <a:cs typeface="Calibri"/>
                <a:sym typeface="Calibri"/>
              </a:rPr>
              <a:t>OpenSearchCon North America · 2026 · Agentic Search: Reimagining Search from Ingestion to Relevancy</a:t>
            </a:r>
            <a:endParaRPr b="0" i="0" sz="1050" u="none" strike="noStrike">
              <a:solidFill>
                <a:srgbClr val="94A3B8"/>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126" name="Shape 126"/>
        <p:cNvGrpSpPr/>
        <p:nvPr/>
      </p:nvGrpSpPr>
      <p:grpSpPr>
        <a:xfrm>
          <a:off x="0" y="0"/>
          <a:ext cx="0" cy="0"/>
          <a:chOff x="0" y="0"/>
          <a:chExt cx="0" cy="0"/>
        </a:xfrm>
      </p:grpSpPr>
      <p:sp>
        <p:nvSpPr>
          <p:cNvPr id="127" name="Google Shape;127;p16"/>
          <p:cNvSpPr txBox="1"/>
          <p:nvPr/>
        </p:nvSpPr>
        <p:spPr>
          <a:xfrm>
            <a:off x="457200" y="552450"/>
            <a:ext cx="11239500" cy="2097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i="0" lang="en-US" sz="1295" u="none" strike="noStrike">
                <a:solidFill>
                  <a:srgbClr val="0369A1"/>
                </a:solidFill>
                <a:latin typeface="Calibri"/>
                <a:ea typeface="Calibri"/>
                <a:cs typeface="Calibri"/>
                <a:sym typeface="Calibri"/>
              </a:rPr>
              <a:t>CAST OF CHARACTERS</a:t>
            </a:r>
            <a:endParaRPr b="1" i="0" sz="1295" u="none" strike="noStrike">
              <a:solidFill>
                <a:srgbClr val="0369A1"/>
              </a:solidFill>
              <a:latin typeface="Calibri"/>
              <a:ea typeface="Calibri"/>
              <a:cs typeface="Calibri"/>
              <a:sym typeface="Calibri"/>
            </a:endParaRPr>
          </a:p>
        </p:txBody>
      </p:sp>
      <p:sp>
        <p:nvSpPr>
          <p:cNvPr id="128" name="Google Shape;128;p16"/>
          <p:cNvSpPr txBox="1"/>
          <p:nvPr/>
        </p:nvSpPr>
        <p:spPr>
          <a:xfrm>
            <a:off x="457200" y="838200"/>
            <a:ext cx="11239500" cy="5715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i="0" lang="en-US" sz="3515" u="none" strike="noStrike">
                <a:solidFill>
                  <a:srgbClr val="0A2540"/>
                </a:solidFill>
                <a:latin typeface="Calibri"/>
                <a:ea typeface="Calibri"/>
                <a:cs typeface="Calibri"/>
                <a:sym typeface="Calibri"/>
              </a:rPr>
              <a:t>The core components powering agentic search</a:t>
            </a:r>
            <a:endParaRPr b="1" i="0" sz="3515" u="none" strike="noStrike">
              <a:solidFill>
                <a:srgbClr val="0A2540"/>
              </a:solidFill>
              <a:latin typeface="Calibri"/>
              <a:ea typeface="Calibri"/>
              <a:cs typeface="Calibri"/>
              <a:sym typeface="Calibri"/>
            </a:endParaRPr>
          </a:p>
        </p:txBody>
      </p:sp>
      <p:grpSp>
        <p:nvGrpSpPr>
          <p:cNvPr id="129" name="Google Shape;129;p16"/>
          <p:cNvGrpSpPr/>
          <p:nvPr/>
        </p:nvGrpSpPr>
        <p:grpSpPr>
          <a:xfrm>
            <a:off x="452438" y="1662113"/>
            <a:ext cx="5496000" cy="1533600"/>
            <a:chOff x="-4762" y="-4762"/>
            <a:chExt cx="5496000" cy="1533600"/>
          </a:xfrm>
        </p:grpSpPr>
        <p:pic>
          <p:nvPicPr>
            <p:cNvPr id="130" name="Google Shape;130;p16"/>
            <p:cNvPicPr preferRelativeResize="0"/>
            <p:nvPr/>
          </p:nvPicPr>
          <p:blipFill rotWithShape="1">
            <a:blip r:embed="rId4">
              <a:alphaModFix/>
            </a:blip>
            <a:srcRect b="0" l="0" r="0" t="0"/>
            <a:stretch/>
          </p:blipFill>
          <p:spPr>
            <a:xfrm>
              <a:off x="-4762" y="-4762"/>
              <a:ext cx="5496000" cy="1533600"/>
            </a:xfrm>
            <a:prstGeom prst="rect">
              <a:avLst/>
            </a:prstGeom>
            <a:noFill/>
            <a:ln>
              <a:noFill/>
            </a:ln>
          </p:spPr>
        </p:pic>
        <p:sp>
          <p:nvSpPr>
            <p:cNvPr id="131" name="Google Shape;131;p16"/>
            <p:cNvSpPr txBox="1"/>
            <p:nvPr/>
          </p:nvSpPr>
          <p:spPr>
            <a:xfrm>
              <a:off x="228600" y="152400"/>
              <a:ext cx="5029200" cy="12384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i="0" lang="en-US" sz="1250" u="none" strike="noStrike">
                  <a:solidFill>
                    <a:srgbClr val="0EA5E9"/>
                  </a:solidFill>
                  <a:latin typeface="Calibri"/>
                  <a:ea typeface="Calibri"/>
                  <a:cs typeface="Calibri"/>
                  <a:sym typeface="Calibri"/>
                </a:rPr>
                <a:t>INGESTION PIPELINE</a:t>
              </a:r>
              <a:endParaRPr b="1" i="0" sz="1250" u="none" strike="noStrike">
                <a:solidFill>
                  <a:srgbClr val="0EA5E9"/>
                </a:solidFill>
                <a:latin typeface="Calibri"/>
                <a:ea typeface="Calibri"/>
                <a:cs typeface="Calibri"/>
                <a:sym typeface="Calibri"/>
              </a:endParaRPr>
            </a:p>
            <a:p>
              <a:pPr indent="0" lvl="0" marL="0" rtl="0" algn="l">
                <a:spcBef>
                  <a:spcPts val="300"/>
                </a:spcBef>
                <a:spcAft>
                  <a:spcPts val="0"/>
                </a:spcAft>
                <a:buNone/>
              </a:pPr>
              <a:r>
                <a:rPr b="1" i="0" lang="en-US" sz="2200" u="none" strike="noStrike">
                  <a:solidFill>
                    <a:srgbClr val="0A2540"/>
                  </a:solidFill>
                  <a:latin typeface="Calibri"/>
                  <a:ea typeface="Calibri"/>
                  <a:cs typeface="Calibri"/>
                  <a:sym typeface="Calibri"/>
                </a:rPr>
                <a:t>Lucille</a:t>
              </a:r>
              <a:endParaRPr b="1" i="0" sz="1250" u="none" strike="noStrike">
                <a:solidFill>
                  <a:srgbClr val="0EA5E9"/>
                </a:solidFill>
                <a:latin typeface="Calibri"/>
                <a:ea typeface="Calibri"/>
                <a:cs typeface="Calibri"/>
                <a:sym typeface="Calibri"/>
              </a:endParaRPr>
            </a:p>
            <a:p>
              <a:pPr indent="0" lvl="0" marL="0" rtl="0" algn="l">
                <a:spcBef>
                  <a:spcPts val="500"/>
                </a:spcBef>
                <a:spcAft>
                  <a:spcPts val="0"/>
                </a:spcAft>
                <a:buNone/>
              </a:pPr>
              <a:r>
                <a:rPr b="0" i="0" lang="en-US" sz="1450" u="none" strike="noStrike">
                  <a:solidFill>
                    <a:srgbClr val="475569"/>
                  </a:solidFill>
                  <a:latin typeface="Calibri"/>
                  <a:ea typeface="Calibri"/>
                  <a:cs typeface="Calibri"/>
                  <a:sym typeface="Calibri"/>
                </a:rPr>
                <a:t>Java ETL indexing pipeline that processes and transforms documents before they hit the search index.</a:t>
              </a:r>
              <a:endParaRPr b="1" i="0" sz="1250" u="none" strike="noStrike">
                <a:solidFill>
                  <a:srgbClr val="0EA5E9"/>
                </a:solidFill>
                <a:latin typeface="Calibri"/>
                <a:ea typeface="Calibri"/>
                <a:cs typeface="Calibri"/>
                <a:sym typeface="Calibri"/>
              </a:endParaRPr>
            </a:p>
          </p:txBody>
        </p:sp>
      </p:grpSp>
      <p:grpSp>
        <p:nvGrpSpPr>
          <p:cNvPr id="132" name="Google Shape;132;p16"/>
          <p:cNvGrpSpPr/>
          <p:nvPr/>
        </p:nvGrpSpPr>
        <p:grpSpPr>
          <a:xfrm>
            <a:off x="6243638" y="1662113"/>
            <a:ext cx="5496000" cy="1533600"/>
            <a:chOff x="-4762" y="-4762"/>
            <a:chExt cx="5496000" cy="1533600"/>
          </a:xfrm>
        </p:grpSpPr>
        <p:pic>
          <p:nvPicPr>
            <p:cNvPr id="133" name="Google Shape;133;p16"/>
            <p:cNvPicPr preferRelativeResize="0"/>
            <p:nvPr/>
          </p:nvPicPr>
          <p:blipFill rotWithShape="1">
            <a:blip r:embed="rId4">
              <a:alphaModFix/>
            </a:blip>
            <a:srcRect b="0" l="0" r="0" t="0"/>
            <a:stretch/>
          </p:blipFill>
          <p:spPr>
            <a:xfrm>
              <a:off x="-4762" y="-4762"/>
              <a:ext cx="5496000" cy="1533600"/>
            </a:xfrm>
            <a:prstGeom prst="rect">
              <a:avLst/>
            </a:prstGeom>
            <a:noFill/>
            <a:ln>
              <a:noFill/>
            </a:ln>
          </p:spPr>
        </p:pic>
        <p:sp>
          <p:nvSpPr>
            <p:cNvPr id="134" name="Google Shape;134;p16"/>
            <p:cNvSpPr txBox="1"/>
            <p:nvPr/>
          </p:nvSpPr>
          <p:spPr>
            <a:xfrm>
              <a:off x="228600" y="152400"/>
              <a:ext cx="5029200" cy="12384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i="0" lang="en-US" sz="1250" u="none" strike="noStrike">
                  <a:solidFill>
                    <a:srgbClr val="0EA5E9"/>
                  </a:solidFill>
                  <a:latin typeface="Calibri"/>
                  <a:ea typeface="Calibri"/>
                  <a:cs typeface="Calibri"/>
                  <a:sym typeface="Calibri"/>
                </a:rPr>
                <a:t>SEARCH ENGINE</a:t>
              </a:r>
              <a:endParaRPr b="1" i="0" sz="1250" u="none" strike="noStrike">
                <a:solidFill>
                  <a:srgbClr val="0EA5E9"/>
                </a:solidFill>
                <a:latin typeface="Calibri"/>
                <a:ea typeface="Calibri"/>
                <a:cs typeface="Calibri"/>
                <a:sym typeface="Calibri"/>
              </a:endParaRPr>
            </a:p>
            <a:p>
              <a:pPr indent="0" lvl="0" marL="0" rtl="0" algn="l">
                <a:spcBef>
                  <a:spcPts val="300"/>
                </a:spcBef>
                <a:spcAft>
                  <a:spcPts val="0"/>
                </a:spcAft>
                <a:buNone/>
              </a:pPr>
              <a:r>
                <a:rPr b="1" i="0" lang="en-US" sz="2200" u="none" strike="noStrike">
                  <a:solidFill>
                    <a:srgbClr val="0A2540"/>
                  </a:solidFill>
                  <a:latin typeface="Calibri"/>
                  <a:ea typeface="Calibri"/>
                  <a:cs typeface="Calibri"/>
                  <a:sym typeface="Calibri"/>
                </a:rPr>
                <a:t>OpenSearch</a:t>
              </a:r>
              <a:endParaRPr b="1" i="0" sz="1250" u="none" strike="noStrike">
                <a:solidFill>
                  <a:srgbClr val="0EA5E9"/>
                </a:solidFill>
                <a:latin typeface="Calibri"/>
                <a:ea typeface="Calibri"/>
                <a:cs typeface="Calibri"/>
                <a:sym typeface="Calibri"/>
              </a:endParaRPr>
            </a:p>
            <a:p>
              <a:pPr indent="0" lvl="0" marL="0" rtl="0" algn="l">
                <a:spcBef>
                  <a:spcPts val="500"/>
                </a:spcBef>
                <a:spcAft>
                  <a:spcPts val="0"/>
                </a:spcAft>
                <a:buNone/>
              </a:pPr>
              <a:r>
                <a:rPr b="0" i="0" lang="en-US" sz="1450" u="none" strike="noStrike">
                  <a:solidFill>
                    <a:srgbClr val="475569"/>
                  </a:solidFill>
                  <a:latin typeface="Calibri"/>
                  <a:ea typeface="Calibri"/>
                  <a:cs typeface="Calibri"/>
                  <a:sym typeface="Calibri"/>
                </a:rPr>
                <a:t>Where documents live; provides BM25 lexical keyword matching and vector-based semantic retrieval.</a:t>
              </a:r>
              <a:endParaRPr b="1" i="0" sz="1250" u="none" strike="noStrike">
                <a:solidFill>
                  <a:srgbClr val="0EA5E9"/>
                </a:solidFill>
                <a:latin typeface="Calibri"/>
                <a:ea typeface="Calibri"/>
                <a:cs typeface="Calibri"/>
                <a:sym typeface="Calibri"/>
              </a:endParaRPr>
            </a:p>
          </p:txBody>
        </p:sp>
      </p:grpSp>
      <p:grpSp>
        <p:nvGrpSpPr>
          <p:cNvPr id="135" name="Google Shape;135;p16"/>
          <p:cNvGrpSpPr/>
          <p:nvPr/>
        </p:nvGrpSpPr>
        <p:grpSpPr>
          <a:xfrm>
            <a:off x="452438" y="3376613"/>
            <a:ext cx="5496000" cy="1533600"/>
            <a:chOff x="-4762" y="-4762"/>
            <a:chExt cx="5496000" cy="1533600"/>
          </a:xfrm>
        </p:grpSpPr>
        <p:pic>
          <p:nvPicPr>
            <p:cNvPr id="136" name="Google Shape;136;p16"/>
            <p:cNvPicPr preferRelativeResize="0"/>
            <p:nvPr/>
          </p:nvPicPr>
          <p:blipFill rotWithShape="1">
            <a:blip r:embed="rId4">
              <a:alphaModFix/>
            </a:blip>
            <a:srcRect b="0" l="0" r="0" t="0"/>
            <a:stretch/>
          </p:blipFill>
          <p:spPr>
            <a:xfrm>
              <a:off x="-4762" y="-4762"/>
              <a:ext cx="5496000" cy="1533600"/>
            </a:xfrm>
            <a:prstGeom prst="rect">
              <a:avLst/>
            </a:prstGeom>
            <a:noFill/>
            <a:ln>
              <a:noFill/>
            </a:ln>
          </p:spPr>
        </p:pic>
        <p:sp>
          <p:nvSpPr>
            <p:cNvPr id="137" name="Google Shape;137;p16"/>
            <p:cNvSpPr txBox="1"/>
            <p:nvPr/>
          </p:nvSpPr>
          <p:spPr>
            <a:xfrm>
              <a:off x="228600" y="152400"/>
              <a:ext cx="5029200" cy="12384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i="0" lang="en-US" sz="1250" u="none" strike="noStrike">
                  <a:solidFill>
                    <a:srgbClr val="0EA5E9"/>
                  </a:solidFill>
                  <a:latin typeface="Calibri"/>
                  <a:ea typeface="Calibri"/>
                  <a:cs typeface="Calibri"/>
                  <a:sym typeface="Calibri"/>
                </a:rPr>
                <a:t>ORCHESTRATION ENGINE</a:t>
              </a:r>
              <a:endParaRPr b="1" i="0" sz="1250" u="none" strike="noStrike">
                <a:solidFill>
                  <a:srgbClr val="0EA5E9"/>
                </a:solidFill>
                <a:latin typeface="Calibri"/>
                <a:ea typeface="Calibri"/>
                <a:cs typeface="Calibri"/>
                <a:sym typeface="Calibri"/>
              </a:endParaRPr>
            </a:p>
            <a:p>
              <a:pPr indent="0" lvl="0" marL="0" rtl="0" algn="l">
                <a:spcBef>
                  <a:spcPts val="300"/>
                </a:spcBef>
                <a:spcAft>
                  <a:spcPts val="0"/>
                </a:spcAft>
                <a:buNone/>
              </a:pPr>
              <a:r>
                <a:rPr b="1" i="0" lang="en-US" sz="2200" u="none" strike="noStrike">
                  <a:solidFill>
                    <a:srgbClr val="0A2540"/>
                  </a:solidFill>
                  <a:latin typeface="Calibri"/>
                  <a:ea typeface="Calibri"/>
                  <a:cs typeface="Calibri"/>
                  <a:sym typeface="Calibri"/>
                </a:rPr>
                <a:t>LangGraph Agent</a:t>
              </a:r>
              <a:endParaRPr b="1" i="0" sz="1250" u="none" strike="noStrike">
                <a:solidFill>
                  <a:srgbClr val="0EA5E9"/>
                </a:solidFill>
                <a:latin typeface="Calibri"/>
                <a:ea typeface="Calibri"/>
                <a:cs typeface="Calibri"/>
                <a:sym typeface="Calibri"/>
              </a:endParaRPr>
            </a:p>
            <a:p>
              <a:pPr indent="0" lvl="0" marL="0" rtl="0" algn="l">
                <a:spcBef>
                  <a:spcPts val="500"/>
                </a:spcBef>
                <a:spcAft>
                  <a:spcPts val="0"/>
                </a:spcAft>
                <a:buNone/>
              </a:pPr>
              <a:r>
                <a:rPr b="0" i="0" lang="en-US" sz="1450" u="none" strike="noStrike">
                  <a:solidFill>
                    <a:srgbClr val="475569"/>
                  </a:solidFill>
                  <a:latin typeface="Calibri"/>
                  <a:ea typeface="Calibri"/>
                  <a:cs typeface="Calibri"/>
                  <a:sym typeface="Calibri"/>
                </a:rPr>
                <a:t>Orchestrates the continuous reasoning loop: intent classification, retrieval, reranking, and verification.</a:t>
              </a:r>
              <a:endParaRPr b="1" i="0" sz="1250" u="none" strike="noStrike">
                <a:solidFill>
                  <a:srgbClr val="0EA5E9"/>
                </a:solidFill>
                <a:latin typeface="Calibri"/>
                <a:ea typeface="Calibri"/>
                <a:cs typeface="Calibri"/>
                <a:sym typeface="Calibri"/>
              </a:endParaRPr>
            </a:p>
          </p:txBody>
        </p:sp>
      </p:grpSp>
      <p:grpSp>
        <p:nvGrpSpPr>
          <p:cNvPr id="138" name="Google Shape;138;p16"/>
          <p:cNvGrpSpPr/>
          <p:nvPr/>
        </p:nvGrpSpPr>
        <p:grpSpPr>
          <a:xfrm>
            <a:off x="6243638" y="3376613"/>
            <a:ext cx="5496000" cy="1533600"/>
            <a:chOff x="-4762" y="-4762"/>
            <a:chExt cx="5496000" cy="1533600"/>
          </a:xfrm>
        </p:grpSpPr>
        <p:pic>
          <p:nvPicPr>
            <p:cNvPr id="139" name="Google Shape;139;p16"/>
            <p:cNvPicPr preferRelativeResize="0"/>
            <p:nvPr/>
          </p:nvPicPr>
          <p:blipFill rotWithShape="1">
            <a:blip r:embed="rId4">
              <a:alphaModFix/>
            </a:blip>
            <a:srcRect b="0" l="0" r="0" t="0"/>
            <a:stretch/>
          </p:blipFill>
          <p:spPr>
            <a:xfrm>
              <a:off x="-4762" y="-4762"/>
              <a:ext cx="5496000" cy="1533600"/>
            </a:xfrm>
            <a:prstGeom prst="rect">
              <a:avLst/>
            </a:prstGeom>
            <a:noFill/>
            <a:ln>
              <a:noFill/>
            </a:ln>
          </p:spPr>
        </p:pic>
        <p:sp>
          <p:nvSpPr>
            <p:cNvPr id="140" name="Google Shape;140;p16"/>
            <p:cNvSpPr txBox="1"/>
            <p:nvPr/>
          </p:nvSpPr>
          <p:spPr>
            <a:xfrm>
              <a:off x="228600" y="152400"/>
              <a:ext cx="5029200" cy="12384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i="0" lang="en-US" sz="1250" u="none" strike="noStrike">
                  <a:solidFill>
                    <a:srgbClr val="0EA5E9"/>
                  </a:solidFill>
                  <a:latin typeface="Calibri"/>
                  <a:ea typeface="Calibri"/>
                  <a:cs typeface="Calibri"/>
                  <a:sym typeface="Calibri"/>
                </a:rPr>
                <a:t>FOUNDATION MODEL</a:t>
              </a:r>
              <a:endParaRPr b="1" i="0" sz="1250" u="none" strike="noStrike">
                <a:solidFill>
                  <a:srgbClr val="0EA5E9"/>
                </a:solidFill>
                <a:latin typeface="Calibri"/>
                <a:ea typeface="Calibri"/>
                <a:cs typeface="Calibri"/>
                <a:sym typeface="Calibri"/>
              </a:endParaRPr>
            </a:p>
            <a:p>
              <a:pPr indent="0" lvl="0" marL="0" rtl="0" algn="l">
                <a:spcBef>
                  <a:spcPts val="300"/>
                </a:spcBef>
                <a:spcAft>
                  <a:spcPts val="0"/>
                </a:spcAft>
                <a:buNone/>
              </a:pPr>
              <a:r>
                <a:rPr b="1" i="0" lang="en-US" sz="2200" u="none" strike="noStrike">
                  <a:solidFill>
                    <a:srgbClr val="0A2540"/>
                  </a:solidFill>
                  <a:latin typeface="Calibri"/>
                  <a:ea typeface="Calibri"/>
                  <a:cs typeface="Calibri"/>
                  <a:sym typeface="Calibri"/>
                </a:rPr>
                <a:t>Gemini</a:t>
              </a:r>
              <a:endParaRPr b="1" i="0" sz="1250" u="none" strike="noStrike">
                <a:solidFill>
                  <a:srgbClr val="0EA5E9"/>
                </a:solidFill>
                <a:latin typeface="Calibri"/>
                <a:ea typeface="Calibri"/>
                <a:cs typeface="Calibri"/>
                <a:sym typeface="Calibri"/>
              </a:endParaRPr>
            </a:p>
            <a:p>
              <a:pPr indent="0" lvl="0" marL="0" rtl="0" algn="l">
                <a:spcBef>
                  <a:spcPts val="500"/>
                </a:spcBef>
                <a:spcAft>
                  <a:spcPts val="0"/>
                </a:spcAft>
                <a:buNone/>
              </a:pPr>
              <a:r>
                <a:rPr b="0" i="0" lang="en-US" sz="1450" u="none" strike="noStrike">
                  <a:solidFill>
                    <a:srgbClr val="475569"/>
                  </a:solidFill>
                  <a:latin typeface="Calibri"/>
                  <a:ea typeface="Calibri"/>
                  <a:cs typeface="Calibri"/>
                  <a:sym typeface="Calibri"/>
                </a:rPr>
                <a:t>The LLM invoked by the agent for intent classification, result generation, and quality judgment.</a:t>
              </a:r>
              <a:endParaRPr b="1" i="0" sz="1250" u="none" strike="noStrike">
                <a:solidFill>
                  <a:srgbClr val="0EA5E9"/>
                </a:solidFill>
                <a:latin typeface="Calibri"/>
                <a:ea typeface="Calibri"/>
                <a:cs typeface="Calibri"/>
                <a:sym typeface="Calibri"/>
              </a:endParaRPr>
            </a:p>
          </p:txBody>
        </p:sp>
      </p:grpSp>
      <p:grpSp>
        <p:nvGrpSpPr>
          <p:cNvPr id="141" name="Google Shape;141;p16"/>
          <p:cNvGrpSpPr/>
          <p:nvPr/>
        </p:nvGrpSpPr>
        <p:grpSpPr>
          <a:xfrm>
            <a:off x="457200" y="5095875"/>
            <a:ext cx="11277600" cy="1143000"/>
            <a:chOff x="0" y="0"/>
            <a:chExt cx="11277600" cy="1143000"/>
          </a:xfrm>
        </p:grpSpPr>
        <p:pic>
          <p:nvPicPr>
            <p:cNvPr id="142" name="Google Shape;142;p16"/>
            <p:cNvPicPr preferRelativeResize="0"/>
            <p:nvPr/>
          </p:nvPicPr>
          <p:blipFill rotWithShape="1">
            <a:blip r:embed="rId5">
              <a:alphaModFix/>
            </a:blip>
            <a:srcRect b="0" l="0" r="0" t="0"/>
            <a:stretch/>
          </p:blipFill>
          <p:spPr>
            <a:xfrm>
              <a:off x="0" y="0"/>
              <a:ext cx="11277600" cy="1143000"/>
            </a:xfrm>
            <a:prstGeom prst="rect">
              <a:avLst/>
            </a:prstGeom>
            <a:noFill/>
            <a:ln>
              <a:noFill/>
            </a:ln>
          </p:spPr>
        </p:pic>
        <p:sp>
          <p:nvSpPr>
            <p:cNvPr id="143" name="Google Shape;143;p16"/>
            <p:cNvSpPr txBox="1"/>
            <p:nvPr/>
          </p:nvSpPr>
          <p:spPr>
            <a:xfrm>
              <a:off x="304800" y="171450"/>
              <a:ext cx="10668000" cy="8001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i="0" lang="en-US" sz="1250" u="none" strike="noStrike">
                  <a:solidFill>
                    <a:srgbClr val="0EA5E9"/>
                  </a:solidFill>
                  <a:latin typeface="Calibri"/>
                  <a:ea typeface="Calibri"/>
                  <a:cs typeface="Calibri"/>
                  <a:sym typeface="Calibri"/>
                </a:rPr>
                <a:t>SYSTEM ARCHITECTURE</a:t>
              </a:r>
              <a:endParaRPr b="1" i="0" sz="1250" u="none" strike="noStrike">
                <a:solidFill>
                  <a:srgbClr val="0EA5E9"/>
                </a:solidFill>
                <a:latin typeface="Calibri"/>
                <a:ea typeface="Calibri"/>
                <a:cs typeface="Calibri"/>
                <a:sym typeface="Calibri"/>
              </a:endParaRPr>
            </a:p>
            <a:p>
              <a:pPr indent="0" lvl="0" marL="0" rtl="0" algn="l">
                <a:spcBef>
                  <a:spcPts val="300"/>
                </a:spcBef>
                <a:spcAft>
                  <a:spcPts val="0"/>
                </a:spcAft>
                <a:buNone/>
              </a:pPr>
              <a:r>
                <a:rPr b="1" i="0" lang="en-US" sz="2300" u="none" strike="noStrike">
                  <a:solidFill>
                    <a:srgbClr val="FFFFFF"/>
                  </a:solidFill>
                  <a:latin typeface="Calibri"/>
                  <a:ea typeface="Calibri"/>
                  <a:cs typeface="Calibri"/>
                  <a:sym typeface="Calibri"/>
                </a:rPr>
                <a:t>Modular roles working in tandem to deliver self-correcting relevance.</a:t>
              </a:r>
              <a:endParaRPr b="1" i="0" sz="1250" u="none" strike="noStrike">
                <a:solidFill>
                  <a:srgbClr val="0EA5E9"/>
                </a:solidFill>
                <a:latin typeface="Calibri"/>
                <a:ea typeface="Calibri"/>
                <a:cs typeface="Calibri"/>
                <a:sym typeface="Calibri"/>
              </a:endParaRPr>
            </a:p>
          </p:txBody>
        </p:sp>
      </p:grpSp>
      <p:pic>
        <p:nvPicPr>
          <p:cNvPr id="144" name="Google Shape;144;p16"/>
          <p:cNvPicPr preferRelativeResize="0"/>
          <p:nvPr/>
        </p:nvPicPr>
        <p:blipFill rotWithShape="1">
          <a:blip r:embed="rId6">
            <a:alphaModFix/>
          </a:blip>
          <a:srcRect b="0" l="0" r="0" t="0"/>
          <a:stretch/>
        </p:blipFill>
        <p:spPr>
          <a:xfrm>
            <a:off x="10059924" y="314175"/>
            <a:ext cx="1644300" cy="645900"/>
          </a:xfrm>
          <a:prstGeom prst="rect">
            <a:avLst/>
          </a:prstGeom>
          <a:noFill/>
          <a:ln>
            <a:noFill/>
          </a:ln>
        </p:spPr>
      </p:pic>
      <p:sp>
        <p:nvSpPr>
          <p:cNvPr id="145" name="Google Shape;145;p16"/>
          <p:cNvSpPr txBox="1"/>
          <p:nvPr/>
        </p:nvSpPr>
        <p:spPr>
          <a:xfrm>
            <a:off x="1921297" y="6513376"/>
            <a:ext cx="10058400" cy="1494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r">
              <a:spcBef>
                <a:spcPts val="0"/>
              </a:spcBef>
              <a:spcAft>
                <a:spcPts val="0"/>
              </a:spcAft>
              <a:buNone/>
            </a:pPr>
            <a:r>
              <a:rPr b="0" i="0" lang="en-US" sz="971" u="none" strike="noStrike">
                <a:solidFill>
                  <a:srgbClr val="94A3B8"/>
                </a:solidFill>
                <a:latin typeface="Calibri"/>
                <a:ea typeface="Calibri"/>
                <a:cs typeface="Calibri"/>
                <a:sym typeface="Calibri"/>
              </a:rPr>
              <a:t>OpenSearchCon North America · 2026 · Agentic Search: Reimagining Search from Ingestion to Relevancy</a:t>
            </a:r>
            <a:endParaRPr b="0" i="0" sz="971" u="none" strike="noStrike">
              <a:solidFill>
                <a:srgbClr val="94A3B8"/>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9" name="Shape 149"/>
        <p:cNvGrpSpPr/>
        <p:nvPr/>
      </p:nvGrpSpPr>
      <p:grpSpPr>
        <a:xfrm>
          <a:off x="0" y="0"/>
          <a:ext cx="0" cy="0"/>
          <a:chOff x="0" y="0"/>
          <a:chExt cx="0" cy="0"/>
        </a:xfrm>
      </p:grpSpPr>
      <p:sp>
        <p:nvSpPr>
          <p:cNvPr id="150" name="Google Shape;150;p17"/>
          <p:cNvSpPr/>
          <p:nvPr/>
        </p:nvSpPr>
        <p:spPr>
          <a:xfrm>
            <a:off x="0" y="0"/>
            <a:ext cx="12192000" cy="6858000"/>
          </a:xfrm>
          <a:prstGeom prst="rect">
            <a:avLst/>
          </a:prstGeom>
          <a:solidFill>
            <a:srgbClr val="FFFFFF"/>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nvGrpSpPr>
          <p:cNvPr id="151" name="Google Shape;151;p17"/>
          <p:cNvGrpSpPr/>
          <p:nvPr/>
        </p:nvGrpSpPr>
        <p:grpSpPr>
          <a:xfrm>
            <a:off x="457200" y="457200"/>
            <a:ext cx="9048900" cy="781200"/>
            <a:chOff x="0" y="0"/>
            <a:chExt cx="9048900" cy="781200"/>
          </a:xfrm>
        </p:grpSpPr>
        <p:sp>
          <p:nvSpPr>
            <p:cNvPr id="152" name="Google Shape;152;p17"/>
            <p:cNvSpPr txBox="1"/>
            <p:nvPr/>
          </p:nvSpPr>
          <p:spPr>
            <a:xfrm>
              <a:off x="0" y="0"/>
              <a:ext cx="9048900" cy="2859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i="0" lang="en-US" sz="1350">
                  <a:solidFill>
                    <a:srgbClr val="0369A1"/>
                  </a:solidFill>
                  <a:latin typeface="Calibri"/>
                  <a:ea typeface="Calibri"/>
                  <a:cs typeface="Calibri"/>
                  <a:sym typeface="Calibri"/>
                </a:rPr>
                <a:t>APPENDIX — FULL TOOLSET</a:t>
              </a:r>
              <a:endParaRPr b="1" i="0" sz="1350">
                <a:solidFill>
                  <a:srgbClr val="0369A1"/>
                </a:solidFill>
                <a:latin typeface="Calibri"/>
                <a:ea typeface="Calibri"/>
                <a:cs typeface="Calibri"/>
                <a:sym typeface="Calibri"/>
              </a:endParaRPr>
            </a:p>
          </p:txBody>
        </p:sp>
        <p:sp>
          <p:nvSpPr>
            <p:cNvPr id="153" name="Google Shape;153;p17"/>
            <p:cNvSpPr txBox="1"/>
            <p:nvPr/>
          </p:nvSpPr>
          <p:spPr>
            <a:xfrm>
              <a:off x="0" y="304800"/>
              <a:ext cx="9048900" cy="4764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i="0" lang="en-US" sz="3053">
                  <a:solidFill>
                    <a:srgbClr val="0A2540"/>
                  </a:solidFill>
                  <a:latin typeface="Calibri"/>
                  <a:ea typeface="Calibri"/>
                  <a:cs typeface="Calibri"/>
                  <a:sym typeface="Calibri"/>
                </a:rPr>
                <a:t>Complete Search &amp; Relevancy Capabilities</a:t>
              </a:r>
              <a:endParaRPr b="1" i="0" sz="3053">
                <a:solidFill>
                  <a:srgbClr val="0A2540"/>
                </a:solidFill>
                <a:latin typeface="Calibri"/>
                <a:ea typeface="Calibri"/>
                <a:cs typeface="Calibri"/>
                <a:sym typeface="Calibri"/>
              </a:endParaRPr>
            </a:p>
          </p:txBody>
        </p:sp>
      </p:grpSp>
      <p:pic>
        <p:nvPicPr>
          <p:cNvPr id="154" name="Google Shape;154;p17"/>
          <p:cNvPicPr preferRelativeResize="0"/>
          <p:nvPr/>
        </p:nvPicPr>
        <p:blipFill rotWithShape="1">
          <a:blip r:embed="rId3">
            <a:alphaModFix/>
          </a:blip>
          <a:srcRect b="0" l="0" r="0" t="0"/>
          <a:stretch/>
        </p:blipFill>
        <p:spPr>
          <a:xfrm>
            <a:off x="10059924" y="314173"/>
            <a:ext cx="1644300" cy="645900"/>
          </a:xfrm>
          <a:prstGeom prst="rect">
            <a:avLst/>
          </a:prstGeom>
          <a:noFill/>
          <a:ln>
            <a:noFill/>
          </a:ln>
        </p:spPr>
      </p:pic>
      <p:grpSp>
        <p:nvGrpSpPr>
          <p:cNvPr id="155" name="Google Shape;155;p17"/>
          <p:cNvGrpSpPr/>
          <p:nvPr/>
        </p:nvGrpSpPr>
        <p:grpSpPr>
          <a:xfrm>
            <a:off x="457200" y="1524000"/>
            <a:ext cx="5448300" cy="3429000"/>
            <a:chOff x="0" y="0"/>
            <a:chExt cx="5448300" cy="3429000"/>
          </a:xfrm>
        </p:grpSpPr>
        <p:sp>
          <p:nvSpPr>
            <p:cNvPr id="156" name="Google Shape;156;p17"/>
            <p:cNvSpPr/>
            <p:nvPr/>
          </p:nvSpPr>
          <p:spPr>
            <a:xfrm>
              <a:off x="0" y="0"/>
              <a:ext cx="5448300" cy="3429000"/>
            </a:xfrm>
            <a:prstGeom prst="roundRect">
              <a:avLst>
                <a:gd fmla="val 2222" name="adj"/>
              </a:avLst>
            </a:prstGeom>
            <a:solidFill>
              <a:srgbClr val="F8FAFC"/>
            </a:solidFill>
            <a:ln cap="flat" cmpd="sng" w="95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57" name="Google Shape;157;p17"/>
            <p:cNvSpPr txBox="1"/>
            <p:nvPr/>
          </p:nvSpPr>
          <p:spPr>
            <a:xfrm>
              <a:off x="228600" y="190500"/>
              <a:ext cx="4991100" cy="30480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i="0" lang="en-US" sz="1300">
                  <a:solidFill>
                    <a:srgbClr val="0EA5E9"/>
                  </a:solidFill>
                  <a:latin typeface="Calibri"/>
                  <a:ea typeface="Calibri"/>
                  <a:cs typeface="Calibri"/>
                  <a:sym typeface="Calibri"/>
                </a:rPr>
                <a:t>SEARCH ENGINE INFRASTRUCTURE</a:t>
              </a:r>
              <a:endParaRPr b="1" i="0" sz="1300">
                <a:solidFill>
                  <a:srgbClr val="0EA5E9"/>
                </a:solidFill>
                <a:latin typeface="Calibri"/>
                <a:ea typeface="Calibri"/>
                <a:cs typeface="Calibri"/>
                <a:sym typeface="Calibri"/>
              </a:endParaRPr>
            </a:p>
            <a:p>
              <a:pPr indent="0" lvl="0" marL="0" rtl="0" algn="l">
                <a:spcBef>
                  <a:spcPts val="600"/>
                </a:spcBef>
                <a:spcAft>
                  <a:spcPts val="0"/>
                </a:spcAft>
                <a:buNone/>
              </a:pPr>
              <a:r>
                <a:rPr b="1" i="0" lang="en-US" sz="1650">
                  <a:solidFill>
                    <a:srgbClr val="0A2540"/>
                  </a:solidFill>
                  <a:latin typeface="Calibri"/>
                  <a:ea typeface="Calibri"/>
                  <a:cs typeface="Calibri"/>
                  <a:sym typeface="Calibri"/>
                </a:rPr>
                <a:t>Baseline Relevancy Features</a:t>
              </a:r>
              <a:endParaRPr b="1" i="0" sz="1300">
                <a:solidFill>
                  <a:srgbClr val="0EA5E9"/>
                </a:solidFill>
                <a:latin typeface="Calibri"/>
                <a:ea typeface="Calibri"/>
                <a:cs typeface="Calibri"/>
                <a:sym typeface="Calibri"/>
              </a:endParaRPr>
            </a:p>
            <a:p>
              <a:pPr indent="0" lvl="0" marL="0" rtl="0" algn="l">
                <a:spcBef>
                  <a:spcPts val="800"/>
                </a:spcBef>
                <a:spcAft>
                  <a:spcPts val="0"/>
                </a:spcAft>
                <a:buNone/>
              </a:pPr>
              <a:r>
                <a:rPr b="1" i="0" lang="en-US" sz="1250">
                  <a:solidFill>
                    <a:srgbClr val="0A2540"/>
                  </a:solidFill>
                  <a:latin typeface="Calibri"/>
                  <a:ea typeface="Calibri"/>
                  <a:cs typeface="Calibri"/>
                  <a:sym typeface="Calibri"/>
                </a:rPr>
                <a:t>Type-Ahead &amp; Autocomplete</a:t>
              </a:r>
              <a:endParaRPr b="1" i="0" sz="1250">
                <a:solidFill>
                  <a:srgbClr val="0EA5E9"/>
                </a:solidFill>
                <a:latin typeface="Calibri"/>
                <a:ea typeface="Calibri"/>
                <a:cs typeface="Calibri"/>
                <a:sym typeface="Calibri"/>
              </a:endParaRPr>
            </a:p>
            <a:p>
              <a:pPr indent="0" lvl="0" marL="0" rtl="0" algn="l">
                <a:spcBef>
                  <a:spcPts val="100"/>
                </a:spcBef>
                <a:spcAft>
                  <a:spcPts val="0"/>
                </a:spcAft>
                <a:buNone/>
              </a:pPr>
              <a:r>
                <a:rPr b="0" i="0" lang="en-US" sz="1150">
                  <a:solidFill>
                    <a:srgbClr val="475569"/>
                  </a:solidFill>
                  <a:latin typeface="Calibri"/>
                  <a:ea typeface="Calibri"/>
                  <a:cs typeface="Calibri"/>
                  <a:sym typeface="Calibri"/>
                </a:rPr>
                <a:t>Instant query suggestions and prefix matching as user types.</a:t>
              </a:r>
              <a:endParaRPr b="1" i="0" sz="1150">
                <a:solidFill>
                  <a:srgbClr val="0EA5E9"/>
                </a:solidFill>
                <a:latin typeface="Calibri"/>
                <a:ea typeface="Calibri"/>
                <a:cs typeface="Calibri"/>
                <a:sym typeface="Calibri"/>
              </a:endParaRPr>
            </a:p>
            <a:p>
              <a:pPr indent="0" lvl="0" marL="0" rtl="0" algn="l">
                <a:spcBef>
                  <a:spcPts val="700"/>
                </a:spcBef>
                <a:spcAft>
                  <a:spcPts val="0"/>
                </a:spcAft>
                <a:buNone/>
              </a:pPr>
              <a:r>
                <a:rPr b="1" i="0" lang="en-US" sz="1250">
                  <a:solidFill>
                    <a:srgbClr val="0A2540"/>
                  </a:solidFill>
                  <a:latin typeface="Calibri"/>
                  <a:ea typeface="Calibri"/>
                  <a:cs typeface="Calibri"/>
                  <a:sym typeface="Calibri"/>
                </a:rPr>
                <a:t>Spellcheck &amp; Phonetic Matching</a:t>
              </a:r>
              <a:endParaRPr b="1" i="0" sz="1250">
                <a:solidFill>
                  <a:srgbClr val="0EA5E9"/>
                </a:solidFill>
                <a:latin typeface="Calibri"/>
                <a:ea typeface="Calibri"/>
                <a:cs typeface="Calibri"/>
                <a:sym typeface="Calibri"/>
              </a:endParaRPr>
            </a:p>
            <a:p>
              <a:pPr indent="0" lvl="0" marL="0" rtl="0" algn="l">
                <a:spcBef>
                  <a:spcPts val="100"/>
                </a:spcBef>
                <a:spcAft>
                  <a:spcPts val="0"/>
                </a:spcAft>
                <a:buNone/>
              </a:pPr>
              <a:r>
                <a:rPr b="0" i="0" lang="en-US" sz="1150">
                  <a:solidFill>
                    <a:srgbClr val="475569"/>
                  </a:solidFill>
                  <a:latin typeface="Calibri"/>
                  <a:ea typeface="Calibri"/>
                  <a:cs typeface="Calibri"/>
                  <a:sym typeface="Calibri"/>
                </a:rPr>
                <a:t>Automatic typo correction and sound-alike phonetic indexing.</a:t>
              </a:r>
              <a:endParaRPr b="1" i="0" sz="1150">
                <a:solidFill>
                  <a:srgbClr val="0EA5E9"/>
                </a:solidFill>
                <a:latin typeface="Calibri"/>
                <a:ea typeface="Calibri"/>
                <a:cs typeface="Calibri"/>
                <a:sym typeface="Calibri"/>
              </a:endParaRPr>
            </a:p>
            <a:p>
              <a:pPr indent="0" lvl="0" marL="0" rtl="0" algn="l">
                <a:spcBef>
                  <a:spcPts val="700"/>
                </a:spcBef>
                <a:spcAft>
                  <a:spcPts val="0"/>
                </a:spcAft>
                <a:buNone/>
              </a:pPr>
              <a:r>
                <a:rPr b="1" i="0" lang="en-US" sz="1250">
                  <a:solidFill>
                    <a:srgbClr val="0A2540"/>
                  </a:solidFill>
                  <a:latin typeface="Calibri"/>
                  <a:ea typeface="Calibri"/>
                  <a:cs typeface="Calibri"/>
                  <a:sym typeface="Calibri"/>
                </a:rPr>
                <a:t>Synonyms &amp; Expansion</a:t>
              </a:r>
              <a:endParaRPr b="1" i="0" sz="1250">
                <a:solidFill>
                  <a:srgbClr val="0EA5E9"/>
                </a:solidFill>
                <a:latin typeface="Calibri"/>
                <a:ea typeface="Calibri"/>
                <a:cs typeface="Calibri"/>
                <a:sym typeface="Calibri"/>
              </a:endParaRPr>
            </a:p>
            <a:p>
              <a:pPr indent="0" lvl="0" marL="0" rtl="0" algn="l">
                <a:spcBef>
                  <a:spcPts val="100"/>
                </a:spcBef>
                <a:spcAft>
                  <a:spcPts val="0"/>
                </a:spcAft>
                <a:buNone/>
              </a:pPr>
              <a:r>
                <a:rPr b="0" i="0" lang="en-US" sz="1150">
                  <a:solidFill>
                    <a:srgbClr val="475569"/>
                  </a:solidFill>
                  <a:latin typeface="Calibri"/>
                  <a:ea typeface="Calibri"/>
                  <a:cs typeface="Calibri"/>
                  <a:sym typeface="Calibri"/>
                </a:rPr>
                <a:t>Static and dynamic synonym mappings for domain term alignment.</a:t>
              </a:r>
              <a:endParaRPr b="1" i="0" sz="1150">
                <a:solidFill>
                  <a:srgbClr val="0EA5E9"/>
                </a:solidFill>
                <a:latin typeface="Calibri"/>
                <a:ea typeface="Calibri"/>
                <a:cs typeface="Calibri"/>
                <a:sym typeface="Calibri"/>
              </a:endParaRPr>
            </a:p>
            <a:p>
              <a:pPr indent="0" lvl="0" marL="0" rtl="0" algn="l">
                <a:spcBef>
                  <a:spcPts val="700"/>
                </a:spcBef>
                <a:spcAft>
                  <a:spcPts val="0"/>
                </a:spcAft>
                <a:buNone/>
              </a:pPr>
              <a:r>
                <a:rPr b="1" i="0" lang="en-US" sz="1250">
                  <a:solidFill>
                    <a:srgbClr val="0A2540"/>
                  </a:solidFill>
                  <a:latin typeface="Calibri"/>
                  <a:ea typeface="Calibri"/>
                  <a:cs typeface="Calibri"/>
                  <a:sym typeface="Calibri"/>
                </a:rPr>
                <a:t>Field Boosts &amp; Structural Scoring</a:t>
              </a:r>
              <a:endParaRPr b="1" i="0" sz="1250">
                <a:solidFill>
                  <a:srgbClr val="0EA5E9"/>
                </a:solidFill>
                <a:latin typeface="Calibri"/>
                <a:ea typeface="Calibri"/>
                <a:cs typeface="Calibri"/>
                <a:sym typeface="Calibri"/>
              </a:endParaRPr>
            </a:p>
            <a:p>
              <a:pPr indent="0" lvl="0" marL="0" rtl="0" algn="l">
                <a:spcBef>
                  <a:spcPts val="100"/>
                </a:spcBef>
                <a:spcAft>
                  <a:spcPts val="0"/>
                </a:spcAft>
                <a:buNone/>
              </a:pPr>
              <a:r>
                <a:rPr b="0" i="0" lang="en-US" sz="1150">
                  <a:solidFill>
                    <a:srgbClr val="475569"/>
                  </a:solidFill>
                  <a:latin typeface="Calibri"/>
                  <a:ea typeface="Calibri"/>
                  <a:cs typeface="Calibri"/>
                  <a:sym typeface="Calibri"/>
                </a:rPr>
                <a:t>Weighted field importance (title, brand, specs) in BM25 scoring.</a:t>
              </a:r>
              <a:endParaRPr b="1" i="0" sz="1150">
                <a:solidFill>
                  <a:srgbClr val="0EA5E9"/>
                </a:solidFill>
                <a:latin typeface="Calibri"/>
                <a:ea typeface="Calibri"/>
                <a:cs typeface="Calibri"/>
                <a:sym typeface="Calibri"/>
              </a:endParaRPr>
            </a:p>
          </p:txBody>
        </p:sp>
      </p:grpSp>
      <p:grpSp>
        <p:nvGrpSpPr>
          <p:cNvPr id="158" name="Google Shape;158;p17"/>
          <p:cNvGrpSpPr/>
          <p:nvPr/>
        </p:nvGrpSpPr>
        <p:grpSpPr>
          <a:xfrm>
            <a:off x="6286500" y="1524000"/>
            <a:ext cx="5448300" cy="3429000"/>
            <a:chOff x="0" y="0"/>
            <a:chExt cx="5448300" cy="3429000"/>
          </a:xfrm>
        </p:grpSpPr>
        <p:sp>
          <p:nvSpPr>
            <p:cNvPr id="159" name="Google Shape;159;p17"/>
            <p:cNvSpPr/>
            <p:nvPr/>
          </p:nvSpPr>
          <p:spPr>
            <a:xfrm>
              <a:off x="0" y="0"/>
              <a:ext cx="5448300" cy="3429000"/>
            </a:xfrm>
            <a:prstGeom prst="roundRect">
              <a:avLst>
                <a:gd fmla="val 2222" name="adj"/>
              </a:avLst>
            </a:prstGeom>
            <a:solidFill>
              <a:srgbClr val="F8FAFC"/>
            </a:solidFill>
            <a:ln cap="flat" cmpd="sng" w="95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60" name="Google Shape;160;p17"/>
            <p:cNvSpPr txBox="1"/>
            <p:nvPr/>
          </p:nvSpPr>
          <p:spPr>
            <a:xfrm>
              <a:off x="228600" y="190500"/>
              <a:ext cx="4991100" cy="30480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i="0" lang="en-US" sz="1300">
                  <a:solidFill>
                    <a:srgbClr val="0EA5E9"/>
                  </a:solidFill>
                  <a:latin typeface="Calibri"/>
                  <a:ea typeface="Calibri"/>
                  <a:cs typeface="Calibri"/>
                  <a:sym typeface="Calibri"/>
                </a:rPr>
                <a:t>AUTONOMOUS ORCHESTRATION</a:t>
              </a:r>
              <a:endParaRPr b="1" i="0" sz="1300">
                <a:solidFill>
                  <a:srgbClr val="0EA5E9"/>
                </a:solidFill>
                <a:latin typeface="Calibri"/>
                <a:ea typeface="Calibri"/>
                <a:cs typeface="Calibri"/>
                <a:sym typeface="Calibri"/>
              </a:endParaRPr>
            </a:p>
            <a:p>
              <a:pPr indent="0" lvl="0" marL="0" rtl="0" algn="l">
                <a:spcBef>
                  <a:spcPts val="600"/>
                </a:spcBef>
                <a:spcAft>
                  <a:spcPts val="0"/>
                </a:spcAft>
                <a:buNone/>
              </a:pPr>
              <a:r>
                <a:rPr b="1" i="0" lang="en-US" sz="1650">
                  <a:solidFill>
                    <a:srgbClr val="0A2540"/>
                  </a:solidFill>
                  <a:latin typeface="Calibri"/>
                  <a:ea typeface="Calibri"/>
                  <a:cs typeface="Calibri"/>
                  <a:sym typeface="Calibri"/>
                </a:rPr>
                <a:t>Agentic &amp; Evaluator-Driven Layer</a:t>
              </a:r>
              <a:endParaRPr b="1" i="0" sz="1300">
                <a:solidFill>
                  <a:srgbClr val="0EA5E9"/>
                </a:solidFill>
                <a:latin typeface="Calibri"/>
                <a:ea typeface="Calibri"/>
                <a:cs typeface="Calibri"/>
                <a:sym typeface="Calibri"/>
              </a:endParaRPr>
            </a:p>
            <a:p>
              <a:pPr indent="0" lvl="0" marL="0" rtl="0" algn="l">
                <a:spcBef>
                  <a:spcPts val="800"/>
                </a:spcBef>
                <a:spcAft>
                  <a:spcPts val="0"/>
                </a:spcAft>
                <a:buNone/>
              </a:pPr>
              <a:r>
                <a:rPr b="1" i="0" lang="en-US" sz="1250">
                  <a:solidFill>
                    <a:srgbClr val="0A2540"/>
                  </a:solidFill>
                  <a:latin typeface="Calibri"/>
                  <a:ea typeface="Calibri"/>
                  <a:cs typeface="Calibri"/>
                  <a:sym typeface="Calibri"/>
                </a:rPr>
                <a:t>Intent Classification &amp; Alpha Weighting</a:t>
              </a:r>
              <a:endParaRPr b="1" i="0" sz="1250">
                <a:solidFill>
                  <a:srgbClr val="0EA5E9"/>
                </a:solidFill>
                <a:latin typeface="Calibri"/>
                <a:ea typeface="Calibri"/>
                <a:cs typeface="Calibri"/>
                <a:sym typeface="Calibri"/>
              </a:endParaRPr>
            </a:p>
            <a:p>
              <a:pPr indent="0" lvl="0" marL="0" rtl="0" algn="l">
                <a:spcBef>
                  <a:spcPts val="100"/>
                </a:spcBef>
                <a:spcAft>
                  <a:spcPts val="0"/>
                </a:spcAft>
                <a:buNone/>
              </a:pPr>
              <a:r>
                <a:rPr b="0" i="0" lang="en-US" sz="1150">
                  <a:solidFill>
                    <a:srgbClr val="475569"/>
                  </a:solidFill>
                  <a:latin typeface="Calibri"/>
                  <a:ea typeface="Calibri"/>
                  <a:cs typeface="Calibri"/>
                  <a:sym typeface="Calibri"/>
                </a:rPr>
                <a:t>Dynamic hybrid search balancing (dense vector vs sparse keyword).</a:t>
              </a:r>
              <a:endParaRPr b="1" i="0" sz="1150">
                <a:solidFill>
                  <a:srgbClr val="0EA5E9"/>
                </a:solidFill>
                <a:latin typeface="Calibri"/>
                <a:ea typeface="Calibri"/>
                <a:cs typeface="Calibri"/>
                <a:sym typeface="Calibri"/>
              </a:endParaRPr>
            </a:p>
            <a:p>
              <a:pPr indent="0" lvl="0" marL="0" rtl="0" algn="l">
                <a:spcBef>
                  <a:spcPts val="700"/>
                </a:spcBef>
                <a:spcAft>
                  <a:spcPts val="0"/>
                </a:spcAft>
                <a:buNone/>
              </a:pPr>
              <a:r>
                <a:rPr b="1" i="0" lang="en-US" sz="1250">
                  <a:solidFill>
                    <a:srgbClr val="0A2540"/>
                  </a:solidFill>
                  <a:latin typeface="Calibri"/>
                  <a:ea typeface="Calibri"/>
                  <a:cs typeface="Calibri"/>
                  <a:sym typeface="Calibri"/>
                </a:rPr>
                <a:t>Cross-Encoder Reranking &amp; Quality-Gate Retry</a:t>
              </a:r>
              <a:endParaRPr b="1" i="0" sz="1250">
                <a:solidFill>
                  <a:srgbClr val="0EA5E9"/>
                </a:solidFill>
                <a:latin typeface="Calibri"/>
                <a:ea typeface="Calibri"/>
                <a:cs typeface="Calibri"/>
                <a:sym typeface="Calibri"/>
              </a:endParaRPr>
            </a:p>
            <a:p>
              <a:pPr indent="0" lvl="0" marL="0" rtl="0" algn="l">
                <a:spcBef>
                  <a:spcPts val="100"/>
                </a:spcBef>
                <a:spcAft>
                  <a:spcPts val="0"/>
                </a:spcAft>
                <a:buNone/>
              </a:pPr>
              <a:r>
                <a:rPr b="0" i="0" lang="en-US" sz="1150">
                  <a:solidFill>
                    <a:srgbClr val="475569"/>
                  </a:solidFill>
                  <a:latin typeface="Calibri"/>
                  <a:ea typeface="Calibri"/>
                  <a:cs typeface="Calibri"/>
                  <a:sym typeface="Calibri"/>
                </a:rPr>
                <a:t>Precision reranking with single-bounded retry logic on low confidence.</a:t>
              </a:r>
              <a:endParaRPr b="1" i="0" sz="1150">
                <a:solidFill>
                  <a:srgbClr val="0EA5E9"/>
                </a:solidFill>
                <a:latin typeface="Calibri"/>
                <a:ea typeface="Calibri"/>
                <a:cs typeface="Calibri"/>
                <a:sym typeface="Calibri"/>
              </a:endParaRPr>
            </a:p>
            <a:p>
              <a:pPr indent="0" lvl="0" marL="0" rtl="0" algn="l">
                <a:spcBef>
                  <a:spcPts val="700"/>
                </a:spcBef>
                <a:spcAft>
                  <a:spcPts val="0"/>
                </a:spcAft>
                <a:buNone/>
              </a:pPr>
              <a:r>
                <a:rPr b="1" i="0" lang="en-US" sz="1250">
                  <a:solidFill>
                    <a:srgbClr val="0A2540"/>
                  </a:solidFill>
                  <a:latin typeface="Calibri"/>
                  <a:ea typeface="Calibri"/>
                  <a:cs typeface="Calibri"/>
                  <a:sym typeface="Calibri"/>
                </a:rPr>
                <a:t>Taxonomy Growth &amp; Schema Correction</a:t>
              </a:r>
              <a:endParaRPr b="1" i="0" sz="1250">
                <a:solidFill>
                  <a:srgbClr val="0EA5E9"/>
                </a:solidFill>
                <a:latin typeface="Calibri"/>
                <a:ea typeface="Calibri"/>
                <a:cs typeface="Calibri"/>
                <a:sym typeface="Calibri"/>
              </a:endParaRPr>
            </a:p>
            <a:p>
              <a:pPr indent="0" lvl="0" marL="0" rtl="0" algn="l">
                <a:spcBef>
                  <a:spcPts val="100"/>
                </a:spcBef>
                <a:spcAft>
                  <a:spcPts val="0"/>
                </a:spcAft>
                <a:buNone/>
              </a:pPr>
              <a:r>
                <a:rPr b="0" i="0" lang="en-US" sz="1150">
                  <a:solidFill>
                    <a:srgbClr val="475569"/>
                  </a:solidFill>
                  <a:latin typeface="Calibri"/>
                  <a:ea typeface="Calibri"/>
                  <a:cs typeface="Calibri"/>
                  <a:sym typeface="Calibri"/>
                </a:rPr>
                <a:t>Live catalog enrichment extracting missing attributes from raw text.</a:t>
              </a:r>
              <a:endParaRPr b="1" i="0" sz="1150">
                <a:solidFill>
                  <a:srgbClr val="0EA5E9"/>
                </a:solidFill>
                <a:latin typeface="Calibri"/>
                <a:ea typeface="Calibri"/>
                <a:cs typeface="Calibri"/>
                <a:sym typeface="Calibri"/>
              </a:endParaRPr>
            </a:p>
            <a:p>
              <a:pPr indent="0" lvl="0" marL="0" rtl="0" algn="l">
                <a:spcBef>
                  <a:spcPts val="700"/>
                </a:spcBef>
                <a:spcAft>
                  <a:spcPts val="0"/>
                </a:spcAft>
                <a:buNone/>
              </a:pPr>
              <a:r>
                <a:rPr b="1" i="0" lang="en-US" sz="1250">
                  <a:solidFill>
                    <a:srgbClr val="0A2540"/>
                  </a:solidFill>
                  <a:latin typeface="Calibri"/>
                  <a:ea typeface="Calibri"/>
                  <a:cs typeface="Calibri"/>
                  <a:sym typeface="Calibri"/>
                </a:rPr>
                <a:t>LLM Judge &amp; ESCI Evaluation</a:t>
              </a:r>
              <a:endParaRPr b="1" i="0" sz="1250">
                <a:solidFill>
                  <a:srgbClr val="0EA5E9"/>
                </a:solidFill>
                <a:latin typeface="Calibri"/>
                <a:ea typeface="Calibri"/>
                <a:cs typeface="Calibri"/>
                <a:sym typeface="Calibri"/>
              </a:endParaRPr>
            </a:p>
            <a:p>
              <a:pPr indent="0" lvl="0" marL="0" rtl="0" algn="l">
                <a:spcBef>
                  <a:spcPts val="100"/>
                </a:spcBef>
                <a:spcAft>
                  <a:spcPts val="0"/>
                </a:spcAft>
                <a:buNone/>
              </a:pPr>
              <a:r>
                <a:rPr b="0" i="0" lang="en-US" sz="1150">
                  <a:solidFill>
                    <a:srgbClr val="475569"/>
                  </a:solidFill>
                  <a:latin typeface="Calibri"/>
                  <a:ea typeface="Calibri"/>
                  <a:cs typeface="Calibri"/>
                  <a:sym typeface="Calibri"/>
                </a:rPr>
                <a:t>Continuous relevancy scoring and judgment-driven diagnostic feedback.</a:t>
              </a:r>
              <a:endParaRPr b="1" i="0" sz="1150">
                <a:solidFill>
                  <a:srgbClr val="0EA5E9"/>
                </a:solidFill>
                <a:latin typeface="Calibri"/>
                <a:ea typeface="Calibri"/>
                <a:cs typeface="Calibri"/>
                <a:sym typeface="Calibri"/>
              </a:endParaRPr>
            </a:p>
          </p:txBody>
        </p:sp>
      </p:grpSp>
      <p:grpSp>
        <p:nvGrpSpPr>
          <p:cNvPr id="161" name="Google Shape;161;p17"/>
          <p:cNvGrpSpPr/>
          <p:nvPr/>
        </p:nvGrpSpPr>
        <p:grpSpPr>
          <a:xfrm>
            <a:off x="457200" y="5143500"/>
            <a:ext cx="11277600" cy="952500"/>
            <a:chOff x="0" y="0"/>
            <a:chExt cx="11277600" cy="952500"/>
          </a:xfrm>
        </p:grpSpPr>
        <p:sp>
          <p:nvSpPr>
            <p:cNvPr id="162" name="Google Shape;162;p17"/>
            <p:cNvSpPr/>
            <p:nvPr/>
          </p:nvSpPr>
          <p:spPr>
            <a:xfrm>
              <a:off x="0" y="0"/>
              <a:ext cx="11277600" cy="952500"/>
            </a:xfrm>
            <a:prstGeom prst="roundRect">
              <a:avLst>
                <a:gd fmla="val 8000" name="adj"/>
              </a:avLst>
            </a:prstGeom>
            <a:solidFill>
              <a:srgbClr val="0A2540"/>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63" name="Google Shape;163;p17"/>
            <p:cNvSpPr txBox="1"/>
            <p:nvPr/>
          </p:nvSpPr>
          <p:spPr>
            <a:xfrm>
              <a:off x="304800" y="152400"/>
              <a:ext cx="10668000" cy="6477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l">
                <a:spcBef>
                  <a:spcPts val="0"/>
                </a:spcBef>
                <a:spcAft>
                  <a:spcPts val="0"/>
                </a:spcAft>
                <a:buNone/>
              </a:pPr>
              <a:r>
                <a:rPr b="1" i="0" lang="en-US" sz="1100">
                  <a:solidFill>
                    <a:srgbClr val="0EA5E9"/>
                  </a:solidFill>
                  <a:latin typeface="Calibri"/>
                  <a:ea typeface="Calibri"/>
                  <a:cs typeface="Calibri"/>
                  <a:sym typeface="Calibri"/>
                </a:rPr>
                <a:t>ARCHITECTURE SUMMARY</a:t>
              </a:r>
              <a:endParaRPr b="1" i="0" sz="1100">
                <a:solidFill>
                  <a:srgbClr val="0EA5E9"/>
                </a:solidFill>
                <a:latin typeface="Calibri"/>
                <a:ea typeface="Calibri"/>
                <a:cs typeface="Calibri"/>
                <a:sym typeface="Calibri"/>
              </a:endParaRPr>
            </a:p>
            <a:p>
              <a:pPr indent="0" lvl="0" marL="0" rtl="0" algn="l">
                <a:spcBef>
                  <a:spcPts val="300"/>
                </a:spcBef>
                <a:spcAft>
                  <a:spcPts val="0"/>
                </a:spcAft>
                <a:buNone/>
              </a:pPr>
              <a:r>
                <a:rPr b="0" i="0" lang="en-US" sz="1350">
                  <a:solidFill>
                    <a:srgbClr val="FFFFFF"/>
                  </a:solidFill>
                  <a:latin typeface="Calibri"/>
                  <a:ea typeface="Calibri"/>
                  <a:cs typeface="Calibri"/>
                  <a:sym typeface="Calibri"/>
                </a:rPr>
                <a:t>Combining foundational search mechanics with an agentic feedback loop ensures high baseline retrieval while continuously self-correcting schema and relevancy gaps.</a:t>
              </a:r>
              <a:endParaRPr b="1" i="0" sz="1100">
                <a:solidFill>
                  <a:srgbClr val="0EA5E9"/>
                </a:solidFill>
                <a:latin typeface="Calibri"/>
                <a:ea typeface="Calibri"/>
                <a:cs typeface="Calibri"/>
                <a:sym typeface="Calibri"/>
              </a:endParaRPr>
            </a:p>
          </p:txBody>
        </p:sp>
      </p:grpSp>
      <p:sp>
        <p:nvSpPr>
          <p:cNvPr id="164" name="Google Shape;164;p17"/>
          <p:cNvSpPr txBox="1"/>
          <p:nvPr/>
        </p:nvSpPr>
        <p:spPr>
          <a:xfrm>
            <a:off x="1921297" y="6513376"/>
            <a:ext cx="10058400" cy="1716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r">
              <a:spcBef>
                <a:spcPts val="0"/>
              </a:spcBef>
              <a:spcAft>
                <a:spcPts val="0"/>
              </a:spcAft>
              <a:buNone/>
            </a:pPr>
            <a:r>
              <a:rPr b="0" i="0" lang="en-US" sz="1000">
                <a:solidFill>
                  <a:srgbClr val="94A3B8"/>
                </a:solidFill>
                <a:latin typeface="Calibri"/>
                <a:ea typeface="Calibri"/>
                <a:cs typeface="Calibri"/>
                <a:sym typeface="Calibri"/>
              </a:rPr>
              <a:t>OpenSearchCon North America · 2026 · Agentic Search: Reimagining Search from Ingestion to Relevancy</a:t>
            </a:r>
            <a:endParaRPr b="0" i="0" sz="1000">
              <a:solidFill>
                <a:srgbClr val="94A3B8"/>
              </a:solidFill>
              <a:latin typeface="Calibri"/>
              <a:ea typeface="Calibri"/>
              <a:cs typeface="Calibri"/>
              <a:sym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8" name="Shape 168"/>
        <p:cNvGrpSpPr/>
        <p:nvPr/>
      </p:nvGrpSpPr>
      <p:grpSpPr>
        <a:xfrm>
          <a:off x="0" y="0"/>
          <a:ext cx="0" cy="0"/>
          <a:chOff x="0" y="0"/>
          <a:chExt cx="0" cy="0"/>
        </a:xfrm>
      </p:grpSpPr>
      <p:sp>
        <p:nvSpPr>
          <p:cNvPr id="169" name="Google Shape;169;p18"/>
          <p:cNvSpPr/>
          <p:nvPr/>
        </p:nvSpPr>
        <p:spPr>
          <a:xfrm>
            <a:off x="0" y="0"/>
            <a:ext cx="12192000" cy="6858000"/>
          </a:xfrm>
          <a:prstGeom prst="rect">
            <a:avLst/>
          </a:prstGeom>
          <a:solidFill>
            <a:srgbClr val="FFFFFF"/>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70" name="Google Shape;170;p18"/>
          <p:cNvSpPr txBox="1"/>
          <p:nvPr/>
        </p:nvSpPr>
        <p:spPr>
          <a:xfrm>
            <a:off x="457200" y="571500"/>
            <a:ext cx="11277600" cy="1905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i="0" lang="en-US" sz="1190">
                <a:solidFill>
                  <a:srgbClr val="0369A1"/>
                </a:solidFill>
                <a:latin typeface="Calibri"/>
                <a:ea typeface="Calibri"/>
                <a:cs typeface="Calibri"/>
                <a:sym typeface="Calibri"/>
              </a:rPr>
              <a:t>TALK THESIS</a:t>
            </a:r>
            <a:endParaRPr b="1" i="0" sz="1190">
              <a:solidFill>
                <a:srgbClr val="0369A1"/>
              </a:solidFill>
              <a:latin typeface="Calibri"/>
              <a:ea typeface="Calibri"/>
              <a:cs typeface="Calibri"/>
              <a:sym typeface="Calibri"/>
            </a:endParaRPr>
          </a:p>
        </p:txBody>
      </p:sp>
      <p:sp>
        <p:nvSpPr>
          <p:cNvPr id="171" name="Google Shape;171;p18"/>
          <p:cNvSpPr txBox="1"/>
          <p:nvPr/>
        </p:nvSpPr>
        <p:spPr>
          <a:xfrm>
            <a:off x="457200" y="809625"/>
            <a:ext cx="11277600" cy="5238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i="0" lang="en-US" sz="3330">
                <a:solidFill>
                  <a:srgbClr val="0A2540"/>
                </a:solidFill>
                <a:latin typeface="Calibri"/>
                <a:ea typeface="Calibri"/>
                <a:cs typeface="Calibri"/>
                <a:sym typeface="Calibri"/>
              </a:rPr>
              <a:t>When does a search agent become genuinely agentic?</a:t>
            </a:r>
            <a:endParaRPr b="1" i="0" sz="3330">
              <a:solidFill>
                <a:srgbClr val="0A2540"/>
              </a:solidFill>
              <a:latin typeface="Calibri"/>
              <a:ea typeface="Calibri"/>
              <a:cs typeface="Calibri"/>
              <a:sym typeface="Calibri"/>
            </a:endParaRPr>
          </a:p>
        </p:txBody>
      </p:sp>
      <p:grpSp>
        <p:nvGrpSpPr>
          <p:cNvPr id="172" name="Google Shape;172;p18"/>
          <p:cNvGrpSpPr/>
          <p:nvPr/>
        </p:nvGrpSpPr>
        <p:grpSpPr>
          <a:xfrm>
            <a:off x="457200" y="1476375"/>
            <a:ext cx="11277600" cy="1047900"/>
            <a:chOff x="0" y="0"/>
            <a:chExt cx="11277600" cy="1047900"/>
          </a:xfrm>
        </p:grpSpPr>
        <p:sp>
          <p:nvSpPr>
            <p:cNvPr id="173" name="Google Shape;173;p18"/>
            <p:cNvSpPr/>
            <p:nvPr/>
          </p:nvSpPr>
          <p:spPr>
            <a:xfrm>
              <a:off x="0" y="0"/>
              <a:ext cx="11277600" cy="1047900"/>
            </a:xfrm>
            <a:prstGeom prst="roundRect">
              <a:avLst>
                <a:gd fmla="val 7272" name="adj"/>
              </a:avLst>
            </a:prstGeom>
            <a:solidFill>
              <a:srgbClr val="F8FAFC"/>
            </a:solidFill>
            <a:ln cap="flat" cmpd="sng" w="95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74" name="Google Shape;174;p18"/>
            <p:cNvSpPr txBox="1"/>
            <p:nvPr/>
          </p:nvSpPr>
          <p:spPr>
            <a:xfrm>
              <a:off x="266700" y="0"/>
              <a:ext cx="10744200" cy="10479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l">
                <a:spcBef>
                  <a:spcPts val="0"/>
                </a:spcBef>
                <a:spcAft>
                  <a:spcPts val="0"/>
                </a:spcAft>
                <a:buNone/>
              </a:pPr>
              <a:r>
                <a:rPr b="1" i="0" lang="en-US" sz="2800">
                  <a:solidFill>
                    <a:srgbClr val="0A2540"/>
                  </a:solidFill>
                  <a:latin typeface="Calibri"/>
                  <a:ea typeface="Calibri"/>
                  <a:cs typeface="Calibri"/>
                  <a:sym typeface="Calibri"/>
                </a:rPr>
                <a:t>“When it can improve results on the fly — and fix the catalog itself.”</a:t>
              </a:r>
              <a:endParaRPr b="1" i="0" sz="2800">
                <a:solidFill>
                  <a:srgbClr val="0A2540"/>
                </a:solidFill>
                <a:latin typeface="Calibri"/>
                <a:ea typeface="Calibri"/>
                <a:cs typeface="Calibri"/>
                <a:sym typeface="Calibri"/>
              </a:endParaRPr>
            </a:p>
          </p:txBody>
        </p:sp>
      </p:grpSp>
      <p:grpSp>
        <p:nvGrpSpPr>
          <p:cNvPr id="175" name="Google Shape;175;p18"/>
          <p:cNvGrpSpPr/>
          <p:nvPr/>
        </p:nvGrpSpPr>
        <p:grpSpPr>
          <a:xfrm>
            <a:off x="866613" y="2738475"/>
            <a:ext cx="10458450" cy="1762200"/>
            <a:chOff x="457200" y="2667000"/>
            <a:chExt cx="10458450" cy="1762200"/>
          </a:xfrm>
        </p:grpSpPr>
        <p:grpSp>
          <p:nvGrpSpPr>
            <p:cNvPr id="176" name="Google Shape;176;p18"/>
            <p:cNvGrpSpPr/>
            <p:nvPr/>
          </p:nvGrpSpPr>
          <p:grpSpPr>
            <a:xfrm>
              <a:off x="457200" y="2667000"/>
              <a:ext cx="1333500" cy="1762200"/>
              <a:chOff x="0" y="0"/>
              <a:chExt cx="1333500" cy="1762200"/>
            </a:xfrm>
          </p:grpSpPr>
          <p:sp>
            <p:nvSpPr>
              <p:cNvPr id="177" name="Google Shape;177;p18"/>
              <p:cNvSpPr/>
              <p:nvPr/>
            </p:nvSpPr>
            <p:spPr>
              <a:xfrm>
                <a:off x="0" y="0"/>
                <a:ext cx="1333500" cy="1762200"/>
              </a:xfrm>
              <a:prstGeom prst="roundRect">
                <a:avLst>
                  <a:gd fmla="val 5714" name="adj"/>
                </a:avLst>
              </a:prstGeom>
              <a:solidFill>
                <a:srgbClr val="F8FAFC"/>
              </a:solidFill>
              <a:ln cap="flat" cmpd="sng" w="95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ctr">
                  <a:spcBef>
                    <a:spcPts val="0"/>
                  </a:spcBef>
                  <a:spcAft>
                    <a:spcPts val="0"/>
                  </a:spcAft>
                  <a:buNone/>
                </a:pPr>
                <a:r>
                  <a:t/>
                </a:r>
                <a:endParaRPr/>
              </a:p>
            </p:txBody>
          </p:sp>
          <p:sp>
            <p:nvSpPr>
              <p:cNvPr id="178" name="Google Shape;178;p18"/>
              <p:cNvSpPr txBox="1"/>
              <p:nvPr/>
            </p:nvSpPr>
            <p:spPr>
              <a:xfrm>
                <a:off x="0" y="0"/>
                <a:ext cx="1333500" cy="1762200"/>
              </a:xfrm>
              <a:prstGeom prst="rect">
                <a:avLst/>
              </a:prstGeom>
              <a:solidFill>
                <a:srgbClr val="000000">
                  <a:alpha val="0"/>
                </a:srgbClr>
              </a:solidFill>
              <a:ln>
                <a:noFill/>
              </a:ln>
            </p:spPr>
            <p:txBody>
              <a:bodyPr anchorCtr="0" anchor="t" bIns="152400" lIns="76200" spcFirstLastPara="1" rIns="76200" wrap="square" tIns="228600">
                <a:noAutofit/>
              </a:bodyPr>
              <a:lstStyle/>
              <a:p>
                <a:pPr indent="0" lvl="0" marL="0" rtl="0" algn="ctr">
                  <a:spcBef>
                    <a:spcPts val="0"/>
                  </a:spcBef>
                  <a:spcAft>
                    <a:spcPts val="0"/>
                  </a:spcAft>
                  <a:buNone/>
                </a:pPr>
                <a:r>
                  <a:rPr b="1" i="0" lang="en-US" sz="2200">
                    <a:solidFill>
                      <a:srgbClr val="0EA5E9"/>
                    </a:solidFill>
                    <a:latin typeface="Calibri"/>
                    <a:ea typeface="Calibri"/>
                    <a:cs typeface="Calibri"/>
                    <a:sym typeface="Calibri"/>
                  </a:rPr>
                  <a:t>01</a:t>
                </a:r>
                <a:endParaRPr b="1" i="0" sz="2200">
                  <a:solidFill>
                    <a:srgbClr val="0EA5E9"/>
                  </a:solidFill>
                  <a:latin typeface="Calibri"/>
                  <a:ea typeface="Calibri"/>
                  <a:cs typeface="Calibri"/>
                  <a:sym typeface="Calibri"/>
                </a:endParaRPr>
              </a:p>
              <a:p>
                <a:pPr indent="0" lvl="0" marL="0" rtl="0" algn="ctr">
                  <a:spcBef>
                    <a:spcPts val="600"/>
                  </a:spcBef>
                  <a:spcAft>
                    <a:spcPts val="600"/>
                  </a:spcAft>
                  <a:buNone/>
                </a:pPr>
                <a:r>
                  <a:rPr b="1" i="0" lang="en-US" sz="1600">
                    <a:solidFill>
                      <a:srgbClr val="0A2540"/>
                    </a:solidFill>
                    <a:latin typeface="Calibri"/>
                    <a:ea typeface="Calibri"/>
                    <a:cs typeface="Calibri"/>
                    <a:sym typeface="Calibri"/>
                  </a:rPr>
                  <a:t>Classify intent</a:t>
                </a:r>
                <a:endParaRPr b="1" i="0" sz="1600">
                  <a:solidFill>
                    <a:srgbClr val="0EA5E9"/>
                  </a:solidFill>
                  <a:latin typeface="Calibri"/>
                  <a:ea typeface="Calibri"/>
                  <a:cs typeface="Calibri"/>
                  <a:sym typeface="Calibri"/>
                </a:endParaRPr>
              </a:p>
            </p:txBody>
          </p:sp>
        </p:grpSp>
        <p:grpSp>
          <p:nvGrpSpPr>
            <p:cNvPr id="179" name="Google Shape;179;p18"/>
            <p:cNvGrpSpPr/>
            <p:nvPr/>
          </p:nvGrpSpPr>
          <p:grpSpPr>
            <a:xfrm>
              <a:off x="1962150" y="2667000"/>
              <a:ext cx="1333500" cy="1762200"/>
              <a:chOff x="0" y="0"/>
              <a:chExt cx="1333500" cy="1762200"/>
            </a:xfrm>
          </p:grpSpPr>
          <p:sp>
            <p:nvSpPr>
              <p:cNvPr id="180" name="Google Shape;180;p18"/>
              <p:cNvSpPr/>
              <p:nvPr/>
            </p:nvSpPr>
            <p:spPr>
              <a:xfrm>
                <a:off x="0" y="0"/>
                <a:ext cx="1333500" cy="1762200"/>
              </a:xfrm>
              <a:prstGeom prst="roundRect">
                <a:avLst>
                  <a:gd fmla="val 5714" name="adj"/>
                </a:avLst>
              </a:prstGeom>
              <a:solidFill>
                <a:srgbClr val="F8FAFC"/>
              </a:solidFill>
              <a:ln cap="flat" cmpd="sng" w="95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ctr">
                  <a:spcBef>
                    <a:spcPts val="0"/>
                  </a:spcBef>
                  <a:spcAft>
                    <a:spcPts val="0"/>
                  </a:spcAft>
                  <a:buNone/>
                </a:pPr>
                <a:r>
                  <a:t/>
                </a:r>
                <a:endParaRPr/>
              </a:p>
            </p:txBody>
          </p:sp>
          <p:sp>
            <p:nvSpPr>
              <p:cNvPr id="181" name="Google Shape;181;p18"/>
              <p:cNvSpPr txBox="1"/>
              <p:nvPr/>
            </p:nvSpPr>
            <p:spPr>
              <a:xfrm>
                <a:off x="0" y="0"/>
                <a:ext cx="1333500" cy="1762200"/>
              </a:xfrm>
              <a:prstGeom prst="rect">
                <a:avLst/>
              </a:prstGeom>
              <a:solidFill>
                <a:srgbClr val="000000">
                  <a:alpha val="0"/>
                </a:srgbClr>
              </a:solidFill>
              <a:ln>
                <a:noFill/>
              </a:ln>
            </p:spPr>
            <p:txBody>
              <a:bodyPr anchorCtr="0" anchor="t" bIns="152400" lIns="76200" spcFirstLastPara="1" rIns="76200" wrap="square" tIns="228600">
                <a:noAutofit/>
              </a:bodyPr>
              <a:lstStyle/>
              <a:p>
                <a:pPr indent="0" lvl="0" marL="0" rtl="0" algn="ctr">
                  <a:spcBef>
                    <a:spcPts val="0"/>
                  </a:spcBef>
                  <a:spcAft>
                    <a:spcPts val="0"/>
                  </a:spcAft>
                  <a:buNone/>
                </a:pPr>
                <a:r>
                  <a:rPr b="1" i="0" lang="en-US" sz="2200">
                    <a:solidFill>
                      <a:srgbClr val="0EA5E9"/>
                    </a:solidFill>
                    <a:latin typeface="Calibri"/>
                    <a:ea typeface="Calibri"/>
                    <a:cs typeface="Calibri"/>
                    <a:sym typeface="Calibri"/>
                  </a:rPr>
                  <a:t>02</a:t>
                </a:r>
                <a:endParaRPr b="1" i="0" sz="2200">
                  <a:solidFill>
                    <a:srgbClr val="0EA5E9"/>
                  </a:solidFill>
                  <a:latin typeface="Calibri"/>
                  <a:ea typeface="Calibri"/>
                  <a:cs typeface="Calibri"/>
                  <a:sym typeface="Calibri"/>
                </a:endParaRPr>
              </a:p>
              <a:p>
                <a:pPr indent="0" lvl="0" marL="0" rtl="0" algn="ctr">
                  <a:spcBef>
                    <a:spcPts val="600"/>
                  </a:spcBef>
                  <a:spcAft>
                    <a:spcPts val="600"/>
                  </a:spcAft>
                  <a:buNone/>
                </a:pPr>
                <a:r>
                  <a:rPr b="1" i="0" lang="en-US" sz="1600">
                    <a:solidFill>
                      <a:srgbClr val="0A2540"/>
                    </a:solidFill>
                    <a:latin typeface="Calibri"/>
                    <a:ea typeface="Calibri"/>
                    <a:cs typeface="Calibri"/>
                    <a:sym typeface="Calibri"/>
                  </a:rPr>
                  <a:t>Retrieve</a:t>
                </a:r>
                <a:endParaRPr b="1" i="0" sz="1600">
                  <a:solidFill>
                    <a:srgbClr val="0EA5E9"/>
                  </a:solidFill>
                  <a:latin typeface="Calibri"/>
                  <a:ea typeface="Calibri"/>
                  <a:cs typeface="Calibri"/>
                  <a:sym typeface="Calibri"/>
                </a:endParaRPr>
              </a:p>
            </p:txBody>
          </p:sp>
        </p:grpSp>
        <p:grpSp>
          <p:nvGrpSpPr>
            <p:cNvPr id="182" name="Google Shape;182;p18"/>
            <p:cNvGrpSpPr/>
            <p:nvPr/>
          </p:nvGrpSpPr>
          <p:grpSpPr>
            <a:xfrm>
              <a:off x="3467100" y="2667000"/>
              <a:ext cx="1333500" cy="1762200"/>
              <a:chOff x="0" y="0"/>
              <a:chExt cx="1333500" cy="1762200"/>
            </a:xfrm>
          </p:grpSpPr>
          <p:sp>
            <p:nvSpPr>
              <p:cNvPr id="183" name="Google Shape;183;p18"/>
              <p:cNvSpPr/>
              <p:nvPr/>
            </p:nvSpPr>
            <p:spPr>
              <a:xfrm>
                <a:off x="0" y="0"/>
                <a:ext cx="1333500" cy="1762200"/>
              </a:xfrm>
              <a:prstGeom prst="roundRect">
                <a:avLst>
                  <a:gd fmla="val 5714" name="adj"/>
                </a:avLst>
              </a:prstGeom>
              <a:solidFill>
                <a:srgbClr val="F8FAFC"/>
              </a:solidFill>
              <a:ln cap="flat" cmpd="sng" w="95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ctr">
                  <a:spcBef>
                    <a:spcPts val="0"/>
                  </a:spcBef>
                  <a:spcAft>
                    <a:spcPts val="0"/>
                  </a:spcAft>
                  <a:buNone/>
                </a:pPr>
                <a:r>
                  <a:t/>
                </a:r>
                <a:endParaRPr/>
              </a:p>
            </p:txBody>
          </p:sp>
          <p:sp>
            <p:nvSpPr>
              <p:cNvPr id="184" name="Google Shape;184;p18"/>
              <p:cNvSpPr txBox="1"/>
              <p:nvPr/>
            </p:nvSpPr>
            <p:spPr>
              <a:xfrm>
                <a:off x="0" y="0"/>
                <a:ext cx="1333500" cy="1762200"/>
              </a:xfrm>
              <a:prstGeom prst="rect">
                <a:avLst/>
              </a:prstGeom>
              <a:solidFill>
                <a:srgbClr val="000000">
                  <a:alpha val="0"/>
                </a:srgbClr>
              </a:solidFill>
              <a:ln>
                <a:noFill/>
              </a:ln>
            </p:spPr>
            <p:txBody>
              <a:bodyPr anchorCtr="0" anchor="t" bIns="152400" lIns="76200" spcFirstLastPara="1" rIns="76200" wrap="square" tIns="228600">
                <a:noAutofit/>
              </a:bodyPr>
              <a:lstStyle/>
              <a:p>
                <a:pPr indent="0" lvl="0" marL="0" rtl="0" algn="ctr">
                  <a:spcBef>
                    <a:spcPts val="0"/>
                  </a:spcBef>
                  <a:spcAft>
                    <a:spcPts val="0"/>
                  </a:spcAft>
                  <a:buNone/>
                </a:pPr>
                <a:r>
                  <a:rPr b="1" i="0" lang="en-US" sz="2200">
                    <a:solidFill>
                      <a:srgbClr val="0EA5E9"/>
                    </a:solidFill>
                    <a:latin typeface="Calibri"/>
                    <a:ea typeface="Calibri"/>
                    <a:cs typeface="Calibri"/>
                    <a:sym typeface="Calibri"/>
                  </a:rPr>
                  <a:t>03</a:t>
                </a:r>
                <a:endParaRPr b="1" i="0" sz="2200">
                  <a:solidFill>
                    <a:srgbClr val="0EA5E9"/>
                  </a:solidFill>
                  <a:latin typeface="Calibri"/>
                  <a:ea typeface="Calibri"/>
                  <a:cs typeface="Calibri"/>
                  <a:sym typeface="Calibri"/>
                </a:endParaRPr>
              </a:p>
              <a:p>
                <a:pPr indent="0" lvl="0" marL="0" rtl="0" algn="ctr">
                  <a:spcBef>
                    <a:spcPts val="600"/>
                  </a:spcBef>
                  <a:spcAft>
                    <a:spcPts val="600"/>
                  </a:spcAft>
                  <a:buNone/>
                </a:pPr>
                <a:r>
                  <a:rPr b="1" i="0" lang="en-US" sz="1600">
                    <a:solidFill>
                      <a:srgbClr val="0A2540"/>
                    </a:solidFill>
                    <a:latin typeface="Calibri"/>
                    <a:ea typeface="Calibri"/>
                    <a:cs typeface="Calibri"/>
                    <a:sym typeface="Calibri"/>
                  </a:rPr>
                  <a:t>Rerank</a:t>
                </a:r>
                <a:endParaRPr b="1" i="0" sz="1600">
                  <a:solidFill>
                    <a:srgbClr val="0EA5E9"/>
                  </a:solidFill>
                  <a:latin typeface="Calibri"/>
                  <a:ea typeface="Calibri"/>
                  <a:cs typeface="Calibri"/>
                  <a:sym typeface="Calibri"/>
                </a:endParaRPr>
              </a:p>
            </p:txBody>
          </p:sp>
        </p:grpSp>
        <p:grpSp>
          <p:nvGrpSpPr>
            <p:cNvPr id="185" name="Google Shape;185;p18"/>
            <p:cNvGrpSpPr/>
            <p:nvPr/>
          </p:nvGrpSpPr>
          <p:grpSpPr>
            <a:xfrm>
              <a:off x="4972050" y="2667000"/>
              <a:ext cx="1333500" cy="1762200"/>
              <a:chOff x="0" y="0"/>
              <a:chExt cx="1333500" cy="1762200"/>
            </a:xfrm>
          </p:grpSpPr>
          <p:sp>
            <p:nvSpPr>
              <p:cNvPr id="186" name="Google Shape;186;p18"/>
              <p:cNvSpPr/>
              <p:nvPr/>
            </p:nvSpPr>
            <p:spPr>
              <a:xfrm>
                <a:off x="0" y="0"/>
                <a:ext cx="1333500" cy="1762200"/>
              </a:xfrm>
              <a:prstGeom prst="roundRect">
                <a:avLst>
                  <a:gd fmla="val 5714" name="adj"/>
                </a:avLst>
              </a:prstGeom>
              <a:solidFill>
                <a:srgbClr val="F8FAFC"/>
              </a:solidFill>
              <a:ln cap="flat" cmpd="sng" w="95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ctr">
                  <a:spcBef>
                    <a:spcPts val="0"/>
                  </a:spcBef>
                  <a:spcAft>
                    <a:spcPts val="0"/>
                  </a:spcAft>
                  <a:buNone/>
                </a:pPr>
                <a:r>
                  <a:t/>
                </a:r>
                <a:endParaRPr/>
              </a:p>
            </p:txBody>
          </p:sp>
          <p:sp>
            <p:nvSpPr>
              <p:cNvPr id="187" name="Google Shape;187;p18"/>
              <p:cNvSpPr txBox="1"/>
              <p:nvPr/>
            </p:nvSpPr>
            <p:spPr>
              <a:xfrm>
                <a:off x="0" y="0"/>
                <a:ext cx="1333500" cy="1762200"/>
              </a:xfrm>
              <a:prstGeom prst="rect">
                <a:avLst/>
              </a:prstGeom>
              <a:solidFill>
                <a:srgbClr val="000000">
                  <a:alpha val="0"/>
                </a:srgbClr>
              </a:solidFill>
              <a:ln>
                <a:noFill/>
              </a:ln>
            </p:spPr>
            <p:txBody>
              <a:bodyPr anchorCtr="0" anchor="t" bIns="152400" lIns="76200" spcFirstLastPara="1" rIns="76200" wrap="square" tIns="228600">
                <a:noAutofit/>
              </a:bodyPr>
              <a:lstStyle/>
              <a:p>
                <a:pPr indent="0" lvl="0" marL="0" rtl="0" algn="ctr">
                  <a:spcBef>
                    <a:spcPts val="0"/>
                  </a:spcBef>
                  <a:spcAft>
                    <a:spcPts val="0"/>
                  </a:spcAft>
                  <a:buNone/>
                </a:pPr>
                <a:r>
                  <a:rPr b="1" i="0" lang="en-US" sz="2200">
                    <a:solidFill>
                      <a:srgbClr val="0EA5E9"/>
                    </a:solidFill>
                    <a:latin typeface="Calibri"/>
                    <a:ea typeface="Calibri"/>
                    <a:cs typeface="Calibri"/>
                    <a:sym typeface="Calibri"/>
                  </a:rPr>
                  <a:t>04</a:t>
                </a:r>
                <a:endParaRPr b="1" i="0" sz="2200">
                  <a:solidFill>
                    <a:srgbClr val="0EA5E9"/>
                  </a:solidFill>
                  <a:latin typeface="Calibri"/>
                  <a:ea typeface="Calibri"/>
                  <a:cs typeface="Calibri"/>
                  <a:sym typeface="Calibri"/>
                </a:endParaRPr>
              </a:p>
              <a:p>
                <a:pPr indent="0" lvl="0" marL="0" rtl="0" algn="ctr">
                  <a:spcBef>
                    <a:spcPts val="600"/>
                  </a:spcBef>
                  <a:spcAft>
                    <a:spcPts val="600"/>
                  </a:spcAft>
                  <a:buNone/>
                </a:pPr>
                <a:r>
                  <a:rPr b="1" i="0" lang="en-US" sz="1600">
                    <a:solidFill>
                      <a:srgbClr val="0A2540"/>
                    </a:solidFill>
                    <a:latin typeface="Calibri"/>
                    <a:ea typeface="Calibri"/>
                    <a:cs typeface="Calibri"/>
                    <a:sym typeface="Calibri"/>
                  </a:rPr>
                  <a:t>Quality check</a:t>
                </a:r>
                <a:endParaRPr b="1" i="0" sz="1600">
                  <a:solidFill>
                    <a:srgbClr val="0EA5E9"/>
                  </a:solidFill>
                  <a:latin typeface="Calibri"/>
                  <a:ea typeface="Calibri"/>
                  <a:cs typeface="Calibri"/>
                  <a:sym typeface="Calibri"/>
                </a:endParaRPr>
              </a:p>
            </p:txBody>
          </p:sp>
        </p:grpSp>
        <p:grpSp>
          <p:nvGrpSpPr>
            <p:cNvPr id="188" name="Google Shape;188;p18"/>
            <p:cNvGrpSpPr/>
            <p:nvPr/>
          </p:nvGrpSpPr>
          <p:grpSpPr>
            <a:xfrm>
              <a:off x="6477000" y="2667000"/>
              <a:ext cx="1447800" cy="1762200"/>
              <a:chOff x="0" y="0"/>
              <a:chExt cx="1447800" cy="1762200"/>
            </a:xfrm>
          </p:grpSpPr>
          <p:sp>
            <p:nvSpPr>
              <p:cNvPr id="189" name="Google Shape;189;p18"/>
              <p:cNvSpPr/>
              <p:nvPr/>
            </p:nvSpPr>
            <p:spPr>
              <a:xfrm>
                <a:off x="0" y="0"/>
                <a:ext cx="1447800" cy="1762200"/>
              </a:xfrm>
              <a:prstGeom prst="roundRect">
                <a:avLst>
                  <a:gd fmla="val 5263" name="adj"/>
                </a:avLst>
              </a:prstGeom>
              <a:solidFill>
                <a:srgbClr val="F8FAFC"/>
              </a:solidFill>
              <a:ln cap="flat" cmpd="sng" w="95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90" name="Google Shape;190;p18"/>
              <p:cNvSpPr txBox="1"/>
              <p:nvPr/>
            </p:nvSpPr>
            <p:spPr>
              <a:xfrm>
                <a:off x="0" y="0"/>
                <a:ext cx="1447800" cy="1762200"/>
              </a:xfrm>
              <a:prstGeom prst="rect">
                <a:avLst/>
              </a:prstGeom>
              <a:solidFill>
                <a:srgbClr val="000000">
                  <a:alpha val="0"/>
                </a:srgbClr>
              </a:solidFill>
              <a:ln>
                <a:noFill/>
              </a:ln>
            </p:spPr>
            <p:txBody>
              <a:bodyPr anchorCtr="0" anchor="t" bIns="152400" lIns="76200" spcFirstLastPara="1" rIns="76200" wrap="square" tIns="190500">
                <a:noAutofit/>
              </a:bodyPr>
              <a:lstStyle/>
              <a:p>
                <a:pPr indent="0" lvl="0" marL="0" rtl="0" algn="ctr">
                  <a:spcBef>
                    <a:spcPts val="0"/>
                  </a:spcBef>
                  <a:spcAft>
                    <a:spcPts val="0"/>
                  </a:spcAft>
                  <a:buNone/>
                </a:pPr>
                <a:r>
                  <a:rPr b="1" i="0" lang="en-US" sz="2200">
                    <a:solidFill>
                      <a:srgbClr val="0EA5E9"/>
                    </a:solidFill>
                    <a:latin typeface="Calibri"/>
                    <a:ea typeface="Calibri"/>
                    <a:cs typeface="Calibri"/>
                    <a:sym typeface="Calibri"/>
                  </a:rPr>
                  <a:t>05</a:t>
                </a:r>
                <a:endParaRPr b="1" i="0" sz="2200">
                  <a:solidFill>
                    <a:srgbClr val="0EA5E9"/>
                  </a:solidFill>
                  <a:latin typeface="Calibri"/>
                  <a:ea typeface="Calibri"/>
                  <a:cs typeface="Calibri"/>
                  <a:sym typeface="Calibri"/>
                </a:endParaRPr>
              </a:p>
              <a:p>
                <a:pPr indent="0" lvl="0" marL="0" rtl="0" algn="ctr">
                  <a:spcBef>
                    <a:spcPts val="400"/>
                  </a:spcBef>
                  <a:spcAft>
                    <a:spcPts val="0"/>
                  </a:spcAft>
                  <a:buNone/>
                </a:pPr>
                <a:r>
                  <a:rPr b="1" i="0" lang="en-US" sz="1600">
                    <a:solidFill>
                      <a:srgbClr val="0A2540"/>
                    </a:solidFill>
                    <a:latin typeface="Calibri"/>
                    <a:ea typeface="Calibri"/>
                    <a:cs typeface="Calibri"/>
                    <a:sym typeface="Calibri"/>
                  </a:rPr>
                  <a:t>Retry once</a:t>
                </a:r>
                <a:endParaRPr b="1" i="0" sz="1600">
                  <a:solidFill>
                    <a:srgbClr val="0EA5E9"/>
                  </a:solidFill>
                  <a:latin typeface="Calibri"/>
                  <a:ea typeface="Calibri"/>
                  <a:cs typeface="Calibri"/>
                  <a:sym typeface="Calibri"/>
                </a:endParaRPr>
              </a:p>
              <a:p>
                <a:pPr indent="0" lvl="0" marL="0" rtl="0" algn="ctr">
                  <a:spcBef>
                    <a:spcPts val="200"/>
                  </a:spcBef>
                  <a:spcAft>
                    <a:spcPts val="400"/>
                  </a:spcAft>
                  <a:buNone/>
                </a:pPr>
                <a:r>
                  <a:rPr b="0" i="0" lang="en-US" sz="1200">
                    <a:solidFill>
                      <a:srgbClr val="0369A1"/>
                    </a:solidFill>
                    <a:latin typeface="Calibri"/>
                    <a:ea typeface="Calibri"/>
                    <a:cs typeface="Calibri"/>
                    <a:sym typeface="Calibri"/>
                  </a:rPr>
                  <a:t>(if needed)</a:t>
                </a:r>
                <a:endParaRPr b="1" i="0" sz="1200">
                  <a:solidFill>
                    <a:srgbClr val="0EA5E9"/>
                  </a:solidFill>
                  <a:latin typeface="Calibri"/>
                  <a:ea typeface="Calibri"/>
                  <a:cs typeface="Calibri"/>
                  <a:sym typeface="Calibri"/>
                </a:endParaRPr>
              </a:p>
            </p:txBody>
          </p:sp>
        </p:grpSp>
        <p:grpSp>
          <p:nvGrpSpPr>
            <p:cNvPr id="191" name="Google Shape;191;p18"/>
            <p:cNvGrpSpPr/>
            <p:nvPr/>
          </p:nvGrpSpPr>
          <p:grpSpPr>
            <a:xfrm>
              <a:off x="8077200" y="2667000"/>
              <a:ext cx="1333500" cy="1762200"/>
              <a:chOff x="0" y="0"/>
              <a:chExt cx="1333500" cy="1762200"/>
            </a:xfrm>
          </p:grpSpPr>
          <p:sp>
            <p:nvSpPr>
              <p:cNvPr id="192" name="Google Shape;192;p18"/>
              <p:cNvSpPr/>
              <p:nvPr/>
            </p:nvSpPr>
            <p:spPr>
              <a:xfrm>
                <a:off x="0" y="0"/>
                <a:ext cx="1333500" cy="1762200"/>
              </a:xfrm>
              <a:prstGeom prst="roundRect">
                <a:avLst>
                  <a:gd fmla="val 5714" name="adj"/>
                </a:avLst>
              </a:prstGeom>
              <a:solidFill>
                <a:srgbClr val="F8FAFC"/>
              </a:solidFill>
              <a:ln cap="flat" cmpd="sng" w="95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ctr">
                  <a:spcBef>
                    <a:spcPts val="0"/>
                  </a:spcBef>
                  <a:spcAft>
                    <a:spcPts val="0"/>
                  </a:spcAft>
                  <a:buNone/>
                </a:pPr>
                <a:r>
                  <a:t/>
                </a:r>
                <a:endParaRPr/>
              </a:p>
            </p:txBody>
          </p:sp>
          <p:sp>
            <p:nvSpPr>
              <p:cNvPr id="193" name="Google Shape;193;p18"/>
              <p:cNvSpPr txBox="1"/>
              <p:nvPr/>
            </p:nvSpPr>
            <p:spPr>
              <a:xfrm>
                <a:off x="0" y="0"/>
                <a:ext cx="1333500" cy="1762200"/>
              </a:xfrm>
              <a:prstGeom prst="rect">
                <a:avLst/>
              </a:prstGeom>
              <a:solidFill>
                <a:srgbClr val="000000">
                  <a:alpha val="0"/>
                </a:srgbClr>
              </a:solidFill>
              <a:ln>
                <a:noFill/>
              </a:ln>
            </p:spPr>
            <p:txBody>
              <a:bodyPr anchorCtr="0" anchor="t" bIns="152400" lIns="76200" spcFirstLastPara="1" rIns="76200" wrap="square" tIns="228600">
                <a:noAutofit/>
              </a:bodyPr>
              <a:lstStyle/>
              <a:p>
                <a:pPr indent="0" lvl="0" marL="0" rtl="0" algn="ctr">
                  <a:spcBef>
                    <a:spcPts val="0"/>
                  </a:spcBef>
                  <a:spcAft>
                    <a:spcPts val="0"/>
                  </a:spcAft>
                  <a:buNone/>
                </a:pPr>
                <a:r>
                  <a:rPr b="1" i="0" lang="en-US" sz="2200">
                    <a:solidFill>
                      <a:srgbClr val="0EA5E9"/>
                    </a:solidFill>
                    <a:latin typeface="Calibri"/>
                    <a:ea typeface="Calibri"/>
                    <a:cs typeface="Calibri"/>
                    <a:sym typeface="Calibri"/>
                  </a:rPr>
                  <a:t>06</a:t>
                </a:r>
                <a:endParaRPr b="1" i="0" sz="2200">
                  <a:solidFill>
                    <a:srgbClr val="0EA5E9"/>
                  </a:solidFill>
                  <a:latin typeface="Calibri"/>
                  <a:ea typeface="Calibri"/>
                  <a:cs typeface="Calibri"/>
                  <a:sym typeface="Calibri"/>
                </a:endParaRPr>
              </a:p>
              <a:p>
                <a:pPr indent="0" lvl="0" marL="0" rtl="0" algn="ctr">
                  <a:spcBef>
                    <a:spcPts val="600"/>
                  </a:spcBef>
                  <a:spcAft>
                    <a:spcPts val="600"/>
                  </a:spcAft>
                  <a:buNone/>
                </a:pPr>
                <a:r>
                  <a:rPr b="1" i="0" lang="en-US" sz="1600">
                    <a:solidFill>
                      <a:srgbClr val="0A2540"/>
                    </a:solidFill>
                    <a:latin typeface="Calibri"/>
                    <a:ea typeface="Calibri"/>
                    <a:cs typeface="Calibri"/>
                    <a:sym typeface="Calibri"/>
                  </a:rPr>
                  <a:t>Answer</a:t>
                </a:r>
                <a:endParaRPr b="1" i="0" sz="1600">
                  <a:solidFill>
                    <a:srgbClr val="0EA5E9"/>
                  </a:solidFill>
                  <a:latin typeface="Calibri"/>
                  <a:ea typeface="Calibri"/>
                  <a:cs typeface="Calibri"/>
                  <a:sym typeface="Calibri"/>
                </a:endParaRPr>
              </a:p>
            </p:txBody>
          </p:sp>
        </p:grpSp>
        <p:grpSp>
          <p:nvGrpSpPr>
            <p:cNvPr id="194" name="Google Shape;194;p18"/>
            <p:cNvGrpSpPr/>
            <p:nvPr/>
          </p:nvGrpSpPr>
          <p:grpSpPr>
            <a:xfrm>
              <a:off x="9582150" y="2667000"/>
              <a:ext cx="1333500" cy="1762200"/>
              <a:chOff x="0" y="0"/>
              <a:chExt cx="1333500" cy="1762200"/>
            </a:xfrm>
          </p:grpSpPr>
          <p:sp>
            <p:nvSpPr>
              <p:cNvPr id="195" name="Google Shape;195;p18"/>
              <p:cNvSpPr/>
              <p:nvPr/>
            </p:nvSpPr>
            <p:spPr>
              <a:xfrm>
                <a:off x="0" y="0"/>
                <a:ext cx="1333500" cy="1762200"/>
              </a:xfrm>
              <a:prstGeom prst="roundRect">
                <a:avLst>
                  <a:gd fmla="val 5714" name="adj"/>
                </a:avLst>
              </a:prstGeom>
              <a:solidFill>
                <a:srgbClr val="F8FAFC"/>
              </a:solidFill>
              <a:ln cap="flat" cmpd="sng" w="95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ctr">
                  <a:spcBef>
                    <a:spcPts val="0"/>
                  </a:spcBef>
                  <a:spcAft>
                    <a:spcPts val="0"/>
                  </a:spcAft>
                  <a:buNone/>
                </a:pPr>
                <a:r>
                  <a:t/>
                </a:r>
                <a:endParaRPr/>
              </a:p>
            </p:txBody>
          </p:sp>
          <p:sp>
            <p:nvSpPr>
              <p:cNvPr id="196" name="Google Shape;196;p18"/>
              <p:cNvSpPr txBox="1"/>
              <p:nvPr/>
            </p:nvSpPr>
            <p:spPr>
              <a:xfrm>
                <a:off x="0" y="0"/>
                <a:ext cx="1333500" cy="1762200"/>
              </a:xfrm>
              <a:prstGeom prst="rect">
                <a:avLst/>
              </a:prstGeom>
              <a:solidFill>
                <a:srgbClr val="000000">
                  <a:alpha val="0"/>
                </a:srgbClr>
              </a:solidFill>
              <a:ln>
                <a:noFill/>
              </a:ln>
            </p:spPr>
            <p:txBody>
              <a:bodyPr anchorCtr="0" anchor="t" bIns="152400" lIns="76200" spcFirstLastPara="1" rIns="76200" wrap="square" tIns="228600">
                <a:noAutofit/>
              </a:bodyPr>
              <a:lstStyle/>
              <a:p>
                <a:pPr indent="0" lvl="0" marL="0" rtl="0" algn="ctr">
                  <a:spcBef>
                    <a:spcPts val="0"/>
                  </a:spcBef>
                  <a:spcAft>
                    <a:spcPts val="0"/>
                  </a:spcAft>
                  <a:buNone/>
                </a:pPr>
                <a:r>
                  <a:rPr b="1" i="0" lang="en-US" sz="2200">
                    <a:solidFill>
                      <a:srgbClr val="0EA5E9"/>
                    </a:solidFill>
                    <a:latin typeface="Calibri"/>
                    <a:ea typeface="Calibri"/>
                    <a:cs typeface="Calibri"/>
                    <a:sym typeface="Calibri"/>
                  </a:rPr>
                  <a:t>07</a:t>
                </a:r>
                <a:endParaRPr b="1" i="0" sz="2200">
                  <a:solidFill>
                    <a:srgbClr val="0EA5E9"/>
                  </a:solidFill>
                  <a:latin typeface="Calibri"/>
                  <a:ea typeface="Calibri"/>
                  <a:cs typeface="Calibri"/>
                  <a:sym typeface="Calibri"/>
                </a:endParaRPr>
              </a:p>
              <a:p>
                <a:pPr indent="0" lvl="0" marL="0" rtl="0" algn="ctr">
                  <a:spcBef>
                    <a:spcPts val="600"/>
                  </a:spcBef>
                  <a:spcAft>
                    <a:spcPts val="600"/>
                  </a:spcAft>
                  <a:buNone/>
                </a:pPr>
                <a:r>
                  <a:rPr b="1" i="0" lang="en-US" sz="1600">
                    <a:solidFill>
                      <a:srgbClr val="0A2540"/>
                    </a:solidFill>
                    <a:latin typeface="Calibri"/>
                    <a:ea typeface="Calibri"/>
                    <a:cs typeface="Calibri"/>
                    <a:sym typeface="Calibri"/>
                  </a:rPr>
                  <a:t>Verify</a:t>
                </a:r>
                <a:endParaRPr b="1" i="0" sz="1600">
                  <a:solidFill>
                    <a:srgbClr val="0EA5E9"/>
                  </a:solidFill>
                  <a:latin typeface="Calibri"/>
                  <a:ea typeface="Calibri"/>
                  <a:cs typeface="Calibri"/>
                  <a:sym typeface="Calibri"/>
                </a:endParaRPr>
              </a:p>
            </p:txBody>
          </p:sp>
        </p:grpSp>
      </p:grpSp>
      <p:pic>
        <p:nvPicPr>
          <p:cNvPr id="197" name="Google Shape;197;p18"/>
          <p:cNvPicPr preferRelativeResize="0"/>
          <p:nvPr/>
        </p:nvPicPr>
        <p:blipFill rotWithShape="1">
          <a:blip r:embed="rId3">
            <a:alphaModFix/>
          </a:blip>
          <a:srcRect b="0" l="0" r="0" t="0"/>
          <a:stretch/>
        </p:blipFill>
        <p:spPr>
          <a:xfrm>
            <a:off x="10059924" y="314175"/>
            <a:ext cx="1644300" cy="645900"/>
          </a:xfrm>
          <a:prstGeom prst="rect">
            <a:avLst/>
          </a:prstGeom>
          <a:noFill/>
          <a:ln>
            <a:noFill/>
          </a:ln>
        </p:spPr>
      </p:pic>
      <p:grpSp>
        <p:nvGrpSpPr>
          <p:cNvPr id="198" name="Google Shape;198;p18"/>
          <p:cNvGrpSpPr/>
          <p:nvPr/>
        </p:nvGrpSpPr>
        <p:grpSpPr>
          <a:xfrm>
            <a:off x="457200" y="4714875"/>
            <a:ext cx="11277600" cy="1428900"/>
            <a:chOff x="0" y="0"/>
            <a:chExt cx="11277600" cy="1428900"/>
          </a:xfrm>
        </p:grpSpPr>
        <p:sp>
          <p:nvSpPr>
            <p:cNvPr id="199" name="Google Shape;199;p18"/>
            <p:cNvSpPr/>
            <p:nvPr/>
          </p:nvSpPr>
          <p:spPr>
            <a:xfrm>
              <a:off x="0" y="0"/>
              <a:ext cx="11277600" cy="1428900"/>
            </a:xfrm>
            <a:prstGeom prst="roundRect">
              <a:avLst>
                <a:gd fmla="val 5333" name="adj"/>
              </a:avLst>
            </a:prstGeom>
            <a:solidFill>
              <a:srgbClr val="0A2540"/>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00" name="Google Shape;200;p18"/>
            <p:cNvSpPr txBox="1"/>
            <p:nvPr/>
          </p:nvSpPr>
          <p:spPr>
            <a:xfrm>
              <a:off x="304800" y="0"/>
              <a:ext cx="10668000" cy="14289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l">
                <a:spcBef>
                  <a:spcPts val="0"/>
                </a:spcBef>
                <a:spcAft>
                  <a:spcPts val="0"/>
                </a:spcAft>
                <a:buNone/>
              </a:pPr>
              <a:r>
                <a:rPr b="1" i="0" lang="en-US" sz="1300">
                  <a:solidFill>
                    <a:srgbClr val="0EA5E9"/>
                  </a:solidFill>
                  <a:latin typeface="Calibri"/>
                  <a:ea typeface="Calibri"/>
                  <a:cs typeface="Calibri"/>
                  <a:sym typeface="Calibri"/>
                </a:rPr>
                <a:t>EXECUTION DYNAMICS</a:t>
              </a:r>
              <a:endParaRPr b="1" i="0" sz="1300">
                <a:solidFill>
                  <a:srgbClr val="0EA5E9"/>
                </a:solidFill>
                <a:latin typeface="Calibri"/>
                <a:ea typeface="Calibri"/>
                <a:cs typeface="Calibri"/>
                <a:sym typeface="Calibri"/>
              </a:endParaRPr>
            </a:p>
            <a:p>
              <a:pPr indent="0" lvl="0" marL="0" rtl="0" algn="l">
                <a:spcBef>
                  <a:spcPts val="600"/>
                </a:spcBef>
                <a:spcAft>
                  <a:spcPts val="600"/>
                </a:spcAft>
                <a:buNone/>
              </a:pPr>
              <a:r>
                <a:rPr b="1" i="0" lang="en-US" sz="2400">
                  <a:solidFill>
                    <a:srgbClr val="FFFFFF"/>
                  </a:solidFill>
                  <a:latin typeface="Calibri"/>
                  <a:ea typeface="Calibri"/>
                  <a:cs typeface="Calibri"/>
                  <a:sym typeface="Calibri"/>
                </a:rPr>
                <a:t>“This isn't five isolated steps — it's a loop the agent can walk back into exactly once before it has to commit to an answer.”</a:t>
              </a:r>
              <a:endParaRPr b="1" i="0" sz="1300">
                <a:solidFill>
                  <a:srgbClr val="0EA5E9"/>
                </a:solidFill>
                <a:latin typeface="Calibri"/>
                <a:ea typeface="Calibri"/>
                <a:cs typeface="Calibri"/>
                <a:sym typeface="Calibri"/>
              </a:endParaRPr>
            </a:p>
          </p:txBody>
        </p:sp>
      </p:grpSp>
      <p:sp>
        <p:nvSpPr>
          <p:cNvPr id="201" name="Google Shape;201;p18"/>
          <p:cNvSpPr txBox="1"/>
          <p:nvPr/>
        </p:nvSpPr>
        <p:spPr>
          <a:xfrm>
            <a:off x="1921297" y="6513376"/>
            <a:ext cx="10058400" cy="1692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r">
              <a:spcBef>
                <a:spcPts val="0"/>
              </a:spcBef>
              <a:spcAft>
                <a:spcPts val="0"/>
              </a:spcAft>
              <a:buNone/>
            </a:pPr>
            <a:r>
              <a:rPr b="0" i="0" lang="en-US" sz="1100">
                <a:solidFill>
                  <a:srgbClr val="94A3B8"/>
                </a:solidFill>
                <a:latin typeface="Calibri"/>
                <a:ea typeface="Calibri"/>
                <a:cs typeface="Calibri"/>
                <a:sym typeface="Calibri"/>
              </a:rPr>
              <a:t>OpenSearchCon North America · 2026 · Agentic Search: Reimagining Search from Ingestion to Relevancy</a:t>
            </a:r>
            <a:endParaRPr b="0" i="0" sz="1100">
              <a:solidFill>
                <a:srgbClr val="94A3B8"/>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5" name="Shape 205"/>
        <p:cNvGrpSpPr/>
        <p:nvPr/>
      </p:nvGrpSpPr>
      <p:grpSpPr>
        <a:xfrm>
          <a:off x="0" y="0"/>
          <a:ext cx="0" cy="0"/>
          <a:chOff x="0" y="0"/>
          <a:chExt cx="0" cy="0"/>
        </a:xfrm>
      </p:grpSpPr>
      <p:sp>
        <p:nvSpPr>
          <p:cNvPr id="206" name="Google Shape;206;p19"/>
          <p:cNvSpPr txBox="1"/>
          <p:nvPr/>
        </p:nvSpPr>
        <p:spPr>
          <a:xfrm>
            <a:off x="365760" y="228600"/>
            <a:ext cx="1371600" cy="1692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l">
              <a:spcBef>
                <a:spcPts val="0"/>
              </a:spcBef>
              <a:spcAft>
                <a:spcPts val="0"/>
              </a:spcAft>
              <a:buNone/>
            </a:pPr>
            <a:r>
              <a:rPr b="0" i="0" lang="en-US" sz="1100">
                <a:solidFill>
                  <a:srgbClr val="94A3B8"/>
                </a:solidFill>
                <a:latin typeface="Calibri"/>
                <a:ea typeface="Calibri"/>
                <a:cs typeface="Calibri"/>
                <a:sym typeface="Calibri"/>
              </a:rPr>
              <a:t>4 / 11</a:t>
            </a:r>
            <a:endParaRPr b="0" i="0" sz="1100">
              <a:solidFill>
                <a:srgbClr val="94A3B8"/>
              </a:solidFill>
              <a:latin typeface="Calibri"/>
              <a:ea typeface="Calibri"/>
              <a:cs typeface="Calibri"/>
              <a:sym typeface="Calibri"/>
            </a:endParaRPr>
          </a:p>
        </p:txBody>
      </p:sp>
      <p:sp>
        <p:nvSpPr>
          <p:cNvPr id="207" name="Google Shape;207;p19"/>
          <p:cNvSpPr txBox="1"/>
          <p:nvPr/>
        </p:nvSpPr>
        <p:spPr>
          <a:xfrm>
            <a:off x="457200" y="571500"/>
            <a:ext cx="11247000" cy="2154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l">
              <a:spcBef>
                <a:spcPts val="0"/>
              </a:spcBef>
              <a:spcAft>
                <a:spcPts val="0"/>
              </a:spcAft>
              <a:buNone/>
            </a:pPr>
            <a:r>
              <a:rPr b="1" i="0" lang="en-US" sz="1400">
                <a:solidFill>
                  <a:srgbClr val="0369A1"/>
                </a:solidFill>
                <a:latin typeface="Calibri"/>
                <a:ea typeface="Calibri"/>
                <a:cs typeface="Calibri"/>
                <a:sym typeface="Calibri"/>
              </a:rPr>
              <a:t>STRUCTURE</a:t>
            </a:r>
            <a:endParaRPr b="1" i="0" sz="1400">
              <a:solidFill>
                <a:srgbClr val="0369A1"/>
              </a:solidFill>
              <a:latin typeface="Calibri"/>
              <a:ea typeface="Calibri"/>
              <a:cs typeface="Calibri"/>
              <a:sym typeface="Calibri"/>
            </a:endParaRPr>
          </a:p>
        </p:txBody>
      </p:sp>
      <p:sp>
        <p:nvSpPr>
          <p:cNvPr id="208" name="Google Shape;208;p19"/>
          <p:cNvSpPr txBox="1"/>
          <p:nvPr/>
        </p:nvSpPr>
        <p:spPr>
          <a:xfrm>
            <a:off x="457200" y="895350"/>
            <a:ext cx="11247000" cy="5409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l">
              <a:spcBef>
                <a:spcPts val="0"/>
              </a:spcBef>
              <a:spcAft>
                <a:spcPts val="0"/>
              </a:spcAft>
              <a:buNone/>
            </a:pPr>
            <a:r>
              <a:rPr b="1" i="0" lang="en-US" sz="3515">
                <a:solidFill>
                  <a:srgbClr val="0A2540"/>
                </a:solidFill>
                <a:latin typeface="Calibri"/>
                <a:ea typeface="Calibri"/>
                <a:cs typeface="Calibri"/>
                <a:sym typeface="Calibri"/>
              </a:rPr>
              <a:t>One live application, three demos</a:t>
            </a:r>
            <a:endParaRPr b="1" i="0" sz="3515">
              <a:solidFill>
                <a:srgbClr val="0A2540"/>
              </a:solidFill>
              <a:latin typeface="Calibri"/>
              <a:ea typeface="Calibri"/>
              <a:cs typeface="Calibri"/>
              <a:sym typeface="Calibri"/>
            </a:endParaRPr>
          </a:p>
        </p:txBody>
      </p:sp>
      <p:grpSp>
        <p:nvGrpSpPr>
          <p:cNvPr id="209" name="Google Shape;209;p19"/>
          <p:cNvGrpSpPr/>
          <p:nvPr/>
        </p:nvGrpSpPr>
        <p:grpSpPr>
          <a:xfrm>
            <a:off x="457200" y="1809750"/>
            <a:ext cx="3600600" cy="2952900"/>
            <a:chOff x="0" y="0"/>
            <a:chExt cx="3600600" cy="2952900"/>
          </a:xfrm>
        </p:grpSpPr>
        <p:sp>
          <p:nvSpPr>
            <p:cNvPr id="210" name="Google Shape;210;p19"/>
            <p:cNvSpPr/>
            <p:nvPr/>
          </p:nvSpPr>
          <p:spPr>
            <a:xfrm>
              <a:off x="0" y="0"/>
              <a:ext cx="3600600" cy="2952900"/>
            </a:xfrm>
            <a:prstGeom prst="roundRect">
              <a:avLst>
                <a:gd fmla="val 2580" name="adj"/>
              </a:avLst>
            </a:prstGeom>
            <a:solidFill>
              <a:srgbClr val="F8FAFC"/>
            </a:solidFill>
            <a:ln cap="flat" cmpd="sng" w="95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11" name="Google Shape;211;p19"/>
            <p:cNvSpPr txBox="1"/>
            <p:nvPr/>
          </p:nvSpPr>
          <p:spPr>
            <a:xfrm>
              <a:off x="266700" y="228600"/>
              <a:ext cx="3067200" cy="24765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i="0" lang="en-US" sz="1500">
                  <a:solidFill>
                    <a:srgbClr val="0EA5E9"/>
                  </a:solidFill>
                  <a:latin typeface="Calibri"/>
                  <a:ea typeface="Calibri"/>
                  <a:cs typeface="Calibri"/>
                  <a:sym typeface="Calibri"/>
                </a:rPr>
                <a:t>DEMO 01</a:t>
              </a:r>
              <a:endParaRPr b="1" i="0" sz="1500">
                <a:solidFill>
                  <a:srgbClr val="0EA5E9"/>
                </a:solidFill>
                <a:latin typeface="Calibri"/>
                <a:ea typeface="Calibri"/>
                <a:cs typeface="Calibri"/>
                <a:sym typeface="Calibri"/>
              </a:endParaRPr>
            </a:p>
            <a:p>
              <a:pPr indent="0" lvl="0" marL="0" rtl="0" algn="l">
                <a:spcBef>
                  <a:spcPts val="800"/>
                </a:spcBef>
                <a:spcAft>
                  <a:spcPts val="0"/>
                </a:spcAft>
                <a:buNone/>
              </a:pPr>
              <a:r>
                <a:rPr b="1" i="0" lang="en-US" sz="2500">
                  <a:solidFill>
                    <a:srgbClr val="0A2540"/>
                  </a:solidFill>
                  <a:latin typeface="Calibri"/>
                  <a:ea typeface="Calibri"/>
                  <a:cs typeface="Calibri"/>
                  <a:sym typeface="Calibri"/>
                </a:rPr>
                <a:t>Adaptive Query Enhancements</a:t>
              </a:r>
              <a:endParaRPr b="1" i="0" sz="1500">
                <a:solidFill>
                  <a:srgbClr val="0EA5E9"/>
                </a:solidFill>
                <a:latin typeface="Calibri"/>
                <a:ea typeface="Calibri"/>
                <a:cs typeface="Calibri"/>
                <a:sym typeface="Calibri"/>
              </a:endParaRPr>
            </a:p>
            <a:p>
              <a:pPr indent="0" lvl="0" marL="0" rtl="0" algn="l">
                <a:spcBef>
                  <a:spcPts val="1200"/>
                </a:spcBef>
                <a:spcAft>
                  <a:spcPts val="0"/>
                </a:spcAft>
                <a:buNone/>
              </a:pPr>
              <a:r>
                <a:rPr b="0" i="0" lang="en-US" sz="1600">
                  <a:solidFill>
                    <a:srgbClr val="475569"/>
                  </a:solidFill>
                  <a:latin typeface="Calibri"/>
                  <a:ea typeface="Calibri"/>
                  <a:cs typeface="Calibri"/>
                  <a:sym typeface="Calibri"/>
                </a:rPr>
                <a:t>One conversation, context carried forward.</a:t>
              </a:r>
              <a:endParaRPr b="1" i="0" sz="1500">
                <a:solidFill>
                  <a:srgbClr val="0EA5E9"/>
                </a:solidFill>
                <a:latin typeface="Calibri"/>
                <a:ea typeface="Calibri"/>
                <a:cs typeface="Calibri"/>
                <a:sym typeface="Calibri"/>
              </a:endParaRPr>
            </a:p>
          </p:txBody>
        </p:sp>
      </p:grpSp>
      <p:grpSp>
        <p:nvGrpSpPr>
          <p:cNvPr id="212" name="Google Shape;212;p19"/>
          <p:cNvGrpSpPr/>
          <p:nvPr/>
        </p:nvGrpSpPr>
        <p:grpSpPr>
          <a:xfrm>
            <a:off x="4295775" y="1809750"/>
            <a:ext cx="3600600" cy="2952900"/>
            <a:chOff x="0" y="0"/>
            <a:chExt cx="3600600" cy="2952900"/>
          </a:xfrm>
        </p:grpSpPr>
        <p:sp>
          <p:nvSpPr>
            <p:cNvPr id="213" name="Google Shape;213;p19"/>
            <p:cNvSpPr/>
            <p:nvPr/>
          </p:nvSpPr>
          <p:spPr>
            <a:xfrm>
              <a:off x="0" y="0"/>
              <a:ext cx="3600600" cy="2952900"/>
            </a:xfrm>
            <a:prstGeom prst="roundRect">
              <a:avLst>
                <a:gd fmla="val 2580" name="adj"/>
              </a:avLst>
            </a:prstGeom>
            <a:solidFill>
              <a:srgbClr val="F8FAFC"/>
            </a:solidFill>
            <a:ln cap="flat" cmpd="sng" w="95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14" name="Google Shape;214;p19"/>
            <p:cNvSpPr txBox="1"/>
            <p:nvPr/>
          </p:nvSpPr>
          <p:spPr>
            <a:xfrm>
              <a:off x="266700" y="228600"/>
              <a:ext cx="3067200" cy="24765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i="0" lang="en-US" sz="1500">
                  <a:solidFill>
                    <a:srgbClr val="0EA5E9"/>
                  </a:solidFill>
                  <a:latin typeface="Calibri"/>
                  <a:ea typeface="Calibri"/>
                  <a:cs typeface="Calibri"/>
                  <a:sym typeface="Calibri"/>
                </a:rPr>
                <a:t>DEMO 02</a:t>
              </a:r>
              <a:endParaRPr b="1" i="0" sz="1500">
                <a:solidFill>
                  <a:srgbClr val="0EA5E9"/>
                </a:solidFill>
                <a:latin typeface="Calibri"/>
                <a:ea typeface="Calibri"/>
                <a:cs typeface="Calibri"/>
                <a:sym typeface="Calibri"/>
              </a:endParaRPr>
            </a:p>
            <a:p>
              <a:pPr indent="0" lvl="0" marL="0" rtl="0" algn="l">
                <a:spcBef>
                  <a:spcPts val="800"/>
                </a:spcBef>
                <a:spcAft>
                  <a:spcPts val="0"/>
                </a:spcAft>
                <a:buNone/>
              </a:pPr>
              <a:r>
                <a:rPr b="1" i="0" lang="en-US" sz="2500">
                  <a:solidFill>
                    <a:srgbClr val="0A2540"/>
                  </a:solidFill>
                  <a:latin typeface="Calibri"/>
                  <a:ea typeface="Calibri"/>
                  <a:cs typeface="Calibri"/>
                  <a:sym typeface="Calibri"/>
                </a:rPr>
                <a:t>Proving It With Real Judgments</a:t>
              </a:r>
              <a:endParaRPr b="1" i="0" sz="1500">
                <a:solidFill>
                  <a:srgbClr val="0EA5E9"/>
                </a:solidFill>
                <a:latin typeface="Calibri"/>
                <a:ea typeface="Calibri"/>
                <a:cs typeface="Calibri"/>
                <a:sym typeface="Calibri"/>
              </a:endParaRPr>
            </a:p>
            <a:p>
              <a:pPr indent="0" lvl="0" marL="0" rtl="0" algn="l">
                <a:spcBef>
                  <a:spcPts val="1200"/>
                </a:spcBef>
                <a:spcAft>
                  <a:spcPts val="0"/>
                </a:spcAft>
                <a:buNone/>
              </a:pPr>
              <a:r>
                <a:rPr b="0" i="0" lang="en-US" sz="1600">
                  <a:solidFill>
                    <a:srgbClr val="475569"/>
                  </a:solidFill>
                  <a:latin typeface="Calibri"/>
                  <a:ea typeface="Calibri"/>
                  <a:cs typeface="Calibri"/>
                  <a:sym typeface="Calibri"/>
                </a:rPr>
                <a:t>Scored against real academic judgments.</a:t>
              </a:r>
              <a:endParaRPr b="1" i="0" sz="1500">
                <a:solidFill>
                  <a:srgbClr val="0EA5E9"/>
                </a:solidFill>
                <a:latin typeface="Calibri"/>
                <a:ea typeface="Calibri"/>
                <a:cs typeface="Calibri"/>
                <a:sym typeface="Calibri"/>
              </a:endParaRPr>
            </a:p>
          </p:txBody>
        </p:sp>
      </p:grpSp>
      <p:grpSp>
        <p:nvGrpSpPr>
          <p:cNvPr id="215" name="Google Shape;215;p19"/>
          <p:cNvGrpSpPr/>
          <p:nvPr/>
        </p:nvGrpSpPr>
        <p:grpSpPr>
          <a:xfrm>
            <a:off x="8134350" y="1809750"/>
            <a:ext cx="3600600" cy="2952900"/>
            <a:chOff x="0" y="0"/>
            <a:chExt cx="3600600" cy="2952900"/>
          </a:xfrm>
        </p:grpSpPr>
        <p:sp>
          <p:nvSpPr>
            <p:cNvPr id="216" name="Google Shape;216;p19"/>
            <p:cNvSpPr/>
            <p:nvPr/>
          </p:nvSpPr>
          <p:spPr>
            <a:xfrm>
              <a:off x="0" y="0"/>
              <a:ext cx="3600600" cy="2952900"/>
            </a:xfrm>
            <a:prstGeom prst="roundRect">
              <a:avLst>
                <a:gd fmla="val 2580" name="adj"/>
              </a:avLst>
            </a:prstGeom>
            <a:solidFill>
              <a:srgbClr val="F8FAFC"/>
            </a:solidFill>
            <a:ln cap="flat" cmpd="sng" w="95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17" name="Google Shape;217;p19"/>
            <p:cNvSpPr txBox="1"/>
            <p:nvPr/>
          </p:nvSpPr>
          <p:spPr>
            <a:xfrm>
              <a:off x="266700" y="228600"/>
              <a:ext cx="3067200" cy="24765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i="0" lang="en-US" sz="1500">
                  <a:solidFill>
                    <a:srgbClr val="0EA5E9"/>
                  </a:solidFill>
                  <a:latin typeface="Calibri"/>
                  <a:ea typeface="Calibri"/>
                  <a:cs typeface="Calibri"/>
                  <a:sym typeface="Calibri"/>
                </a:rPr>
                <a:t>DEMO 03</a:t>
              </a:r>
              <a:endParaRPr b="1" i="0" sz="1500">
                <a:solidFill>
                  <a:srgbClr val="0EA5E9"/>
                </a:solidFill>
                <a:latin typeface="Calibri"/>
                <a:ea typeface="Calibri"/>
                <a:cs typeface="Calibri"/>
                <a:sym typeface="Calibri"/>
              </a:endParaRPr>
            </a:p>
            <a:p>
              <a:pPr indent="0" lvl="0" marL="0" rtl="0" algn="l">
                <a:spcBef>
                  <a:spcPts val="800"/>
                </a:spcBef>
                <a:spcAft>
                  <a:spcPts val="0"/>
                </a:spcAft>
                <a:buNone/>
              </a:pPr>
              <a:r>
                <a:rPr b="1" i="0" lang="en-US" sz="2500">
                  <a:solidFill>
                    <a:srgbClr val="0A2540"/>
                  </a:solidFill>
                  <a:latin typeface="Calibri"/>
                  <a:ea typeface="Calibri"/>
                  <a:cs typeface="Calibri"/>
                  <a:sym typeface="Calibri"/>
                </a:rPr>
                <a:t>Classification &amp; Ingestion</a:t>
              </a:r>
              <a:endParaRPr b="1" i="0" sz="1500">
                <a:solidFill>
                  <a:srgbClr val="0EA5E9"/>
                </a:solidFill>
                <a:latin typeface="Calibri"/>
                <a:ea typeface="Calibri"/>
                <a:cs typeface="Calibri"/>
                <a:sym typeface="Calibri"/>
              </a:endParaRPr>
            </a:p>
            <a:p>
              <a:pPr indent="0" lvl="0" marL="0" rtl="0" algn="l">
                <a:spcBef>
                  <a:spcPts val="1200"/>
                </a:spcBef>
                <a:spcAft>
                  <a:spcPts val="0"/>
                </a:spcAft>
                <a:buNone/>
              </a:pPr>
              <a:r>
                <a:rPr b="0" i="0" lang="en-US" sz="1600">
                  <a:solidFill>
                    <a:srgbClr val="475569"/>
                  </a:solidFill>
                  <a:latin typeface="Calibri"/>
                  <a:ea typeface="Calibri"/>
                  <a:cs typeface="Calibri"/>
                  <a:sym typeface="Calibri"/>
                </a:rPr>
                <a:t>One bad tag, fixed live.</a:t>
              </a:r>
              <a:endParaRPr b="1" i="0" sz="1500">
                <a:solidFill>
                  <a:srgbClr val="0EA5E9"/>
                </a:solidFill>
                <a:latin typeface="Calibri"/>
                <a:ea typeface="Calibri"/>
                <a:cs typeface="Calibri"/>
                <a:sym typeface="Calibri"/>
              </a:endParaRPr>
            </a:p>
          </p:txBody>
        </p:sp>
      </p:grpSp>
      <p:sp>
        <p:nvSpPr>
          <p:cNvPr id="218" name="Google Shape;218;p19"/>
          <p:cNvSpPr/>
          <p:nvPr/>
        </p:nvSpPr>
        <p:spPr>
          <a:xfrm>
            <a:off x="457200" y="5048250"/>
            <a:ext cx="11277600" cy="1143000"/>
          </a:xfrm>
          <a:prstGeom prst="rect">
            <a:avLst/>
          </a:prstGeom>
          <a:solidFill>
            <a:srgbClr val="0A2540"/>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19" name="Google Shape;219;p19"/>
          <p:cNvSpPr txBox="1"/>
          <p:nvPr/>
        </p:nvSpPr>
        <p:spPr>
          <a:xfrm>
            <a:off x="762000" y="5200650"/>
            <a:ext cx="10668000" cy="611700"/>
          </a:xfrm>
          <a:prstGeom prst="rect">
            <a:avLst/>
          </a:prstGeom>
          <a:solidFill>
            <a:srgbClr val="000000">
              <a:alpha val="0"/>
            </a:srgbClr>
          </a:solidFill>
          <a:ln>
            <a:noFill/>
          </a:ln>
        </p:spPr>
        <p:txBody>
          <a:bodyPr anchorCtr="0" anchor="ctr" bIns="0" lIns="0" spcFirstLastPara="1" rIns="0" wrap="square" tIns="0">
            <a:spAutoFit/>
          </a:bodyPr>
          <a:lstStyle/>
          <a:p>
            <a:pPr indent="0" lvl="0" marL="0" rtl="0" algn="l">
              <a:spcBef>
                <a:spcPts val="0"/>
              </a:spcBef>
              <a:spcAft>
                <a:spcPts val="0"/>
              </a:spcAft>
              <a:buNone/>
            </a:pPr>
            <a:r>
              <a:rPr b="1" i="0" lang="en-US" sz="1300">
                <a:solidFill>
                  <a:srgbClr val="0EA5E9"/>
                </a:solidFill>
                <a:latin typeface="Calibri"/>
                <a:ea typeface="Calibri"/>
                <a:cs typeface="Calibri"/>
                <a:sym typeface="Calibri"/>
              </a:rPr>
              <a:t>SYSTEM CAPABILITY</a:t>
            </a:r>
            <a:endParaRPr b="1" i="0" sz="1300">
              <a:solidFill>
                <a:srgbClr val="0EA5E9"/>
              </a:solidFill>
              <a:latin typeface="Calibri"/>
              <a:ea typeface="Calibri"/>
              <a:cs typeface="Calibri"/>
              <a:sym typeface="Calibri"/>
            </a:endParaRPr>
          </a:p>
          <a:p>
            <a:pPr indent="0" lvl="0" marL="0" rtl="0" algn="l">
              <a:spcBef>
                <a:spcPts val="450"/>
              </a:spcBef>
              <a:spcAft>
                <a:spcPts val="0"/>
              </a:spcAft>
              <a:buNone/>
            </a:pPr>
            <a:r>
              <a:rPr b="1" i="0" lang="en-US" sz="2300">
                <a:solidFill>
                  <a:srgbClr val="FFFFFF"/>
                </a:solidFill>
                <a:latin typeface="Calibri"/>
                <a:ea typeface="Calibri"/>
                <a:cs typeface="Calibri"/>
                <a:sym typeface="Calibri"/>
              </a:rPr>
              <a:t>Any query. One retry. One repair. Enriches the catalog, not just the query.</a:t>
            </a:r>
            <a:endParaRPr b="1" i="0" sz="1300">
              <a:solidFill>
                <a:srgbClr val="0EA5E9"/>
              </a:solidFill>
              <a:latin typeface="Calibri"/>
              <a:ea typeface="Calibri"/>
              <a:cs typeface="Calibri"/>
              <a:sym typeface="Calibri"/>
            </a:endParaRPr>
          </a:p>
        </p:txBody>
      </p:sp>
      <p:pic>
        <p:nvPicPr>
          <p:cNvPr id="220" name="Google Shape;220;p19" title="KMWLogo_blk_blue.png"/>
          <p:cNvPicPr preferRelativeResize="0"/>
          <p:nvPr/>
        </p:nvPicPr>
        <p:blipFill>
          <a:blip r:embed="rId3">
            <a:alphaModFix/>
          </a:blip>
          <a:stretch>
            <a:fillRect/>
          </a:stretch>
        </p:blipFill>
        <p:spPr>
          <a:xfrm>
            <a:off x="10059924" y="314175"/>
            <a:ext cx="1644399" cy="645950"/>
          </a:xfrm>
          <a:prstGeom prst="rect">
            <a:avLst/>
          </a:prstGeom>
          <a:noFill/>
          <a:ln>
            <a:noFill/>
          </a:ln>
        </p:spPr>
      </p:pic>
      <p:sp>
        <p:nvSpPr>
          <p:cNvPr id="221" name="Google Shape;221;p19"/>
          <p:cNvSpPr txBox="1"/>
          <p:nvPr/>
        </p:nvSpPr>
        <p:spPr>
          <a:xfrm>
            <a:off x="1921297" y="6513376"/>
            <a:ext cx="10058400" cy="1692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r">
              <a:spcBef>
                <a:spcPts val="0"/>
              </a:spcBef>
              <a:spcAft>
                <a:spcPts val="0"/>
              </a:spcAft>
              <a:buNone/>
            </a:pPr>
            <a:r>
              <a:rPr b="0" i="0" lang="en-US" sz="1100">
                <a:solidFill>
                  <a:srgbClr val="94A3B8"/>
                </a:solidFill>
                <a:latin typeface="Calibri"/>
                <a:ea typeface="Calibri"/>
                <a:cs typeface="Calibri"/>
                <a:sym typeface="Calibri"/>
              </a:rPr>
              <a:t>OpenSearchCon North America · 2026 · Agentic Search: Reimagining Search from Ingestion to Relevancy</a:t>
            </a:r>
            <a:endParaRPr b="0" i="0" sz="1100">
              <a:solidFill>
                <a:srgbClr val="94A3B8"/>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5" name="Shape 225"/>
        <p:cNvGrpSpPr/>
        <p:nvPr/>
      </p:nvGrpSpPr>
      <p:grpSpPr>
        <a:xfrm>
          <a:off x="0" y="0"/>
          <a:ext cx="0" cy="0"/>
          <a:chOff x="0" y="0"/>
          <a:chExt cx="0" cy="0"/>
        </a:xfrm>
      </p:grpSpPr>
      <p:pic>
        <p:nvPicPr>
          <p:cNvPr id="226" name="Google Shape;226;p20"/>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227" name="Google Shape;227;p20"/>
          <p:cNvSpPr txBox="1"/>
          <p:nvPr/>
        </p:nvSpPr>
        <p:spPr>
          <a:xfrm>
            <a:off x="457200" y="533400"/>
            <a:ext cx="11239500" cy="2667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i="0" lang="en-US" sz="1500" u="none" strike="noStrike">
                <a:solidFill>
                  <a:srgbClr val="0369A1"/>
                </a:solidFill>
                <a:latin typeface="Calibri"/>
                <a:ea typeface="Calibri"/>
                <a:cs typeface="Calibri"/>
                <a:sym typeface="Calibri"/>
              </a:rPr>
              <a:t>THE STACK</a:t>
            </a:r>
            <a:endParaRPr b="1" i="0" sz="1500" u="none" strike="noStrike">
              <a:solidFill>
                <a:srgbClr val="0369A1"/>
              </a:solidFill>
              <a:latin typeface="Calibri"/>
              <a:ea typeface="Calibri"/>
              <a:cs typeface="Calibri"/>
              <a:sym typeface="Calibri"/>
            </a:endParaRPr>
          </a:p>
        </p:txBody>
      </p:sp>
      <p:sp>
        <p:nvSpPr>
          <p:cNvPr id="228" name="Google Shape;228;p20"/>
          <p:cNvSpPr txBox="1"/>
          <p:nvPr/>
        </p:nvSpPr>
        <p:spPr>
          <a:xfrm>
            <a:off x="457200" y="838200"/>
            <a:ext cx="11239500" cy="6477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i="0" lang="en-US" sz="4200" u="none" strike="noStrike">
                <a:solidFill>
                  <a:srgbClr val="0A2540"/>
                </a:solidFill>
                <a:latin typeface="Calibri"/>
                <a:ea typeface="Calibri"/>
                <a:cs typeface="Calibri"/>
                <a:sym typeface="Calibri"/>
              </a:rPr>
              <a:t>End-to-end local architecture</a:t>
            </a:r>
            <a:endParaRPr b="1" i="0" sz="4200" u="none" strike="noStrike">
              <a:solidFill>
                <a:srgbClr val="0A2540"/>
              </a:solidFill>
              <a:latin typeface="Calibri"/>
              <a:ea typeface="Calibri"/>
              <a:cs typeface="Calibri"/>
              <a:sym typeface="Calibri"/>
            </a:endParaRPr>
          </a:p>
        </p:txBody>
      </p:sp>
      <p:grpSp>
        <p:nvGrpSpPr>
          <p:cNvPr id="229" name="Google Shape;229;p20"/>
          <p:cNvGrpSpPr/>
          <p:nvPr/>
        </p:nvGrpSpPr>
        <p:grpSpPr>
          <a:xfrm>
            <a:off x="457200" y="1714500"/>
            <a:ext cx="3600600" cy="1428900"/>
            <a:chOff x="0" y="0"/>
            <a:chExt cx="3600600" cy="1428900"/>
          </a:xfrm>
        </p:grpSpPr>
        <p:sp>
          <p:nvSpPr>
            <p:cNvPr id="230" name="Google Shape;230;p20"/>
            <p:cNvSpPr/>
            <p:nvPr/>
          </p:nvSpPr>
          <p:spPr>
            <a:xfrm>
              <a:off x="0" y="0"/>
              <a:ext cx="3600600" cy="1428900"/>
            </a:xfrm>
            <a:prstGeom prst="roundRect">
              <a:avLst>
                <a:gd fmla="val 5333" name="adj"/>
              </a:avLst>
            </a:prstGeom>
            <a:solidFill>
              <a:srgbClr val="F8FAFC"/>
            </a:solidFill>
            <a:ln cap="flat" cmpd="sng" w="95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31" name="Google Shape;231;p20"/>
            <p:cNvSpPr txBox="1"/>
            <p:nvPr/>
          </p:nvSpPr>
          <p:spPr>
            <a:xfrm>
              <a:off x="228600" y="133350"/>
              <a:ext cx="3143400" cy="11622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i="0" lang="en-US" sz="1300" u="none" strike="noStrike">
                  <a:solidFill>
                    <a:srgbClr val="0EA5E9"/>
                  </a:solidFill>
                  <a:latin typeface="Calibri"/>
                  <a:ea typeface="Calibri"/>
                  <a:cs typeface="Calibri"/>
                  <a:sym typeface="Calibri"/>
                </a:rPr>
                <a:t>INGEST</a:t>
              </a:r>
              <a:endParaRPr b="1" i="0" sz="1300" u="none" strike="noStrike">
                <a:solidFill>
                  <a:srgbClr val="0EA5E9"/>
                </a:solidFill>
                <a:latin typeface="Calibri"/>
                <a:ea typeface="Calibri"/>
                <a:cs typeface="Calibri"/>
                <a:sym typeface="Calibri"/>
              </a:endParaRPr>
            </a:p>
            <a:p>
              <a:pPr indent="0" lvl="0" marL="0" rtl="0" algn="l">
                <a:spcBef>
                  <a:spcPts val="200"/>
                </a:spcBef>
                <a:spcAft>
                  <a:spcPts val="0"/>
                </a:spcAft>
                <a:buNone/>
              </a:pPr>
              <a:r>
                <a:rPr b="1" i="0" lang="en-US" sz="2000" u="none" strike="noStrike">
                  <a:solidFill>
                    <a:srgbClr val="0A2540"/>
                  </a:solidFill>
                  <a:latin typeface="Calibri"/>
                  <a:ea typeface="Calibri"/>
                  <a:cs typeface="Calibri"/>
                  <a:sym typeface="Calibri"/>
                </a:rPr>
                <a:t>Lucille</a:t>
              </a:r>
              <a:endParaRPr b="1" i="0" sz="1300" u="none" strike="noStrike">
                <a:solidFill>
                  <a:srgbClr val="0EA5E9"/>
                </a:solidFill>
                <a:latin typeface="Calibri"/>
                <a:ea typeface="Calibri"/>
                <a:cs typeface="Calibri"/>
                <a:sym typeface="Calibri"/>
              </a:endParaRPr>
            </a:p>
            <a:p>
              <a:pPr indent="0" lvl="0" marL="0" rtl="0" algn="l">
                <a:spcBef>
                  <a:spcPts val="400"/>
                </a:spcBef>
                <a:spcAft>
                  <a:spcPts val="0"/>
                </a:spcAft>
                <a:buNone/>
              </a:pPr>
              <a:r>
                <a:rPr b="0" i="0" lang="en-US" sz="1400" u="none" strike="noStrike">
                  <a:solidFill>
                    <a:srgbClr val="475569"/>
                  </a:solidFill>
                  <a:latin typeface="Calibri"/>
                  <a:ea typeface="Calibri"/>
                  <a:cs typeface="Calibri"/>
                  <a:sym typeface="Calibri"/>
                </a:rPr>
                <a:t>Java ETL pipeline for document processing and transformation.</a:t>
              </a:r>
              <a:endParaRPr b="1" i="0" sz="1300" u="none" strike="noStrike">
                <a:solidFill>
                  <a:srgbClr val="0EA5E9"/>
                </a:solidFill>
                <a:latin typeface="Calibri"/>
                <a:ea typeface="Calibri"/>
                <a:cs typeface="Calibri"/>
                <a:sym typeface="Calibri"/>
              </a:endParaRPr>
            </a:p>
          </p:txBody>
        </p:sp>
      </p:grpSp>
      <p:grpSp>
        <p:nvGrpSpPr>
          <p:cNvPr id="232" name="Google Shape;232;p20"/>
          <p:cNvGrpSpPr/>
          <p:nvPr/>
        </p:nvGrpSpPr>
        <p:grpSpPr>
          <a:xfrm>
            <a:off x="4295775" y="1714500"/>
            <a:ext cx="3600600" cy="1428900"/>
            <a:chOff x="0" y="0"/>
            <a:chExt cx="3600600" cy="1428900"/>
          </a:xfrm>
        </p:grpSpPr>
        <p:sp>
          <p:nvSpPr>
            <p:cNvPr id="233" name="Google Shape;233;p20"/>
            <p:cNvSpPr/>
            <p:nvPr/>
          </p:nvSpPr>
          <p:spPr>
            <a:xfrm>
              <a:off x="0" y="0"/>
              <a:ext cx="3600600" cy="1428900"/>
            </a:xfrm>
            <a:prstGeom prst="roundRect">
              <a:avLst>
                <a:gd fmla="val 5333" name="adj"/>
              </a:avLst>
            </a:prstGeom>
            <a:solidFill>
              <a:srgbClr val="F8FAFC"/>
            </a:solidFill>
            <a:ln cap="flat" cmpd="sng" w="95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34" name="Google Shape;234;p20"/>
            <p:cNvSpPr txBox="1"/>
            <p:nvPr/>
          </p:nvSpPr>
          <p:spPr>
            <a:xfrm>
              <a:off x="228600" y="133350"/>
              <a:ext cx="3143400" cy="11622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i="0" lang="en-US" sz="1300" u="none" strike="noStrike">
                  <a:solidFill>
                    <a:srgbClr val="0EA5E9"/>
                  </a:solidFill>
                  <a:latin typeface="Calibri"/>
                  <a:ea typeface="Calibri"/>
                  <a:cs typeface="Calibri"/>
                  <a:sym typeface="Calibri"/>
                </a:rPr>
                <a:t>INDEX</a:t>
              </a:r>
              <a:endParaRPr b="1" i="0" sz="1300" u="none" strike="noStrike">
                <a:solidFill>
                  <a:srgbClr val="0EA5E9"/>
                </a:solidFill>
                <a:latin typeface="Calibri"/>
                <a:ea typeface="Calibri"/>
                <a:cs typeface="Calibri"/>
                <a:sym typeface="Calibri"/>
              </a:endParaRPr>
            </a:p>
            <a:p>
              <a:pPr indent="0" lvl="0" marL="0" rtl="0" algn="l">
                <a:spcBef>
                  <a:spcPts val="200"/>
                </a:spcBef>
                <a:spcAft>
                  <a:spcPts val="0"/>
                </a:spcAft>
                <a:buNone/>
              </a:pPr>
              <a:r>
                <a:rPr b="1" i="0" lang="en-US" sz="2000" u="none" strike="noStrike">
                  <a:solidFill>
                    <a:srgbClr val="0A2540"/>
                  </a:solidFill>
                  <a:latin typeface="Calibri"/>
                  <a:ea typeface="Calibri"/>
                  <a:cs typeface="Calibri"/>
                  <a:sym typeface="Calibri"/>
                </a:rPr>
                <a:t>OpenSearch</a:t>
              </a:r>
              <a:endParaRPr b="1" i="0" sz="1300" u="none" strike="noStrike">
                <a:solidFill>
                  <a:srgbClr val="0EA5E9"/>
                </a:solidFill>
                <a:latin typeface="Calibri"/>
                <a:ea typeface="Calibri"/>
                <a:cs typeface="Calibri"/>
                <a:sym typeface="Calibri"/>
              </a:endParaRPr>
            </a:p>
            <a:p>
              <a:pPr indent="0" lvl="0" marL="0" rtl="0" algn="l">
                <a:spcBef>
                  <a:spcPts val="400"/>
                </a:spcBef>
                <a:spcAft>
                  <a:spcPts val="0"/>
                </a:spcAft>
                <a:buNone/>
              </a:pPr>
              <a:r>
                <a:rPr b="0" i="0" lang="en-US" sz="1400" u="none" strike="noStrike">
                  <a:solidFill>
                    <a:srgbClr val="475569"/>
                  </a:solidFill>
                  <a:latin typeface="Calibri"/>
                  <a:ea typeface="Calibri"/>
                  <a:cs typeface="Calibri"/>
                  <a:sym typeface="Calibri"/>
                </a:rPr>
                <a:t>BM25 + vector search using HNSW indexing algorithms.</a:t>
              </a:r>
              <a:endParaRPr b="1" i="0" sz="1300" u="none" strike="noStrike">
                <a:solidFill>
                  <a:srgbClr val="0EA5E9"/>
                </a:solidFill>
                <a:latin typeface="Calibri"/>
                <a:ea typeface="Calibri"/>
                <a:cs typeface="Calibri"/>
                <a:sym typeface="Calibri"/>
              </a:endParaRPr>
            </a:p>
          </p:txBody>
        </p:sp>
      </p:grpSp>
      <p:grpSp>
        <p:nvGrpSpPr>
          <p:cNvPr id="235" name="Google Shape;235;p20"/>
          <p:cNvGrpSpPr/>
          <p:nvPr/>
        </p:nvGrpSpPr>
        <p:grpSpPr>
          <a:xfrm>
            <a:off x="8134350" y="1714500"/>
            <a:ext cx="3600600" cy="1428900"/>
            <a:chOff x="0" y="0"/>
            <a:chExt cx="3600600" cy="1428900"/>
          </a:xfrm>
        </p:grpSpPr>
        <p:sp>
          <p:nvSpPr>
            <p:cNvPr id="236" name="Google Shape;236;p20"/>
            <p:cNvSpPr/>
            <p:nvPr/>
          </p:nvSpPr>
          <p:spPr>
            <a:xfrm>
              <a:off x="0" y="0"/>
              <a:ext cx="3600600" cy="1428900"/>
            </a:xfrm>
            <a:prstGeom prst="roundRect">
              <a:avLst>
                <a:gd fmla="val 5333" name="adj"/>
              </a:avLst>
            </a:prstGeom>
            <a:solidFill>
              <a:srgbClr val="F8FAFC"/>
            </a:solidFill>
            <a:ln cap="flat" cmpd="sng" w="95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37" name="Google Shape;237;p20"/>
            <p:cNvSpPr txBox="1"/>
            <p:nvPr/>
          </p:nvSpPr>
          <p:spPr>
            <a:xfrm>
              <a:off x="228600" y="133350"/>
              <a:ext cx="3143400" cy="11622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i="0" lang="en-US" sz="1300" u="none" strike="noStrike">
                  <a:solidFill>
                    <a:srgbClr val="0EA5E9"/>
                  </a:solidFill>
                  <a:latin typeface="Calibri"/>
                  <a:ea typeface="Calibri"/>
                  <a:cs typeface="Calibri"/>
                  <a:sym typeface="Calibri"/>
                </a:rPr>
                <a:t>RETRIEVE &amp; RERANK</a:t>
              </a:r>
              <a:endParaRPr b="1" i="0" sz="1300" u="none" strike="noStrike">
                <a:solidFill>
                  <a:srgbClr val="0EA5E9"/>
                </a:solidFill>
                <a:latin typeface="Calibri"/>
                <a:ea typeface="Calibri"/>
                <a:cs typeface="Calibri"/>
                <a:sym typeface="Calibri"/>
              </a:endParaRPr>
            </a:p>
            <a:p>
              <a:pPr indent="0" lvl="0" marL="0" rtl="0" algn="l">
                <a:spcBef>
                  <a:spcPts val="200"/>
                </a:spcBef>
                <a:spcAft>
                  <a:spcPts val="0"/>
                </a:spcAft>
                <a:buNone/>
              </a:pPr>
              <a:r>
                <a:rPr b="1" i="0" lang="en-US" sz="2000" u="none" strike="noStrike">
                  <a:solidFill>
                    <a:srgbClr val="0A2540"/>
                  </a:solidFill>
                  <a:latin typeface="Calibri"/>
                  <a:ea typeface="Calibri"/>
                  <a:cs typeface="Calibri"/>
                  <a:sym typeface="Calibri"/>
                </a:rPr>
                <a:t>Hybrid Fusion</a:t>
              </a:r>
              <a:endParaRPr b="1" i="0" sz="1300" u="none" strike="noStrike">
                <a:solidFill>
                  <a:srgbClr val="0EA5E9"/>
                </a:solidFill>
                <a:latin typeface="Calibri"/>
                <a:ea typeface="Calibri"/>
                <a:cs typeface="Calibri"/>
                <a:sym typeface="Calibri"/>
              </a:endParaRPr>
            </a:p>
            <a:p>
              <a:pPr indent="0" lvl="0" marL="0" rtl="0" algn="l">
                <a:spcBef>
                  <a:spcPts val="400"/>
                </a:spcBef>
                <a:spcAft>
                  <a:spcPts val="0"/>
                </a:spcAft>
                <a:buNone/>
              </a:pPr>
              <a:r>
                <a:rPr b="0" i="0" lang="en-US" sz="1400" u="none" strike="noStrike">
                  <a:solidFill>
                    <a:srgbClr val="475569"/>
                  </a:solidFill>
                  <a:latin typeface="Calibri"/>
                  <a:ea typeface="Calibri"/>
                  <a:cs typeface="Calibri"/>
                  <a:sym typeface="Calibri"/>
                </a:rPr>
                <a:t>Multi-stage retrieval backed by local cross-encoder models.</a:t>
              </a:r>
              <a:endParaRPr b="1" i="0" sz="1300" u="none" strike="noStrike">
                <a:solidFill>
                  <a:srgbClr val="0EA5E9"/>
                </a:solidFill>
                <a:latin typeface="Calibri"/>
                <a:ea typeface="Calibri"/>
                <a:cs typeface="Calibri"/>
                <a:sym typeface="Calibri"/>
              </a:endParaRPr>
            </a:p>
          </p:txBody>
        </p:sp>
      </p:grpSp>
      <p:grpSp>
        <p:nvGrpSpPr>
          <p:cNvPr id="238" name="Google Shape;238;p20"/>
          <p:cNvGrpSpPr/>
          <p:nvPr/>
        </p:nvGrpSpPr>
        <p:grpSpPr>
          <a:xfrm>
            <a:off x="457200" y="3333750"/>
            <a:ext cx="3600600" cy="1428900"/>
            <a:chOff x="0" y="0"/>
            <a:chExt cx="3600600" cy="1428900"/>
          </a:xfrm>
        </p:grpSpPr>
        <p:sp>
          <p:nvSpPr>
            <p:cNvPr id="239" name="Google Shape;239;p20"/>
            <p:cNvSpPr/>
            <p:nvPr/>
          </p:nvSpPr>
          <p:spPr>
            <a:xfrm>
              <a:off x="0" y="0"/>
              <a:ext cx="3600600" cy="1428900"/>
            </a:xfrm>
            <a:prstGeom prst="roundRect">
              <a:avLst>
                <a:gd fmla="val 5333" name="adj"/>
              </a:avLst>
            </a:prstGeom>
            <a:solidFill>
              <a:srgbClr val="F8FAFC"/>
            </a:solidFill>
            <a:ln cap="flat" cmpd="sng" w="95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40" name="Google Shape;240;p20"/>
            <p:cNvSpPr txBox="1"/>
            <p:nvPr/>
          </p:nvSpPr>
          <p:spPr>
            <a:xfrm>
              <a:off x="228600" y="133350"/>
              <a:ext cx="3143400" cy="11622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i="0" lang="en-US" sz="1300" u="none" strike="noStrike">
                  <a:solidFill>
                    <a:srgbClr val="0EA5E9"/>
                  </a:solidFill>
                  <a:latin typeface="Calibri"/>
                  <a:ea typeface="Calibri"/>
                  <a:cs typeface="Calibri"/>
                  <a:sym typeface="Calibri"/>
                </a:rPr>
                <a:t>REASON</a:t>
              </a:r>
              <a:endParaRPr b="1" i="0" sz="1300" u="none" strike="noStrike">
                <a:solidFill>
                  <a:srgbClr val="0EA5E9"/>
                </a:solidFill>
                <a:latin typeface="Calibri"/>
                <a:ea typeface="Calibri"/>
                <a:cs typeface="Calibri"/>
                <a:sym typeface="Calibri"/>
              </a:endParaRPr>
            </a:p>
            <a:p>
              <a:pPr indent="0" lvl="0" marL="0" rtl="0" algn="l">
                <a:spcBef>
                  <a:spcPts val="200"/>
                </a:spcBef>
                <a:spcAft>
                  <a:spcPts val="0"/>
                </a:spcAft>
                <a:buNone/>
              </a:pPr>
              <a:r>
                <a:rPr b="1" i="0" lang="en-US" sz="2000" u="none" strike="noStrike">
                  <a:solidFill>
                    <a:srgbClr val="0A2540"/>
                  </a:solidFill>
                  <a:latin typeface="Calibri"/>
                  <a:ea typeface="Calibri"/>
                  <a:cs typeface="Calibri"/>
                  <a:sym typeface="Calibri"/>
                </a:rPr>
                <a:t>LangGraph + LangChain</a:t>
              </a:r>
              <a:endParaRPr b="1" i="0" sz="1300" u="none" strike="noStrike">
                <a:solidFill>
                  <a:srgbClr val="0EA5E9"/>
                </a:solidFill>
                <a:latin typeface="Calibri"/>
                <a:ea typeface="Calibri"/>
                <a:cs typeface="Calibri"/>
                <a:sym typeface="Calibri"/>
              </a:endParaRPr>
            </a:p>
            <a:p>
              <a:pPr indent="0" lvl="0" marL="0" rtl="0" algn="l">
                <a:spcBef>
                  <a:spcPts val="400"/>
                </a:spcBef>
                <a:spcAft>
                  <a:spcPts val="0"/>
                </a:spcAft>
                <a:buNone/>
              </a:pPr>
              <a:r>
                <a:rPr b="0" i="0" lang="en-US" sz="1400" u="none" strike="noStrike">
                  <a:solidFill>
                    <a:srgbClr val="475569"/>
                  </a:solidFill>
                  <a:latin typeface="Calibri"/>
                  <a:ea typeface="Calibri"/>
                  <a:cs typeface="Calibri"/>
                  <a:sym typeface="Calibri"/>
                </a:rPr>
                <a:t>Orchestration powered by Gemini 2.5 Flash / Flash-Lite models.</a:t>
              </a:r>
              <a:endParaRPr b="1" i="0" sz="1300" u="none" strike="noStrike">
                <a:solidFill>
                  <a:srgbClr val="0EA5E9"/>
                </a:solidFill>
                <a:latin typeface="Calibri"/>
                <a:ea typeface="Calibri"/>
                <a:cs typeface="Calibri"/>
                <a:sym typeface="Calibri"/>
              </a:endParaRPr>
            </a:p>
          </p:txBody>
        </p:sp>
      </p:grpSp>
      <p:grpSp>
        <p:nvGrpSpPr>
          <p:cNvPr id="241" name="Google Shape;241;p20"/>
          <p:cNvGrpSpPr/>
          <p:nvPr/>
        </p:nvGrpSpPr>
        <p:grpSpPr>
          <a:xfrm>
            <a:off x="4295775" y="3333750"/>
            <a:ext cx="3600600" cy="1428900"/>
            <a:chOff x="0" y="0"/>
            <a:chExt cx="3600600" cy="1428900"/>
          </a:xfrm>
        </p:grpSpPr>
        <p:sp>
          <p:nvSpPr>
            <p:cNvPr id="242" name="Google Shape;242;p20"/>
            <p:cNvSpPr/>
            <p:nvPr/>
          </p:nvSpPr>
          <p:spPr>
            <a:xfrm>
              <a:off x="0" y="0"/>
              <a:ext cx="3600600" cy="1428900"/>
            </a:xfrm>
            <a:prstGeom prst="roundRect">
              <a:avLst>
                <a:gd fmla="val 5333" name="adj"/>
              </a:avLst>
            </a:prstGeom>
            <a:solidFill>
              <a:srgbClr val="F8FAFC"/>
            </a:solidFill>
            <a:ln cap="flat" cmpd="sng" w="95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43" name="Google Shape;243;p20"/>
            <p:cNvSpPr txBox="1"/>
            <p:nvPr/>
          </p:nvSpPr>
          <p:spPr>
            <a:xfrm>
              <a:off x="228600" y="133350"/>
              <a:ext cx="3143400" cy="11622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i="0" lang="en-US" sz="1300" u="none" strike="noStrike">
                  <a:solidFill>
                    <a:srgbClr val="0EA5E9"/>
                  </a:solidFill>
                  <a:latin typeface="Calibri"/>
                  <a:ea typeface="Calibri"/>
                  <a:cs typeface="Calibri"/>
                  <a:sym typeface="Calibri"/>
                </a:rPr>
                <a:t>SERVE</a:t>
              </a:r>
              <a:endParaRPr b="1" i="0" sz="1300" u="none" strike="noStrike">
                <a:solidFill>
                  <a:srgbClr val="0EA5E9"/>
                </a:solidFill>
                <a:latin typeface="Calibri"/>
                <a:ea typeface="Calibri"/>
                <a:cs typeface="Calibri"/>
                <a:sym typeface="Calibri"/>
              </a:endParaRPr>
            </a:p>
            <a:p>
              <a:pPr indent="0" lvl="0" marL="0" rtl="0" algn="l">
                <a:spcBef>
                  <a:spcPts val="200"/>
                </a:spcBef>
                <a:spcAft>
                  <a:spcPts val="0"/>
                </a:spcAft>
                <a:buNone/>
              </a:pPr>
              <a:r>
                <a:rPr b="1" i="0" lang="en-US" sz="2000" u="none" strike="noStrike">
                  <a:solidFill>
                    <a:srgbClr val="0A2540"/>
                  </a:solidFill>
                  <a:latin typeface="Calibri"/>
                  <a:ea typeface="Calibri"/>
                  <a:cs typeface="Calibri"/>
                  <a:sym typeface="Calibri"/>
                </a:rPr>
                <a:t>FastAPI + WebSocket</a:t>
              </a:r>
              <a:endParaRPr b="1" i="0" sz="1300" u="none" strike="noStrike">
                <a:solidFill>
                  <a:srgbClr val="0EA5E9"/>
                </a:solidFill>
                <a:latin typeface="Calibri"/>
                <a:ea typeface="Calibri"/>
                <a:cs typeface="Calibri"/>
                <a:sym typeface="Calibri"/>
              </a:endParaRPr>
            </a:p>
            <a:p>
              <a:pPr indent="0" lvl="0" marL="0" rtl="0" algn="l">
                <a:spcBef>
                  <a:spcPts val="400"/>
                </a:spcBef>
                <a:spcAft>
                  <a:spcPts val="0"/>
                </a:spcAft>
                <a:buNone/>
              </a:pPr>
              <a:r>
                <a:rPr b="0" i="0" lang="en-US" sz="1400" u="none" strike="noStrike">
                  <a:solidFill>
                    <a:srgbClr val="475569"/>
                  </a:solidFill>
                  <a:latin typeface="Calibri"/>
                  <a:ea typeface="Calibri"/>
                  <a:cs typeface="Calibri"/>
                  <a:sym typeface="Calibri"/>
                </a:rPr>
                <a:t>Real-time execution APIs with Postgres state checkpoints.</a:t>
              </a:r>
              <a:endParaRPr b="1" i="0" sz="1300" u="none" strike="noStrike">
                <a:solidFill>
                  <a:srgbClr val="0EA5E9"/>
                </a:solidFill>
                <a:latin typeface="Calibri"/>
                <a:ea typeface="Calibri"/>
                <a:cs typeface="Calibri"/>
                <a:sym typeface="Calibri"/>
              </a:endParaRPr>
            </a:p>
          </p:txBody>
        </p:sp>
      </p:grpSp>
      <p:grpSp>
        <p:nvGrpSpPr>
          <p:cNvPr id="244" name="Google Shape;244;p20"/>
          <p:cNvGrpSpPr/>
          <p:nvPr/>
        </p:nvGrpSpPr>
        <p:grpSpPr>
          <a:xfrm>
            <a:off x="8134350" y="3333750"/>
            <a:ext cx="3600600" cy="1428900"/>
            <a:chOff x="0" y="0"/>
            <a:chExt cx="3600600" cy="1428900"/>
          </a:xfrm>
        </p:grpSpPr>
        <p:sp>
          <p:nvSpPr>
            <p:cNvPr id="245" name="Google Shape;245;p20"/>
            <p:cNvSpPr/>
            <p:nvPr/>
          </p:nvSpPr>
          <p:spPr>
            <a:xfrm>
              <a:off x="0" y="0"/>
              <a:ext cx="3600600" cy="1428900"/>
            </a:xfrm>
            <a:prstGeom prst="roundRect">
              <a:avLst>
                <a:gd fmla="val 5333" name="adj"/>
              </a:avLst>
            </a:prstGeom>
            <a:solidFill>
              <a:srgbClr val="F8FAFC"/>
            </a:solidFill>
            <a:ln cap="flat" cmpd="sng" w="95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46" name="Google Shape;246;p20"/>
            <p:cNvSpPr txBox="1"/>
            <p:nvPr/>
          </p:nvSpPr>
          <p:spPr>
            <a:xfrm>
              <a:off x="228600" y="133350"/>
              <a:ext cx="3143400" cy="11622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i="0" lang="en-US" sz="1300" u="none" strike="noStrike">
                  <a:solidFill>
                    <a:srgbClr val="0EA5E9"/>
                  </a:solidFill>
                  <a:latin typeface="Calibri"/>
                  <a:ea typeface="Calibri"/>
                  <a:cs typeface="Calibri"/>
                  <a:sym typeface="Calibri"/>
                </a:rPr>
                <a:t>UI</a:t>
              </a:r>
              <a:endParaRPr b="1" i="0" sz="1300" u="none" strike="noStrike">
                <a:solidFill>
                  <a:srgbClr val="0EA5E9"/>
                </a:solidFill>
                <a:latin typeface="Calibri"/>
                <a:ea typeface="Calibri"/>
                <a:cs typeface="Calibri"/>
                <a:sym typeface="Calibri"/>
              </a:endParaRPr>
            </a:p>
            <a:p>
              <a:pPr indent="0" lvl="0" marL="0" rtl="0" algn="l">
                <a:spcBef>
                  <a:spcPts val="200"/>
                </a:spcBef>
                <a:spcAft>
                  <a:spcPts val="0"/>
                </a:spcAft>
                <a:buNone/>
              </a:pPr>
              <a:r>
                <a:rPr b="1" i="0" lang="en-US" sz="2000" u="none" strike="noStrike">
                  <a:solidFill>
                    <a:srgbClr val="0A2540"/>
                  </a:solidFill>
                  <a:latin typeface="Calibri"/>
                  <a:ea typeface="Calibri"/>
                  <a:cs typeface="Calibri"/>
                  <a:sym typeface="Calibri"/>
                </a:rPr>
                <a:t>React + Vite</a:t>
              </a:r>
              <a:endParaRPr b="1" i="0" sz="1300" u="none" strike="noStrike">
                <a:solidFill>
                  <a:srgbClr val="0EA5E9"/>
                </a:solidFill>
                <a:latin typeface="Calibri"/>
                <a:ea typeface="Calibri"/>
                <a:cs typeface="Calibri"/>
                <a:sym typeface="Calibri"/>
              </a:endParaRPr>
            </a:p>
            <a:p>
              <a:pPr indent="0" lvl="0" marL="0" rtl="0" algn="l">
                <a:spcBef>
                  <a:spcPts val="400"/>
                </a:spcBef>
                <a:spcAft>
                  <a:spcPts val="0"/>
                </a:spcAft>
                <a:buNone/>
              </a:pPr>
              <a:r>
                <a:rPr b="0" i="0" lang="en-US" sz="1400" u="none" strike="noStrike">
                  <a:solidFill>
                    <a:srgbClr val="475569"/>
                  </a:solidFill>
                  <a:latin typeface="Calibri"/>
                  <a:ea typeface="Calibri"/>
                  <a:cs typeface="Calibri"/>
                  <a:sym typeface="Calibri"/>
                </a:rPr>
                <a:t>Interactive user dashboard for real-time query visibility.</a:t>
              </a:r>
              <a:endParaRPr b="1" i="0" sz="1300" u="none" strike="noStrike">
                <a:solidFill>
                  <a:srgbClr val="0EA5E9"/>
                </a:solidFill>
                <a:latin typeface="Calibri"/>
                <a:ea typeface="Calibri"/>
                <a:cs typeface="Calibri"/>
                <a:sym typeface="Calibri"/>
              </a:endParaRPr>
            </a:p>
          </p:txBody>
        </p:sp>
      </p:grpSp>
      <p:sp>
        <p:nvSpPr>
          <p:cNvPr id="247" name="Google Shape;247;p20"/>
          <p:cNvSpPr/>
          <p:nvPr/>
        </p:nvSpPr>
        <p:spPr>
          <a:xfrm>
            <a:off x="457200" y="5143500"/>
            <a:ext cx="11277600" cy="952500"/>
          </a:xfrm>
          <a:prstGeom prst="roundRect">
            <a:avLst>
              <a:gd fmla="val 8000" name="adj"/>
            </a:avLst>
          </a:prstGeom>
          <a:solidFill>
            <a:srgbClr val="0A2540"/>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48" name="Google Shape;248;p20"/>
          <p:cNvSpPr txBox="1"/>
          <p:nvPr/>
        </p:nvSpPr>
        <p:spPr>
          <a:xfrm>
            <a:off x="762000" y="5238750"/>
            <a:ext cx="10668000" cy="7620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l">
              <a:spcBef>
                <a:spcPts val="0"/>
              </a:spcBef>
              <a:spcAft>
                <a:spcPts val="0"/>
              </a:spcAft>
              <a:buNone/>
            </a:pPr>
            <a:r>
              <a:rPr b="1" i="0" lang="en-US" sz="1400" u="none" strike="noStrike">
                <a:solidFill>
                  <a:srgbClr val="0EA5E9"/>
                </a:solidFill>
                <a:latin typeface="Calibri"/>
                <a:ea typeface="Calibri"/>
                <a:cs typeface="Calibri"/>
                <a:sym typeface="Calibri"/>
              </a:rPr>
              <a:t>DEPLOYMENT ENVIRONMENT</a:t>
            </a:r>
            <a:endParaRPr b="1" i="0" sz="1400" u="none" strike="noStrike">
              <a:solidFill>
                <a:srgbClr val="0EA5E9"/>
              </a:solidFill>
              <a:latin typeface="Calibri"/>
              <a:ea typeface="Calibri"/>
              <a:cs typeface="Calibri"/>
              <a:sym typeface="Calibri"/>
            </a:endParaRPr>
          </a:p>
          <a:p>
            <a:pPr indent="0" lvl="0" marL="0" rtl="0" algn="l">
              <a:spcBef>
                <a:spcPts val="400"/>
              </a:spcBef>
              <a:spcAft>
                <a:spcPts val="0"/>
              </a:spcAft>
              <a:buNone/>
            </a:pPr>
            <a:r>
              <a:rPr b="1" i="0" lang="en-US" sz="2600" u="none" strike="noStrike">
                <a:solidFill>
                  <a:srgbClr val="FFFFFF"/>
                </a:solidFill>
                <a:latin typeface="Calibri"/>
                <a:ea typeface="Calibri"/>
                <a:cs typeface="Calibri"/>
                <a:sym typeface="Calibri"/>
              </a:rPr>
              <a:t>All local. Docker Compose</a:t>
            </a:r>
            <a:endParaRPr b="1" i="0" sz="1400" u="none" strike="noStrike">
              <a:solidFill>
                <a:srgbClr val="0EA5E9"/>
              </a:solidFill>
              <a:latin typeface="Calibri"/>
              <a:ea typeface="Calibri"/>
              <a:cs typeface="Calibri"/>
              <a:sym typeface="Calibri"/>
            </a:endParaRPr>
          </a:p>
        </p:txBody>
      </p:sp>
      <p:sp>
        <p:nvSpPr>
          <p:cNvPr id="249" name="Google Shape;249;p20"/>
          <p:cNvSpPr txBox="1"/>
          <p:nvPr/>
        </p:nvSpPr>
        <p:spPr>
          <a:xfrm>
            <a:off x="365760" y="209550"/>
            <a:ext cx="1371600" cy="1692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l">
              <a:spcBef>
                <a:spcPts val="0"/>
              </a:spcBef>
              <a:spcAft>
                <a:spcPts val="0"/>
              </a:spcAft>
              <a:buNone/>
            </a:pPr>
            <a:r>
              <a:rPr b="0" i="0" lang="en-US" sz="1100" u="none" strike="noStrike">
                <a:solidFill>
                  <a:srgbClr val="94A3B8"/>
                </a:solidFill>
                <a:latin typeface="Calibri"/>
                <a:ea typeface="Calibri"/>
                <a:cs typeface="Calibri"/>
                <a:sym typeface="Calibri"/>
              </a:rPr>
              <a:t>5 / 11</a:t>
            </a:r>
            <a:endParaRPr b="0" i="0" sz="1100" u="none" strike="noStrike">
              <a:solidFill>
                <a:srgbClr val="94A3B8"/>
              </a:solidFill>
              <a:latin typeface="Calibri"/>
              <a:ea typeface="Calibri"/>
              <a:cs typeface="Calibri"/>
              <a:sym typeface="Calibri"/>
            </a:endParaRPr>
          </a:p>
        </p:txBody>
      </p:sp>
      <p:pic>
        <p:nvPicPr>
          <p:cNvPr id="250" name="Google Shape;250;p20" title="KMWLogo_blk_blue.png"/>
          <p:cNvPicPr preferRelativeResize="0"/>
          <p:nvPr/>
        </p:nvPicPr>
        <p:blipFill>
          <a:blip r:embed="rId4">
            <a:alphaModFix/>
          </a:blip>
          <a:stretch>
            <a:fillRect/>
          </a:stretch>
        </p:blipFill>
        <p:spPr>
          <a:xfrm>
            <a:off x="10059924" y="314175"/>
            <a:ext cx="1644399" cy="645950"/>
          </a:xfrm>
          <a:prstGeom prst="rect">
            <a:avLst/>
          </a:prstGeom>
          <a:noFill/>
          <a:ln>
            <a:noFill/>
          </a:ln>
        </p:spPr>
      </p:pic>
      <p:sp>
        <p:nvSpPr>
          <p:cNvPr id="251" name="Google Shape;251;p20"/>
          <p:cNvSpPr txBox="1"/>
          <p:nvPr/>
        </p:nvSpPr>
        <p:spPr>
          <a:xfrm>
            <a:off x="1921297" y="6477000"/>
            <a:ext cx="10058400" cy="1692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r">
              <a:spcBef>
                <a:spcPts val="0"/>
              </a:spcBef>
              <a:spcAft>
                <a:spcPts val="0"/>
              </a:spcAft>
              <a:buNone/>
            </a:pPr>
            <a:r>
              <a:rPr b="0" i="0" lang="en-US" sz="1100" u="none" strike="noStrike">
                <a:solidFill>
                  <a:srgbClr val="94A3B8"/>
                </a:solidFill>
                <a:latin typeface="Calibri"/>
                <a:ea typeface="Calibri"/>
                <a:cs typeface="Calibri"/>
                <a:sym typeface="Calibri"/>
              </a:rPr>
              <a:t>OpenSearchCon North America · 2026 · Agentic Search: Reimagining Search from Ingestion to Relevancy</a:t>
            </a:r>
            <a:endParaRPr b="0" i="0" sz="1100" u="none" strike="noStrike">
              <a:solidFill>
                <a:srgbClr val="94A3B8"/>
              </a:solidFill>
              <a:latin typeface="Calibri"/>
              <a:ea typeface="Calibri"/>
              <a:cs typeface="Calibri"/>
              <a:sym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2540"/>
        </a:solidFill>
      </p:bgPr>
    </p:bg>
    <p:spTree>
      <p:nvGrpSpPr>
        <p:cNvPr id="255" name="Shape 255"/>
        <p:cNvGrpSpPr/>
        <p:nvPr/>
      </p:nvGrpSpPr>
      <p:grpSpPr>
        <a:xfrm>
          <a:off x="0" y="0"/>
          <a:ext cx="0" cy="0"/>
          <a:chOff x="0" y="0"/>
          <a:chExt cx="0" cy="0"/>
        </a:xfrm>
      </p:grpSpPr>
      <p:sp>
        <p:nvSpPr>
          <p:cNvPr id="256" name="Google Shape;256;p21"/>
          <p:cNvSpPr/>
          <p:nvPr/>
        </p:nvSpPr>
        <p:spPr>
          <a:xfrm>
            <a:off x="0" y="0"/>
            <a:ext cx="164700" cy="6858000"/>
          </a:xfrm>
          <a:prstGeom prst="rect">
            <a:avLst/>
          </a:prstGeom>
          <a:solidFill>
            <a:srgbClr val="0EA5E9"/>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57" name="Google Shape;257;p21"/>
          <p:cNvSpPr txBox="1"/>
          <p:nvPr/>
        </p:nvSpPr>
        <p:spPr>
          <a:xfrm>
            <a:off x="609443" y="2000250"/>
            <a:ext cx="7315200" cy="277200"/>
          </a:xfrm>
          <a:prstGeom prst="rect">
            <a:avLst/>
          </a:prstGeom>
          <a:solidFill>
            <a:srgbClr val="000000">
              <a:alpha val="0"/>
            </a:srgbClr>
          </a:solidFill>
          <a:ln>
            <a:noFill/>
          </a:ln>
        </p:spPr>
        <p:txBody>
          <a:bodyPr anchorCtr="0" anchor="ctr" bIns="0" lIns="0" spcFirstLastPara="1" rIns="0" wrap="square" tIns="0">
            <a:spAutoFit/>
          </a:bodyPr>
          <a:lstStyle/>
          <a:p>
            <a:pPr indent="0" lvl="0" marL="0" rtl="0" algn="l">
              <a:spcBef>
                <a:spcPts val="0"/>
              </a:spcBef>
              <a:spcAft>
                <a:spcPts val="0"/>
              </a:spcAft>
              <a:buNone/>
            </a:pPr>
            <a:r>
              <a:rPr b="1" i="0" lang="en-US" sz="1800">
                <a:solidFill>
                  <a:srgbClr val="0EA5E9"/>
                </a:solidFill>
                <a:latin typeface="Calibri"/>
                <a:ea typeface="Calibri"/>
                <a:cs typeface="Calibri"/>
                <a:sym typeface="Calibri"/>
              </a:rPr>
              <a:t>OPENSEARCHCON NORTH AMERICA 2026</a:t>
            </a:r>
            <a:endParaRPr b="1" i="0" sz="1800">
              <a:solidFill>
                <a:srgbClr val="0EA5E9"/>
              </a:solidFill>
              <a:latin typeface="Calibri"/>
              <a:ea typeface="Calibri"/>
              <a:cs typeface="Calibri"/>
              <a:sym typeface="Calibri"/>
            </a:endParaRPr>
          </a:p>
        </p:txBody>
      </p:sp>
      <p:sp>
        <p:nvSpPr>
          <p:cNvPr id="258" name="Google Shape;258;p21"/>
          <p:cNvSpPr txBox="1"/>
          <p:nvPr/>
        </p:nvSpPr>
        <p:spPr>
          <a:xfrm>
            <a:off x="609443" y="2381250"/>
            <a:ext cx="10972800" cy="785100"/>
          </a:xfrm>
          <a:prstGeom prst="rect">
            <a:avLst/>
          </a:prstGeom>
          <a:solidFill>
            <a:srgbClr val="000000">
              <a:alpha val="0"/>
            </a:srgbClr>
          </a:solidFill>
          <a:ln>
            <a:noFill/>
          </a:ln>
        </p:spPr>
        <p:txBody>
          <a:bodyPr anchorCtr="0" anchor="ctr" bIns="0" lIns="0" spcFirstLastPara="1" rIns="0" wrap="square" tIns="0">
            <a:spAutoFit/>
          </a:bodyPr>
          <a:lstStyle/>
          <a:p>
            <a:pPr indent="0" lvl="0" marL="0" rtl="0" algn="l">
              <a:spcBef>
                <a:spcPts val="0"/>
              </a:spcBef>
              <a:spcAft>
                <a:spcPts val="0"/>
              </a:spcAft>
              <a:buNone/>
            </a:pPr>
            <a:r>
              <a:rPr b="1" i="0" lang="en-US" sz="5100">
                <a:solidFill>
                  <a:srgbClr val="FFFFFF"/>
                </a:solidFill>
                <a:latin typeface="Calibri"/>
                <a:ea typeface="Calibri"/>
                <a:cs typeface="Calibri"/>
                <a:sym typeface="Calibri"/>
              </a:rPr>
              <a:t>DEMO</a:t>
            </a:r>
            <a:endParaRPr b="1" i="0" sz="5100">
              <a:solidFill>
                <a:srgbClr val="FFFFFF"/>
              </a:solidFill>
              <a:latin typeface="Calibri"/>
              <a:ea typeface="Calibri"/>
              <a:cs typeface="Calibri"/>
              <a:sym typeface="Calibri"/>
            </a:endParaRPr>
          </a:p>
        </p:txBody>
      </p:sp>
      <p:sp>
        <p:nvSpPr>
          <p:cNvPr id="259" name="Google Shape;259;p21"/>
          <p:cNvSpPr txBox="1"/>
          <p:nvPr/>
        </p:nvSpPr>
        <p:spPr>
          <a:xfrm>
            <a:off x="609443" y="3286125"/>
            <a:ext cx="10972800" cy="585000"/>
          </a:xfrm>
          <a:prstGeom prst="rect">
            <a:avLst/>
          </a:prstGeom>
          <a:solidFill>
            <a:srgbClr val="000000">
              <a:alpha val="0"/>
            </a:srgbClr>
          </a:solidFill>
          <a:ln>
            <a:noFill/>
          </a:ln>
        </p:spPr>
        <p:txBody>
          <a:bodyPr anchorCtr="0" anchor="ctr" bIns="0" lIns="0" spcFirstLastPara="1" rIns="0" wrap="square" tIns="0">
            <a:spAutoFit/>
          </a:bodyPr>
          <a:lstStyle/>
          <a:p>
            <a:pPr indent="0" lvl="0" marL="0" rtl="0" algn="l">
              <a:spcBef>
                <a:spcPts val="0"/>
              </a:spcBef>
              <a:spcAft>
                <a:spcPts val="0"/>
              </a:spcAft>
              <a:buNone/>
            </a:pPr>
            <a:r>
              <a:rPr b="1" i="0" lang="en-US" sz="3800">
                <a:solidFill>
                  <a:srgbClr val="FFFFFF"/>
                </a:solidFill>
                <a:latin typeface="Calibri"/>
                <a:ea typeface="Calibri"/>
                <a:cs typeface="Calibri"/>
                <a:sym typeface="Calibri"/>
              </a:rPr>
              <a:t>Reimagining search from ingestion to relevancy</a:t>
            </a:r>
            <a:endParaRPr b="1" i="0" sz="3800">
              <a:solidFill>
                <a:srgbClr val="FFFFFF"/>
              </a:solidFill>
              <a:latin typeface="Calibri"/>
              <a:ea typeface="Calibri"/>
              <a:cs typeface="Calibri"/>
              <a:sym typeface="Calibri"/>
            </a:endParaRPr>
          </a:p>
        </p:txBody>
      </p:sp>
      <p:sp>
        <p:nvSpPr>
          <p:cNvPr id="260" name="Google Shape;260;p21"/>
          <p:cNvSpPr txBox="1"/>
          <p:nvPr/>
        </p:nvSpPr>
        <p:spPr>
          <a:xfrm>
            <a:off x="609443" y="4095750"/>
            <a:ext cx="10972800" cy="313200"/>
          </a:xfrm>
          <a:prstGeom prst="rect">
            <a:avLst/>
          </a:prstGeom>
          <a:solidFill>
            <a:srgbClr val="000000">
              <a:alpha val="0"/>
            </a:srgbClr>
          </a:solidFill>
          <a:ln>
            <a:noFill/>
          </a:ln>
        </p:spPr>
        <p:txBody>
          <a:bodyPr anchorCtr="0" anchor="ctr" bIns="0" lIns="0" spcFirstLastPara="1" rIns="0" wrap="square" tIns="0">
            <a:spAutoFit/>
          </a:bodyPr>
          <a:lstStyle/>
          <a:p>
            <a:pPr indent="0" lvl="0" marL="0" rtl="0" algn="l">
              <a:spcBef>
                <a:spcPts val="0"/>
              </a:spcBef>
              <a:spcAft>
                <a:spcPts val="0"/>
              </a:spcAft>
              <a:buNone/>
            </a:pPr>
            <a:r>
              <a:rPr b="0" i="0" lang="en-US" sz="2035">
                <a:solidFill>
                  <a:srgbClr val="7DD3FC"/>
                </a:solidFill>
                <a:latin typeface="Calibri"/>
                <a:ea typeface="Calibri"/>
                <a:cs typeface="Calibri"/>
                <a:sym typeface="Calibri"/>
              </a:rPr>
              <a:t>One live LangGraph agent — adaptive retrieval, real ESCI-judged proof, and a catalog it enriches live.</a:t>
            </a:r>
            <a:endParaRPr b="0" i="0" sz="2035">
              <a:solidFill>
                <a:srgbClr val="7DD3FC"/>
              </a:solidFill>
              <a:latin typeface="Calibri"/>
              <a:ea typeface="Calibri"/>
              <a:cs typeface="Calibri"/>
              <a:sym typeface="Calibri"/>
            </a:endParaRPr>
          </a:p>
        </p:txBody>
      </p:sp>
      <p:sp>
        <p:nvSpPr>
          <p:cNvPr id="261" name="Google Shape;261;p21"/>
          <p:cNvSpPr txBox="1"/>
          <p:nvPr/>
        </p:nvSpPr>
        <p:spPr>
          <a:xfrm>
            <a:off x="609443" y="5000625"/>
            <a:ext cx="10972800" cy="341700"/>
          </a:xfrm>
          <a:prstGeom prst="rect">
            <a:avLst/>
          </a:prstGeom>
          <a:solidFill>
            <a:srgbClr val="000000">
              <a:alpha val="0"/>
            </a:srgbClr>
          </a:solidFill>
          <a:ln>
            <a:noFill/>
          </a:ln>
        </p:spPr>
        <p:txBody>
          <a:bodyPr anchorCtr="0" anchor="ctr" bIns="0" lIns="0" spcFirstLastPara="1" rIns="0" wrap="square" tIns="0">
            <a:spAutoFit/>
          </a:bodyPr>
          <a:lstStyle/>
          <a:p>
            <a:pPr indent="0" lvl="0" marL="0" rtl="0" algn="l">
              <a:spcBef>
                <a:spcPts val="0"/>
              </a:spcBef>
              <a:spcAft>
                <a:spcPts val="0"/>
              </a:spcAft>
              <a:buNone/>
            </a:pPr>
            <a:r>
              <a:rPr b="1" i="0" lang="en-US" sz="2220">
                <a:solidFill>
                  <a:srgbClr val="FFFFFF"/>
                </a:solidFill>
                <a:latin typeface="Calibri"/>
                <a:ea typeface="Calibri"/>
                <a:cs typeface="Calibri"/>
                <a:sym typeface="Calibri"/>
              </a:rPr>
              <a:t>Kevin M. Butler</a:t>
            </a:r>
            <a:endParaRPr b="1" i="0" sz="2220">
              <a:solidFill>
                <a:srgbClr val="FFFFFF"/>
              </a:solidFill>
              <a:latin typeface="Calibri"/>
              <a:ea typeface="Calibri"/>
              <a:cs typeface="Calibri"/>
              <a:sym typeface="Calibri"/>
            </a:endParaRPr>
          </a:p>
        </p:txBody>
      </p:sp>
      <p:sp>
        <p:nvSpPr>
          <p:cNvPr id="262" name="Google Shape;262;p21"/>
          <p:cNvSpPr txBox="1"/>
          <p:nvPr/>
        </p:nvSpPr>
        <p:spPr>
          <a:xfrm>
            <a:off x="609443" y="5429250"/>
            <a:ext cx="7315200" cy="277200"/>
          </a:xfrm>
          <a:prstGeom prst="rect">
            <a:avLst/>
          </a:prstGeom>
          <a:solidFill>
            <a:srgbClr val="000000">
              <a:alpha val="0"/>
            </a:srgbClr>
          </a:solidFill>
          <a:ln>
            <a:noFill/>
          </a:ln>
        </p:spPr>
        <p:txBody>
          <a:bodyPr anchorCtr="0" anchor="ctr" bIns="0" lIns="0" spcFirstLastPara="1" rIns="0" wrap="square" tIns="0">
            <a:spAutoFit/>
          </a:bodyPr>
          <a:lstStyle/>
          <a:p>
            <a:pPr indent="0" lvl="0" marL="0" rtl="0" algn="l">
              <a:spcBef>
                <a:spcPts val="0"/>
              </a:spcBef>
              <a:spcAft>
                <a:spcPts val="0"/>
              </a:spcAft>
              <a:buNone/>
            </a:pPr>
            <a:r>
              <a:rPr b="0" i="0" lang="en-US" sz="1800">
                <a:solidFill>
                  <a:srgbClr val="B8C5D1"/>
                </a:solidFill>
                <a:latin typeface="Calibri"/>
                <a:ea typeface="Calibri"/>
                <a:cs typeface="Calibri"/>
                <a:sym typeface="Calibri"/>
              </a:rPr>
              <a:t>Senior Search and AI Engineer</a:t>
            </a:r>
            <a:endParaRPr b="0" i="0" sz="1800">
              <a:solidFill>
                <a:srgbClr val="B8C5D1"/>
              </a:solidFill>
              <a:latin typeface="Calibri"/>
              <a:ea typeface="Calibri"/>
              <a:cs typeface="Calibri"/>
              <a:sym typeface="Calibri"/>
            </a:endParaRPr>
          </a:p>
        </p:txBody>
      </p:sp>
      <p:pic>
        <p:nvPicPr>
          <p:cNvPr id="263" name="Google Shape;263;p21" title="KMWLogo_white.png"/>
          <p:cNvPicPr preferRelativeResize="0"/>
          <p:nvPr/>
        </p:nvPicPr>
        <p:blipFill>
          <a:blip r:embed="rId3">
            <a:alphaModFix/>
          </a:blip>
          <a:stretch>
            <a:fillRect/>
          </a:stretch>
        </p:blipFill>
        <p:spPr>
          <a:xfrm>
            <a:off x="640075" y="402350"/>
            <a:ext cx="3593551" cy="1101525"/>
          </a:xfrm>
          <a:prstGeom prst="rect">
            <a:avLst/>
          </a:prstGeom>
          <a:noFill/>
          <a:ln>
            <a:noFill/>
          </a:ln>
        </p:spPr>
      </p:pic>
      <p:sp>
        <p:nvSpPr>
          <p:cNvPr id="264" name="Google Shape;264;p21"/>
          <p:cNvSpPr txBox="1"/>
          <p:nvPr/>
        </p:nvSpPr>
        <p:spPr>
          <a:xfrm>
            <a:off x="1921297" y="6477000"/>
            <a:ext cx="10058400" cy="1692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r">
              <a:spcBef>
                <a:spcPts val="0"/>
              </a:spcBef>
              <a:spcAft>
                <a:spcPts val="0"/>
              </a:spcAft>
              <a:buNone/>
            </a:pPr>
            <a:r>
              <a:rPr b="0" i="0" lang="en-US" sz="1100">
                <a:solidFill>
                  <a:srgbClr val="94A3B8"/>
                </a:solidFill>
                <a:latin typeface="Calibri"/>
                <a:ea typeface="Calibri"/>
                <a:cs typeface="Calibri"/>
                <a:sym typeface="Calibri"/>
              </a:rPr>
              <a:t>OpenSearchCon North America · 2026 · Agentic Search: Reimagining Search from Ingestion to Relevancy</a:t>
            </a:r>
            <a:endParaRPr b="0" i="0" sz="1100">
              <a:solidFill>
                <a:srgbClr val="94A3B8"/>
              </a:solidFill>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268" name="Shape 268"/>
        <p:cNvGrpSpPr/>
        <p:nvPr/>
      </p:nvGrpSpPr>
      <p:grpSpPr>
        <a:xfrm>
          <a:off x="0" y="0"/>
          <a:ext cx="0" cy="0"/>
          <a:chOff x="0" y="0"/>
          <a:chExt cx="0" cy="0"/>
        </a:xfrm>
      </p:grpSpPr>
      <p:sp>
        <p:nvSpPr>
          <p:cNvPr id="269" name="Google Shape;269;p22"/>
          <p:cNvSpPr txBox="1"/>
          <p:nvPr/>
        </p:nvSpPr>
        <p:spPr>
          <a:xfrm>
            <a:off x="457200" y="495300"/>
            <a:ext cx="11239500" cy="2667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i="0" lang="en-US" sz="1400">
                <a:solidFill>
                  <a:srgbClr val="0369A1"/>
                </a:solidFill>
                <a:latin typeface="Calibri"/>
                <a:ea typeface="Calibri"/>
                <a:cs typeface="Calibri"/>
                <a:sym typeface="Calibri"/>
              </a:rPr>
              <a:t>DEMO 1 RECAP</a:t>
            </a:r>
            <a:endParaRPr b="1" i="0" sz="1400">
              <a:solidFill>
                <a:srgbClr val="0369A1"/>
              </a:solidFill>
              <a:latin typeface="Calibri"/>
              <a:ea typeface="Calibri"/>
              <a:cs typeface="Calibri"/>
              <a:sym typeface="Calibri"/>
            </a:endParaRPr>
          </a:p>
        </p:txBody>
      </p:sp>
      <p:sp>
        <p:nvSpPr>
          <p:cNvPr id="270" name="Google Shape;270;p22"/>
          <p:cNvSpPr txBox="1"/>
          <p:nvPr/>
        </p:nvSpPr>
        <p:spPr>
          <a:xfrm>
            <a:off x="457200" y="838200"/>
            <a:ext cx="11239500" cy="6192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i="0" lang="en-US" sz="3800">
                <a:solidFill>
                  <a:srgbClr val="0A2540"/>
                </a:solidFill>
                <a:latin typeface="Calibri"/>
                <a:ea typeface="Calibri"/>
                <a:cs typeface="Calibri"/>
                <a:sym typeface="Calibri"/>
              </a:rPr>
              <a:t>Adaptive Query Enhancements</a:t>
            </a:r>
            <a:endParaRPr b="1" i="0" sz="3800">
              <a:solidFill>
                <a:srgbClr val="0A2540"/>
              </a:solidFill>
              <a:latin typeface="Calibri"/>
              <a:ea typeface="Calibri"/>
              <a:cs typeface="Calibri"/>
              <a:sym typeface="Calibri"/>
            </a:endParaRPr>
          </a:p>
        </p:txBody>
      </p:sp>
      <p:grpSp>
        <p:nvGrpSpPr>
          <p:cNvPr id="271" name="Google Shape;271;p22"/>
          <p:cNvGrpSpPr/>
          <p:nvPr/>
        </p:nvGrpSpPr>
        <p:grpSpPr>
          <a:xfrm>
            <a:off x="457200" y="1714500"/>
            <a:ext cx="3600600" cy="1857600"/>
            <a:chOff x="0" y="0"/>
            <a:chExt cx="3600600" cy="1857600"/>
          </a:xfrm>
        </p:grpSpPr>
        <p:sp>
          <p:nvSpPr>
            <p:cNvPr id="272" name="Google Shape;272;p22"/>
            <p:cNvSpPr/>
            <p:nvPr/>
          </p:nvSpPr>
          <p:spPr>
            <a:xfrm>
              <a:off x="0" y="0"/>
              <a:ext cx="3600600" cy="1857600"/>
            </a:xfrm>
            <a:prstGeom prst="roundRect">
              <a:avLst>
                <a:gd fmla="val 4102" name="adj"/>
              </a:avLst>
            </a:prstGeom>
            <a:solidFill>
              <a:srgbClr val="F8FAFC"/>
            </a:solidFill>
            <a:ln cap="flat" cmpd="sng" w="95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73" name="Google Shape;273;p22"/>
            <p:cNvSpPr txBox="1"/>
            <p:nvPr/>
          </p:nvSpPr>
          <p:spPr>
            <a:xfrm>
              <a:off x="228600" y="152400"/>
              <a:ext cx="3143400" cy="15432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i="0" lang="en-US" sz="1300">
                  <a:solidFill>
                    <a:srgbClr val="0EA5E9"/>
                  </a:solidFill>
                  <a:latin typeface="Calibri"/>
                  <a:ea typeface="Calibri"/>
                  <a:cs typeface="Calibri"/>
                  <a:sym typeface="Calibri"/>
                </a:rPr>
                <a:t>TURN 01</a:t>
              </a:r>
              <a:endParaRPr b="1" i="0" sz="1300">
                <a:solidFill>
                  <a:srgbClr val="0EA5E9"/>
                </a:solidFill>
                <a:latin typeface="Calibri"/>
                <a:ea typeface="Calibri"/>
                <a:cs typeface="Calibri"/>
                <a:sym typeface="Calibri"/>
              </a:endParaRPr>
            </a:p>
            <a:p>
              <a:pPr indent="0" lvl="0" marL="0" rtl="0" algn="l">
                <a:spcBef>
                  <a:spcPts val="400"/>
                </a:spcBef>
                <a:spcAft>
                  <a:spcPts val="0"/>
                </a:spcAft>
                <a:buNone/>
              </a:pPr>
              <a:r>
                <a:rPr b="1" i="0" lang="en-US" sz="1800">
                  <a:solidFill>
                    <a:srgbClr val="0A2540"/>
                  </a:solidFill>
                  <a:latin typeface="Calibri"/>
                  <a:ea typeface="Calibri"/>
                  <a:cs typeface="Calibri"/>
                  <a:sym typeface="Calibri"/>
                </a:rPr>
                <a:t>“blue running shoes”</a:t>
              </a:r>
              <a:endParaRPr b="1" i="0" sz="1300">
                <a:solidFill>
                  <a:srgbClr val="0EA5E9"/>
                </a:solidFill>
                <a:latin typeface="Calibri"/>
                <a:ea typeface="Calibri"/>
                <a:cs typeface="Calibri"/>
                <a:sym typeface="Calibri"/>
              </a:endParaRPr>
            </a:p>
            <a:p>
              <a:pPr indent="0" lvl="0" marL="0" rtl="0" algn="l">
                <a:spcBef>
                  <a:spcPts val="800"/>
                </a:spcBef>
                <a:spcAft>
                  <a:spcPts val="0"/>
                </a:spcAft>
                <a:buNone/>
              </a:pPr>
              <a:r>
                <a:rPr b="1" i="0" lang="en-US" sz="1350">
                  <a:solidFill>
                    <a:srgbClr val="475569"/>
                  </a:solidFill>
                  <a:latin typeface="Calibri"/>
                  <a:ea typeface="Calibri"/>
                  <a:cs typeface="Calibri"/>
                  <a:sym typeface="Calibri"/>
                </a:rPr>
                <a:t>α 0.25</a:t>
              </a:r>
              <a:r>
                <a:rPr b="0" i="0" lang="en-US" sz="1350">
                  <a:solidFill>
                    <a:srgbClr val="475569"/>
                  </a:solidFill>
                  <a:latin typeface="Calibri"/>
                  <a:ea typeface="Calibri"/>
                  <a:cs typeface="Calibri"/>
                  <a:sym typeface="Calibri"/>
                </a:rPr>
                <a:t> · Lexical priority</a:t>
              </a:r>
              <a:endParaRPr b="1" i="0" sz="1300">
                <a:solidFill>
                  <a:srgbClr val="0EA5E9"/>
                </a:solidFill>
                <a:latin typeface="Calibri"/>
                <a:ea typeface="Calibri"/>
                <a:cs typeface="Calibri"/>
                <a:sym typeface="Calibri"/>
              </a:endParaRPr>
            </a:p>
            <a:p>
              <a:pPr indent="0" lvl="0" marL="0" rtl="0" algn="l">
                <a:spcBef>
                  <a:spcPts val="500"/>
                </a:spcBef>
                <a:spcAft>
                  <a:spcPts val="0"/>
                </a:spcAft>
                <a:buNone/>
              </a:pPr>
              <a:r>
                <a:rPr b="0" i="0" lang="en-US" sz="1350">
                  <a:solidFill>
                    <a:srgbClr val="475569"/>
                  </a:solidFill>
                  <a:latin typeface="Calibri"/>
                  <a:ea typeface="Calibri"/>
                  <a:cs typeface="Calibri"/>
                  <a:sym typeface="Calibri"/>
                </a:rPr>
                <a:t>Filters applied: color, feature</a:t>
              </a:r>
              <a:endParaRPr b="1" i="0" sz="1300">
                <a:solidFill>
                  <a:srgbClr val="0EA5E9"/>
                </a:solidFill>
                <a:latin typeface="Calibri"/>
                <a:ea typeface="Calibri"/>
                <a:cs typeface="Calibri"/>
                <a:sym typeface="Calibri"/>
              </a:endParaRPr>
            </a:p>
          </p:txBody>
        </p:sp>
      </p:grpSp>
      <p:grpSp>
        <p:nvGrpSpPr>
          <p:cNvPr id="274" name="Google Shape;274;p22"/>
          <p:cNvGrpSpPr/>
          <p:nvPr/>
        </p:nvGrpSpPr>
        <p:grpSpPr>
          <a:xfrm>
            <a:off x="4295775" y="1714500"/>
            <a:ext cx="3600600" cy="1857600"/>
            <a:chOff x="0" y="0"/>
            <a:chExt cx="3600600" cy="1857600"/>
          </a:xfrm>
        </p:grpSpPr>
        <p:sp>
          <p:nvSpPr>
            <p:cNvPr id="275" name="Google Shape;275;p22"/>
            <p:cNvSpPr/>
            <p:nvPr/>
          </p:nvSpPr>
          <p:spPr>
            <a:xfrm>
              <a:off x="0" y="0"/>
              <a:ext cx="3600600" cy="1857600"/>
            </a:xfrm>
            <a:prstGeom prst="roundRect">
              <a:avLst>
                <a:gd fmla="val 4102" name="adj"/>
              </a:avLst>
            </a:prstGeom>
            <a:solidFill>
              <a:srgbClr val="F8FAFC"/>
            </a:solidFill>
            <a:ln cap="flat" cmpd="sng" w="95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76" name="Google Shape;276;p22"/>
            <p:cNvSpPr txBox="1"/>
            <p:nvPr/>
          </p:nvSpPr>
          <p:spPr>
            <a:xfrm>
              <a:off x="228600" y="152400"/>
              <a:ext cx="3143400" cy="15432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i="0" lang="en-US" sz="1300">
                  <a:solidFill>
                    <a:srgbClr val="0EA5E9"/>
                  </a:solidFill>
                  <a:latin typeface="Calibri"/>
                  <a:ea typeface="Calibri"/>
                  <a:cs typeface="Calibri"/>
                  <a:sym typeface="Calibri"/>
                </a:rPr>
                <a:t>TURN 02</a:t>
              </a:r>
              <a:endParaRPr b="1" i="0" sz="1300">
                <a:solidFill>
                  <a:srgbClr val="0EA5E9"/>
                </a:solidFill>
                <a:latin typeface="Calibri"/>
                <a:ea typeface="Calibri"/>
                <a:cs typeface="Calibri"/>
                <a:sym typeface="Calibri"/>
              </a:endParaRPr>
            </a:p>
            <a:p>
              <a:pPr indent="0" lvl="0" marL="0" rtl="0" algn="l">
                <a:spcBef>
                  <a:spcPts val="400"/>
                </a:spcBef>
                <a:spcAft>
                  <a:spcPts val="0"/>
                </a:spcAft>
                <a:buNone/>
              </a:pPr>
              <a:r>
                <a:rPr b="1" i="0" lang="en-US" sz="1800">
                  <a:solidFill>
                    <a:srgbClr val="0A2540"/>
                  </a:solidFill>
                  <a:latin typeface="Calibri"/>
                  <a:ea typeface="Calibri"/>
                  <a:cs typeface="Calibri"/>
                  <a:sym typeface="Calibri"/>
                </a:rPr>
                <a:t>“only size 10”</a:t>
              </a:r>
              <a:endParaRPr b="1" i="0" sz="1300">
                <a:solidFill>
                  <a:srgbClr val="0EA5E9"/>
                </a:solidFill>
                <a:latin typeface="Calibri"/>
                <a:ea typeface="Calibri"/>
                <a:cs typeface="Calibri"/>
                <a:sym typeface="Calibri"/>
              </a:endParaRPr>
            </a:p>
            <a:p>
              <a:pPr indent="0" lvl="0" marL="0" rtl="0" algn="l">
                <a:spcBef>
                  <a:spcPts val="800"/>
                </a:spcBef>
                <a:spcAft>
                  <a:spcPts val="0"/>
                </a:spcAft>
                <a:buNone/>
              </a:pPr>
              <a:r>
                <a:rPr b="1" i="0" lang="en-US" sz="1350">
                  <a:solidFill>
                    <a:srgbClr val="475569"/>
                  </a:solidFill>
                  <a:latin typeface="Calibri"/>
                  <a:ea typeface="Calibri"/>
                  <a:cs typeface="Calibri"/>
                  <a:sym typeface="Calibri"/>
                </a:rPr>
                <a:t>α 0.35</a:t>
              </a:r>
              <a:endParaRPr b="1" i="0" sz="1300">
                <a:solidFill>
                  <a:srgbClr val="0EA5E9"/>
                </a:solidFill>
                <a:latin typeface="Calibri"/>
                <a:ea typeface="Calibri"/>
                <a:cs typeface="Calibri"/>
                <a:sym typeface="Calibri"/>
              </a:endParaRPr>
            </a:p>
            <a:p>
              <a:pPr indent="0" lvl="0" marL="0" rtl="0" algn="l">
                <a:spcBef>
                  <a:spcPts val="500"/>
                </a:spcBef>
                <a:spcAft>
                  <a:spcPts val="0"/>
                </a:spcAft>
                <a:buNone/>
              </a:pPr>
              <a:r>
                <a:rPr b="0" i="0" lang="en-US" sz="1350">
                  <a:solidFill>
                    <a:srgbClr val="475569"/>
                  </a:solidFill>
                  <a:latin typeface="Calibri"/>
                  <a:ea typeface="Calibri"/>
                  <a:cs typeface="Calibri"/>
                  <a:sym typeface="Calibri"/>
                </a:rPr>
                <a:t>Narrowed the same 10 results without re-searching</a:t>
              </a:r>
              <a:endParaRPr b="1" i="0" sz="1300">
                <a:solidFill>
                  <a:srgbClr val="0EA5E9"/>
                </a:solidFill>
                <a:latin typeface="Calibri"/>
                <a:ea typeface="Calibri"/>
                <a:cs typeface="Calibri"/>
                <a:sym typeface="Calibri"/>
              </a:endParaRPr>
            </a:p>
          </p:txBody>
        </p:sp>
      </p:grpSp>
      <p:grpSp>
        <p:nvGrpSpPr>
          <p:cNvPr id="277" name="Google Shape;277;p22"/>
          <p:cNvGrpSpPr/>
          <p:nvPr/>
        </p:nvGrpSpPr>
        <p:grpSpPr>
          <a:xfrm>
            <a:off x="8134350" y="1714500"/>
            <a:ext cx="3600600" cy="1857600"/>
            <a:chOff x="0" y="0"/>
            <a:chExt cx="3600600" cy="1857600"/>
          </a:xfrm>
        </p:grpSpPr>
        <p:sp>
          <p:nvSpPr>
            <p:cNvPr id="278" name="Google Shape;278;p22"/>
            <p:cNvSpPr/>
            <p:nvPr/>
          </p:nvSpPr>
          <p:spPr>
            <a:xfrm>
              <a:off x="0" y="0"/>
              <a:ext cx="3600600" cy="1857600"/>
            </a:xfrm>
            <a:prstGeom prst="roundRect">
              <a:avLst>
                <a:gd fmla="val 4102" name="adj"/>
              </a:avLst>
            </a:prstGeom>
            <a:solidFill>
              <a:srgbClr val="F8FAFC"/>
            </a:solidFill>
            <a:ln cap="flat" cmpd="sng" w="95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79" name="Google Shape;279;p22"/>
            <p:cNvSpPr txBox="1"/>
            <p:nvPr/>
          </p:nvSpPr>
          <p:spPr>
            <a:xfrm>
              <a:off x="228600" y="152400"/>
              <a:ext cx="3143400" cy="15432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i="0" lang="en-US" sz="1300">
                  <a:solidFill>
                    <a:srgbClr val="0EA5E9"/>
                  </a:solidFill>
                  <a:latin typeface="Calibri"/>
                  <a:ea typeface="Calibri"/>
                  <a:cs typeface="Calibri"/>
                  <a:sym typeface="Calibri"/>
                </a:rPr>
                <a:t>TURN 03</a:t>
              </a:r>
              <a:endParaRPr b="1" i="0" sz="1300">
                <a:solidFill>
                  <a:srgbClr val="0EA5E9"/>
                </a:solidFill>
                <a:latin typeface="Calibri"/>
                <a:ea typeface="Calibri"/>
                <a:cs typeface="Calibri"/>
                <a:sym typeface="Calibri"/>
              </a:endParaRPr>
            </a:p>
            <a:p>
              <a:pPr indent="0" lvl="0" marL="0" rtl="0" algn="l">
                <a:spcBef>
                  <a:spcPts val="400"/>
                </a:spcBef>
                <a:spcAft>
                  <a:spcPts val="0"/>
                </a:spcAft>
                <a:buNone/>
              </a:pPr>
              <a:r>
                <a:rPr b="1" i="0" lang="en-US" sz="1800">
                  <a:solidFill>
                    <a:srgbClr val="0A2540"/>
                  </a:solidFill>
                  <a:latin typeface="Calibri"/>
                  <a:ea typeface="Calibri"/>
                  <a:cs typeface="Calibri"/>
                  <a:sym typeface="Calibri"/>
                </a:rPr>
                <a:t>“what about trail running?”</a:t>
              </a:r>
              <a:endParaRPr b="1" i="0" sz="1300">
                <a:solidFill>
                  <a:srgbClr val="0EA5E9"/>
                </a:solidFill>
                <a:latin typeface="Calibri"/>
                <a:ea typeface="Calibri"/>
                <a:cs typeface="Calibri"/>
                <a:sym typeface="Calibri"/>
              </a:endParaRPr>
            </a:p>
            <a:p>
              <a:pPr indent="0" lvl="0" marL="0" rtl="0" algn="l">
                <a:spcBef>
                  <a:spcPts val="800"/>
                </a:spcBef>
                <a:spcAft>
                  <a:spcPts val="0"/>
                </a:spcAft>
                <a:buNone/>
              </a:pPr>
              <a:r>
                <a:rPr b="1" i="0" lang="en-US" sz="1350">
                  <a:solidFill>
                    <a:srgbClr val="475569"/>
                  </a:solidFill>
                  <a:latin typeface="Calibri"/>
                  <a:ea typeface="Calibri"/>
                  <a:cs typeface="Calibri"/>
                  <a:sym typeface="Calibri"/>
                </a:rPr>
                <a:t>α 0.70</a:t>
              </a:r>
              <a:r>
                <a:rPr b="0" i="0" lang="en-US" sz="1350">
                  <a:solidFill>
                    <a:srgbClr val="475569"/>
                  </a:solidFill>
                  <a:latin typeface="Calibri"/>
                  <a:ea typeface="Calibri"/>
                  <a:cs typeface="Calibri"/>
                  <a:sym typeface="Calibri"/>
                </a:rPr>
                <a:t> · Semantic priority</a:t>
              </a:r>
              <a:endParaRPr b="1" i="0" sz="1300">
                <a:solidFill>
                  <a:srgbClr val="0EA5E9"/>
                </a:solidFill>
                <a:latin typeface="Calibri"/>
                <a:ea typeface="Calibri"/>
                <a:cs typeface="Calibri"/>
                <a:sym typeface="Calibri"/>
              </a:endParaRPr>
            </a:p>
            <a:p>
              <a:pPr indent="0" lvl="0" marL="0" rtl="0" algn="l">
                <a:spcBef>
                  <a:spcPts val="500"/>
                </a:spcBef>
                <a:spcAft>
                  <a:spcPts val="0"/>
                </a:spcAft>
                <a:buNone/>
              </a:pPr>
              <a:r>
                <a:rPr b="0" i="0" lang="en-US" sz="1350">
                  <a:solidFill>
                    <a:srgbClr val="475569"/>
                  </a:solidFill>
                  <a:latin typeface="Calibri"/>
                  <a:ea typeface="Calibri"/>
                  <a:cs typeface="Calibri"/>
                  <a:sym typeface="Calibri"/>
                </a:rPr>
                <a:t>Rewritten to carry both previous filters forward</a:t>
              </a:r>
              <a:endParaRPr b="1" i="0" sz="1300">
                <a:solidFill>
                  <a:srgbClr val="0EA5E9"/>
                </a:solidFill>
                <a:latin typeface="Calibri"/>
                <a:ea typeface="Calibri"/>
                <a:cs typeface="Calibri"/>
                <a:sym typeface="Calibri"/>
              </a:endParaRPr>
            </a:p>
          </p:txBody>
        </p:sp>
      </p:grpSp>
      <p:grpSp>
        <p:nvGrpSpPr>
          <p:cNvPr id="280" name="Google Shape;280;p22"/>
          <p:cNvGrpSpPr/>
          <p:nvPr/>
        </p:nvGrpSpPr>
        <p:grpSpPr>
          <a:xfrm>
            <a:off x="457200" y="3733800"/>
            <a:ext cx="5524500" cy="1238400"/>
            <a:chOff x="0" y="0"/>
            <a:chExt cx="5524500" cy="1238400"/>
          </a:xfrm>
        </p:grpSpPr>
        <p:sp>
          <p:nvSpPr>
            <p:cNvPr id="281" name="Google Shape;281;p22"/>
            <p:cNvSpPr/>
            <p:nvPr/>
          </p:nvSpPr>
          <p:spPr>
            <a:xfrm>
              <a:off x="0" y="0"/>
              <a:ext cx="5524500" cy="1238400"/>
            </a:xfrm>
            <a:prstGeom prst="roundRect">
              <a:avLst>
                <a:gd fmla="val 6153" name="adj"/>
              </a:avLst>
            </a:prstGeom>
            <a:solidFill>
              <a:srgbClr val="F8FAFC"/>
            </a:solidFill>
            <a:ln cap="flat" cmpd="sng" w="95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82" name="Google Shape;282;p22"/>
            <p:cNvSpPr txBox="1"/>
            <p:nvPr/>
          </p:nvSpPr>
          <p:spPr>
            <a:xfrm>
              <a:off x="190500" y="95250"/>
              <a:ext cx="5143500" cy="10479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i="0" lang="en-US" sz="1200">
                  <a:solidFill>
                    <a:srgbClr val="0EA5E9"/>
                  </a:solidFill>
                  <a:latin typeface="Calibri"/>
                  <a:ea typeface="Calibri"/>
                  <a:cs typeface="Calibri"/>
                  <a:sym typeface="Calibri"/>
                </a:rPr>
                <a:t>QUERY TRANSLATION</a:t>
              </a:r>
              <a:endParaRPr b="1" i="0" sz="1200">
                <a:solidFill>
                  <a:srgbClr val="0EA5E9"/>
                </a:solidFill>
                <a:latin typeface="Calibri"/>
                <a:ea typeface="Calibri"/>
                <a:cs typeface="Calibri"/>
                <a:sym typeface="Calibri"/>
              </a:endParaRPr>
            </a:p>
            <a:p>
              <a:pPr indent="0" lvl="0" marL="0" rtl="0" algn="l">
                <a:spcBef>
                  <a:spcPts val="500"/>
                </a:spcBef>
                <a:spcAft>
                  <a:spcPts val="0"/>
                </a:spcAft>
                <a:buNone/>
              </a:pPr>
              <a:r>
                <a:rPr b="1" i="0" lang="en-US" sz="1100">
                  <a:solidFill>
                    <a:srgbClr val="DC2626"/>
                  </a:solidFill>
                  <a:latin typeface="Calibri"/>
                  <a:ea typeface="Calibri"/>
                  <a:cs typeface="Calibri"/>
                  <a:sym typeface="Calibri"/>
                </a:rPr>
                <a:t>BEFORE: </a:t>
              </a:r>
              <a:r>
                <a:rPr b="1" i="0" lang="en-US" sz="1250">
                  <a:solidFill>
                    <a:srgbClr val="0A2540"/>
                  </a:solidFill>
                  <a:latin typeface="Calibri"/>
                  <a:ea typeface="Calibri"/>
                  <a:cs typeface="Calibri"/>
                  <a:sym typeface="Calibri"/>
                </a:rPr>
                <a:t>query="trail running"</a:t>
              </a:r>
              <a:r>
                <a:rPr b="1" i="0" lang="en-US" sz="1200">
                  <a:solidFill>
                    <a:srgbClr val="0EA5E9"/>
                  </a:solidFill>
                  <a:latin typeface="Calibri"/>
                  <a:ea typeface="Calibri"/>
                  <a:cs typeface="Calibri"/>
                  <a:sym typeface="Calibri"/>
                </a:rPr>
                <a:t> </a:t>
              </a:r>
              <a:r>
                <a:rPr b="0" i="0" lang="en-US" sz="1100">
                  <a:solidFill>
                    <a:srgbClr val="64748B"/>
                  </a:solidFill>
                  <a:latin typeface="Calibri"/>
                  <a:ea typeface="Calibri"/>
                  <a:cs typeface="Calibri"/>
                  <a:sym typeface="Calibri"/>
                </a:rPr>
                <a:t>(filters: none)</a:t>
              </a:r>
              <a:endParaRPr b="1" i="0" sz="1200">
                <a:solidFill>
                  <a:srgbClr val="0EA5E9"/>
                </a:solidFill>
                <a:latin typeface="Calibri"/>
                <a:ea typeface="Calibri"/>
                <a:cs typeface="Calibri"/>
                <a:sym typeface="Calibri"/>
              </a:endParaRPr>
            </a:p>
            <a:p>
              <a:pPr indent="0" lvl="0" marL="0" rtl="0" algn="l">
                <a:spcBef>
                  <a:spcPts val="400"/>
                </a:spcBef>
                <a:spcAft>
                  <a:spcPts val="0"/>
                </a:spcAft>
                <a:buNone/>
              </a:pPr>
              <a:r>
                <a:rPr b="1" i="0" lang="en-US" sz="1100">
                  <a:solidFill>
                    <a:srgbClr val="16A34A"/>
                  </a:solidFill>
                  <a:latin typeface="Calibri"/>
                  <a:ea typeface="Calibri"/>
                  <a:cs typeface="Calibri"/>
                  <a:sym typeface="Calibri"/>
                </a:rPr>
                <a:t>AFTER: </a:t>
              </a:r>
              <a:r>
                <a:rPr b="1" i="0" lang="en-US" sz="1250">
                  <a:solidFill>
                    <a:srgbClr val="0A2540"/>
                  </a:solidFill>
                  <a:latin typeface="Calibri"/>
                  <a:ea typeface="Calibri"/>
                  <a:cs typeface="Calibri"/>
                  <a:sym typeface="Calibri"/>
                </a:rPr>
                <a:t>query="blue trail running shoes"</a:t>
              </a:r>
              <a:endParaRPr b="1" i="0" sz="1200">
                <a:solidFill>
                  <a:srgbClr val="0EA5E9"/>
                </a:solidFill>
                <a:latin typeface="Calibri"/>
                <a:ea typeface="Calibri"/>
                <a:cs typeface="Calibri"/>
                <a:sym typeface="Calibri"/>
              </a:endParaRPr>
            </a:p>
            <a:p>
              <a:pPr indent="0" lvl="0" marL="0" rtl="0" algn="l">
                <a:spcBef>
                  <a:spcPts val="300"/>
                </a:spcBef>
                <a:spcAft>
                  <a:spcPts val="0"/>
                </a:spcAft>
                <a:buNone/>
              </a:pPr>
              <a:r>
                <a:rPr b="0" i="0" lang="en-US" sz="1150">
                  <a:solidFill>
                    <a:srgbClr val="475569"/>
                  </a:solidFill>
                  <a:latin typeface="Calibri"/>
                  <a:ea typeface="Calibri"/>
                  <a:cs typeface="Calibri"/>
                  <a:sym typeface="Calibri"/>
                </a:rPr>
                <a:t>filters: color=blue, size=10 — carried forward from Turns 01–02</a:t>
              </a:r>
              <a:endParaRPr b="1" i="0" sz="1200">
                <a:solidFill>
                  <a:srgbClr val="0EA5E9"/>
                </a:solidFill>
                <a:latin typeface="Calibri"/>
                <a:ea typeface="Calibri"/>
                <a:cs typeface="Calibri"/>
                <a:sym typeface="Calibri"/>
              </a:endParaRPr>
            </a:p>
          </p:txBody>
        </p:sp>
      </p:grpSp>
      <p:grpSp>
        <p:nvGrpSpPr>
          <p:cNvPr id="283" name="Google Shape;283;p22"/>
          <p:cNvGrpSpPr/>
          <p:nvPr/>
        </p:nvGrpSpPr>
        <p:grpSpPr>
          <a:xfrm>
            <a:off x="6210300" y="3733800"/>
            <a:ext cx="5524500" cy="1238400"/>
            <a:chOff x="0" y="0"/>
            <a:chExt cx="5524500" cy="1238400"/>
          </a:xfrm>
        </p:grpSpPr>
        <p:sp>
          <p:nvSpPr>
            <p:cNvPr id="284" name="Google Shape;284;p22"/>
            <p:cNvSpPr/>
            <p:nvPr/>
          </p:nvSpPr>
          <p:spPr>
            <a:xfrm>
              <a:off x="0" y="0"/>
              <a:ext cx="5524500" cy="1238400"/>
            </a:xfrm>
            <a:prstGeom prst="roundRect">
              <a:avLst>
                <a:gd fmla="val 6153" name="adj"/>
              </a:avLst>
            </a:prstGeom>
            <a:solidFill>
              <a:srgbClr val="F8FAFC"/>
            </a:solidFill>
            <a:ln cap="flat" cmpd="sng" w="95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85" name="Google Shape;285;p22"/>
            <p:cNvSpPr txBox="1"/>
            <p:nvPr/>
          </p:nvSpPr>
          <p:spPr>
            <a:xfrm>
              <a:off x="190500" y="95250"/>
              <a:ext cx="5143500" cy="10479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i="0" lang="en-US" sz="1200">
                  <a:solidFill>
                    <a:srgbClr val="0EA5E9"/>
                  </a:solidFill>
                  <a:latin typeface="Calibri"/>
                  <a:ea typeface="Calibri"/>
                  <a:cs typeface="Calibri"/>
                  <a:sym typeface="Calibri"/>
                </a:rPr>
                <a:t>HOW THE AGENT REWRITES A QUERY</a:t>
              </a:r>
              <a:endParaRPr b="1" i="0" sz="1200">
                <a:solidFill>
                  <a:srgbClr val="0EA5E9"/>
                </a:solidFill>
                <a:latin typeface="Calibri"/>
                <a:ea typeface="Calibri"/>
                <a:cs typeface="Calibri"/>
                <a:sym typeface="Calibri"/>
              </a:endParaRPr>
            </a:p>
            <a:p>
              <a:pPr indent="0" lvl="0" marL="0" rtl="0" algn="l">
                <a:spcBef>
                  <a:spcPts val="500"/>
                </a:spcBef>
                <a:spcAft>
                  <a:spcPts val="0"/>
                </a:spcAft>
                <a:buNone/>
              </a:pPr>
              <a:r>
                <a:rPr b="0" i="0" lang="en-US" sz="1200">
                  <a:solidFill>
                    <a:srgbClr val="475569"/>
                  </a:solidFill>
                  <a:latin typeface="Calibri"/>
                  <a:ea typeface="Calibri"/>
                  <a:cs typeface="Calibri"/>
                  <a:sym typeface="Calibri"/>
                </a:rPr>
                <a:t>Before hybrid search ever runs, the retriever node resolves pronouns and comparatives against conversation history — </a:t>
              </a:r>
              <a:r>
                <a:rPr b="1" i="0" lang="en-US" sz="1200">
                  <a:solidFill>
                    <a:srgbClr val="0A2540"/>
                  </a:solidFill>
                  <a:latin typeface="Calibri"/>
                  <a:ea typeface="Calibri"/>
                  <a:cs typeface="Calibri"/>
                  <a:sym typeface="Calibri"/>
                </a:rPr>
                <a:t>“what about trail running?”</a:t>
              </a:r>
              <a:r>
                <a:rPr b="0" i="0" lang="en-US" sz="1200">
                  <a:solidFill>
                    <a:srgbClr val="475569"/>
                  </a:solidFill>
                  <a:latin typeface="Calibri"/>
                  <a:ea typeface="Calibri"/>
                  <a:cs typeface="Calibri"/>
                  <a:sym typeface="Calibri"/>
                </a:rPr>
                <a:t> plus the prior two turns becomes </a:t>
              </a:r>
              <a:r>
                <a:rPr b="1" i="0" lang="en-US" sz="1200">
                  <a:solidFill>
                    <a:srgbClr val="0A2540"/>
                  </a:solidFill>
                  <a:latin typeface="Calibri"/>
                  <a:ea typeface="Calibri"/>
                  <a:cs typeface="Calibri"/>
                  <a:sym typeface="Calibri"/>
                </a:rPr>
                <a:t>“blue trail running shoes, size 10.”</a:t>
              </a:r>
              <a:r>
                <a:rPr b="0" i="0" lang="en-US" sz="1200">
                  <a:solidFill>
                    <a:srgbClr val="475569"/>
                  </a:solidFill>
                  <a:latin typeface="Calibri"/>
                  <a:ea typeface="Calibri"/>
                  <a:cs typeface="Calibri"/>
                  <a:sym typeface="Calibri"/>
                </a:rPr>
                <a:t> The rewrite happens inside retrieval, not as a separate step the user sees.</a:t>
              </a:r>
              <a:endParaRPr b="1" i="0" sz="1200">
                <a:solidFill>
                  <a:srgbClr val="0EA5E9"/>
                </a:solidFill>
                <a:latin typeface="Calibri"/>
                <a:ea typeface="Calibri"/>
                <a:cs typeface="Calibri"/>
                <a:sym typeface="Calibri"/>
              </a:endParaRPr>
            </a:p>
          </p:txBody>
        </p:sp>
      </p:grpSp>
      <p:grpSp>
        <p:nvGrpSpPr>
          <p:cNvPr id="286" name="Google Shape;286;p22"/>
          <p:cNvGrpSpPr/>
          <p:nvPr/>
        </p:nvGrpSpPr>
        <p:grpSpPr>
          <a:xfrm>
            <a:off x="457200" y="5143500"/>
            <a:ext cx="11277600" cy="952500"/>
            <a:chOff x="0" y="0"/>
            <a:chExt cx="11277600" cy="952500"/>
          </a:xfrm>
        </p:grpSpPr>
        <p:sp>
          <p:nvSpPr>
            <p:cNvPr id="287" name="Google Shape;287;p22"/>
            <p:cNvSpPr/>
            <p:nvPr/>
          </p:nvSpPr>
          <p:spPr>
            <a:xfrm>
              <a:off x="0" y="0"/>
              <a:ext cx="11277600" cy="952500"/>
            </a:xfrm>
            <a:prstGeom prst="roundRect">
              <a:avLst>
                <a:gd fmla="val 8000" name="adj"/>
              </a:avLst>
            </a:prstGeom>
            <a:solidFill>
              <a:srgbClr val="0A2540"/>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88" name="Google Shape;288;p22"/>
            <p:cNvSpPr txBox="1"/>
            <p:nvPr/>
          </p:nvSpPr>
          <p:spPr>
            <a:xfrm>
              <a:off x="304800" y="152400"/>
              <a:ext cx="10668000" cy="6477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l">
                <a:spcBef>
                  <a:spcPts val="0"/>
                </a:spcBef>
                <a:spcAft>
                  <a:spcPts val="0"/>
                </a:spcAft>
                <a:buNone/>
              </a:pPr>
              <a:r>
                <a:rPr b="1" i="0" lang="en-US" sz="1350">
                  <a:solidFill>
                    <a:srgbClr val="0EA5E9"/>
                  </a:solidFill>
                  <a:latin typeface="Calibri"/>
                  <a:ea typeface="Calibri"/>
                  <a:cs typeface="Calibri"/>
                  <a:sym typeface="Calibri"/>
                </a:rPr>
                <a:t>KEY TAKEAWAY</a:t>
              </a:r>
              <a:endParaRPr b="1" i="0" sz="1350">
                <a:solidFill>
                  <a:srgbClr val="0EA5E9"/>
                </a:solidFill>
                <a:latin typeface="Calibri"/>
                <a:ea typeface="Calibri"/>
                <a:cs typeface="Calibri"/>
                <a:sym typeface="Calibri"/>
              </a:endParaRPr>
            </a:p>
            <a:p>
              <a:pPr indent="0" lvl="0" marL="0" rtl="0" algn="l">
                <a:spcBef>
                  <a:spcPts val="300"/>
                </a:spcBef>
                <a:spcAft>
                  <a:spcPts val="0"/>
                </a:spcAft>
                <a:buNone/>
              </a:pPr>
              <a:r>
                <a:rPr b="1" i="0" lang="en-US" sz="2400">
                  <a:solidFill>
                    <a:srgbClr val="FFFFFF"/>
                  </a:solidFill>
                  <a:latin typeface="Calibri"/>
                  <a:ea typeface="Calibri"/>
                  <a:cs typeface="Calibri"/>
                  <a:sym typeface="Calibri"/>
                </a:rPr>
                <a:t>Alpha climbed as questions got less literal — nobody set that per query.</a:t>
              </a:r>
              <a:endParaRPr b="1" i="0" sz="1350">
                <a:solidFill>
                  <a:srgbClr val="0EA5E9"/>
                </a:solidFill>
                <a:latin typeface="Calibri"/>
                <a:ea typeface="Calibri"/>
                <a:cs typeface="Calibri"/>
                <a:sym typeface="Calibri"/>
              </a:endParaRPr>
            </a:p>
          </p:txBody>
        </p:sp>
      </p:grpSp>
      <p:sp>
        <p:nvSpPr>
          <p:cNvPr id="289" name="Google Shape;289;p22"/>
          <p:cNvSpPr txBox="1"/>
          <p:nvPr/>
        </p:nvSpPr>
        <p:spPr>
          <a:xfrm>
            <a:off x="365760" y="228600"/>
            <a:ext cx="1371600" cy="13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900"/>
              <a:buFont typeface="Arial"/>
              <a:buNone/>
            </a:pPr>
            <a:r>
              <a:rPr lang="en-US" sz="900">
                <a:solidFill>
                  <a:srgbClr val="94A3B8"/>
                </a:solidFill>
                <a:latin typeface="Calibri"/>
                <a:ea typeface="Calibri"/>
                <a:cs typeface="Calibri"/>
                <a:sym typeface="Calibri"/>
              </a:rPr>
              <a:t>6 / 11</a:t>
            </a:r>
            <a:endParaRPr b="0" i="0" sz="1400" u="none" cap="none" strike="noStrike">
              <a:solidFill>
                <a:srgbClr val="000000"/>
              </a:solidFill>
              <a:latin typeface="Arial"/>
              <a:ea typeface="Arial"/>
              <a:cs typeface="Arial"/>
              <a:sym typeface="Arial"/>
            </a:endParaRPr>
          </a:p>
        </p:txBody>
      </p:sp>
      <p:pic>
        <p:nvPicPr>
          <p:cNvPr id="290" name="Google Shape;290;p22" title="KMWLogo_blk_blue.png"/>
          <p:cNvPicPr preferRelativeResize="0"/>
          <p:nvPr/>
        </p:nvPicPr>
        <p:blipFill>
          <a:blip r:embed="rId4">
            <a:alphaModFix/>
          </a:blip>
          <a:stretch>
            <a:fillRect/>
          </a:stretch>
        </p:blipFill>
        <p:spPr>
          <a:xfrm>
            <a:off x="10059924" y="314175"/>
            <a:ext cx="1644399" cy="645950"/>
          </a:xfrm>
          <a:prstGeom prst="rect">
            <a:avLst/>
          </a:prstGeom>
          <a:noFill/>
          <a:ln>
            <a:noFill/>
          </a:ln>
        </p:spPr>
      </p:pic>
      <p:sp>
        <p:nvSpPr>
          <p:cNvPr id="291" name="Google Shape;291;p22"/>
          <p:cNvSpPr txBox="1"/>
          <p:nvPr/>
        </p:nvSpPr>
        <p:spPr>
          <a:xfrm>
            <a:off x="1921298" y="6513375"/>
            <a:ext cx="10058400" cy="138600"/>
          </a:xfrm>
          <a:prstGeom prst="rect">
            <a:avLst/>
          </a:prstGeom>
          <a:noFill/>
          <a:ln>
            <a:noFill/>
          </a:ln>
        </p:spPr>
        <p:txBody>
          <a:bodyPr anchorCtr="0" anchor="t" bIns="0" lIns="0" spcFirstLastPara="1" rIns="0" wrap="square" tIns="0">
            <a:spAutoFit/>
          </a:bodyPr>
          <a:lstStyle/>
          <a:p>
            <a:pPr indent="0" lvl="0" marL="0" marR="0" rtl="0" algn="r">
              <a:lnSpc>
                <a:spcPct val="100000"/>
              </a:lnSpc>
              <a:spcBef>
                <a:spcPts val="0"/>
              </a:spcBef>
              <a:spcAft>
                <a:spcPts val="0"/>
              </a:spcAft>
              <a:buClr>
                <a:srgbClr val="000000"/>
              </a:buClr>
              <a:buSzPts val="900"/>
              <a:buFont typeface="Arial"/>
              <a:buNone/>
            </a:pPr>
            <a:r>
              <a:rPr b="0" i="0" lang="en-US" sz="900" u="none" cap="none" strike="noStrike">
                <a:solidFill>
                  <a:srgbClr val="94A3B8"/>
                </a:solidFill>
                <a:latin typeface="Calibri"/>
                <a:ea typeface="Calibri"/>
                <a:cs typeface="Calibri"/>
                <a:sym typeface="Calibri"/>
              </a:rPr>
              <a:t>OpenSearchCon N</a:t>
            </a:r>
            <a:r>
              <a:rPr lang="en-US" sz="900">
                <a:solidFill>
                  <a:srgbClr val="94A3B8"/>
                </a:solidFill>
                <a:latin typeface="Calibri"/>
                <a:ea typeface="Calibri"/>
                <a:cs typeface="Calibri"/>
                <a:sym typeface="Calibri"/>
              </a:rPr>
              <a:t>orth America</a:t>
            </a:r>
            <a:r>
              <a:rPr b="0" i="0" lang="en-US" sz="900" u="none" cap="none" strike="noStrike">
                <a:solidFill>
                  <a:srgbClr val="94A3B8"/>
                </a:solidFill>
                <a:latin typeface="Calibri"/>
                <a:ea typeface="Calibri"/>
                <a:cs typeface="Calibri"/>
                <a:sym typeface="Calibri"/>
              </a:rPr>
              <a:t> </a:t>
            </a:r>
            <a:r>
              <a:rPr lang="en-US" sz="900">
                <a:solidFill>
                  <a:srgbClr val="94A3B8"/>
                </a:solidFill>
                <a:latin typeface="Calibri"/>
                <a:ea typeface="Calibri"/>
                <a:cs typeface="Calibri"/>
                <a:sym typeface="Calibri"/>
              </a:rPr>
              <a:t>· </a:t>
            </a:r>
            <a:r>
              <a:rPr b="0" i="0" lang="en-US" sz="900" u="none" cap="none" strike="noStrike">
                <a:solidFill>
                  <a:srgbClr val="94A3B8"/>
                </a:solidFill>
                <a:latin typeface="Calibri"/>
                <a:ea typeface="Calibri"/>
                <a:cs typeface="Calibri"/>
                <a:sym typeface="Calibri"/>
              </a:rPr>
              <a:t>2026  ·  Agentic Search: Reimagining Search from Ingestion to Relevancy</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295" name="Shape 295"/>
        <p:cNvGrpSpPr/>
        <p:nvPr/>
      </p:nvGrpSpPr>
      <p:grpSpPr>
        <a:xfrm>
          <a:off x="0" y="0"/>
          <a:ext cx="0" cy="0"/>
          <a:chOff x="0" y="0"/>
          <a:chExt cx="0" cy="0"/>
        </a:xfrm>
      </p:grpSpPr>
      <p:sp>
        <p:nvSpPr>
          <p:cNvPr id="296" name="Google Shape;296;p23"/>
          <p:cNvSpPr txBox="1"/>
          <p:nvPr/>
        </p:nvSpPr>
        <p:spPr>
          <a:xfrm>
            <a:off x="457200" y="533400"/>
            <a:ext cx="11239500" cy="2286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i="0" lang="en-US" sz="1300" u="none" strike="noStrike">
                <a:solidFill>
                  <a:srgbClr val="0369A1"/>
                </a:solidFill>
                <a:latin typeface="Calibri"/>
                <a:ea typeface="Calibri"/>
                <a:cs typeface="Calibri"/>
                <a:sym typeface="Calibri"/>
              </a:rPr>
              <a:t>DEMO 2 RECAP</a:t>
            </a:r>
            <a:endParaRPr b="1" i="0" sz="1300" u="none" strike="noStrike">
              <a:solidFill>
                <a:srgbClr val="0369A1"/>
              </a:solidFill>
              <a:latin typeface="Calibri"/>
              <a:ea typeface="Calibri"/>
              <a:cs typeface="Calibri"/>
              <a:sym typeface="Calibri"/>
            </a:endParaRPr>
          </a:p>
        </p:txBody>
      </p:sp>
      <p:sp>
        <p:nvSpPr>
          <p:cNvPr id="297" name="Google Shape;297;p23"/>
          <p:cNvSpPr txBox="1"/>
          <p:nvPr/>
        </p:nvSpPr>
        <p:spPr>
          <a:xfrm>
            <a:off x="457200" y="838200"/>
            <a:ext cx="11239500" cy="6192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i="0" lang="en-US" sz="3600" u="none" strike="noStrike">
                <a:solidFill>
                  <a:srgbClr val="0A2540"/>
                </a:solidFill>
                <a:latin typeface="Calibri"/>
                <a:ea typeface="Calibri"/>
                <a:cs typeface="Calibri"/>
                <a:sym typeface="Calibri"/>
              </a:rPr>
              <a:t>Proving It With Real Judgments</a:t>
            </a:r>
            <a:endParaRPr b="1" i="0" sz="3600" u="none" strike="noStrike">
              <a:solidFill>
                <a:srgbClr val="0A2540"/>
              </a:solidFill>
              <a:latin typeface="Calibri"/>
              <a:ea typeface="Calibri"/>
              <a:cs typeface="Calibri"/>
              <a:sym typeface="Calibri"/>
            </a:endParaRPr>
          </a:p>
        </p:txBody>
      </p:sp>
      <p:grpSp>
        <p:nvGrpSpPr>
          <p:cNvPr id="298" name="Google Shape;298;p23"/>
          <p:cNvGrpSpPr/>
          <p:nvPr/>
        </p:nvGrpSpPr>
        <p:grpSpPr>
          <a:xfrm>
            <a:off x="457200" y="1714500"/>
            <a:ext cx="3600600" cy="3143400"/>
            <a:chOff x="0" y="0"/>
            <a:chExt cx="3600600" cy="3143400"/>
          </a:xfrm>
        </p:grpSpPr>
        <p:sp>
          <p:nvSpPr>
            <p:cNvPr id="299" name="Google Shape;299;p23"/>
            <p:cNvSpPr/>
            <p:nvPr/>
          </p:nvSpPr>
          <p:spPr>
            <a:xfrm>
              <a:off x="0" y="0"/>
              <a:ext cx="3600600" cy="3143400"/>
            </a:xfrm>
            <a:prstGeom prst="roundRect">
              <a:avLst>
                <a:gd fmla="val 2424" name="adj"/>
              </a:avLst>
            </a:prstGeom>
            <a:solidFill>
              <a:srgbClr val="F8FAFC"/>
            </a:solidFill>
            <a:ln cap="flat" cmpd="sng" w="95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300" name="Google Shape;300;p23"/>
            <p:cNvSpPr txBox="1"/>
            <p:nvPr/>
          </p:nvSpPr>
          <p:spPr>
            <a:xfrm>
              <a:off x="228600" y="190500"/>
              <a:ext cx="3143400" cy="26670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i="0" lang="en-US" sz="1400" u="none" strike="noStrike">
                  <a:solidFill>
                    <a:srgbClr val="0EA5E9"/>
                  </a:solidFill>
                  <a:latin typeface="Calibri"/>
                  <a:ea typeface="Calibri"/>
                  <a:cs typeface="Calibri"/>
                  <a:sym typeface="Calibri"/>
                </a:rPr>
                <a:t>QUERY SETUP</a:t>
              </a:r>
              <a:endParaRPr b="1" i="0" sz="1400" u="none" strike="noStrike">
                <a:solidFill>
                  <a:srgbClr val="0EA5E9"/>
                </a:solidFill>
                <a:latin typeface="Calibri"/>
                <a:ea typeface="Calibri"/>
                <a:cs typeface="Calibri"/>
                <a:sym typeface="Calibri"/>
              </a:endParaRPr>
            </a:p>
            <a:p>
              <a:pPr indent="0" lvl="0" marL="0" rtl="0" algn="l">
                <a:spcBef>
                  <a:spcPts val="1000"/>
                </a:spcBef>
                <a:spcAft>
                  <a:spcPts val="0"/>
                </a:spcAft>
                <a:buNone/>
              </a:pPr>
              <a:r>
                <a:rPr b="1" i="0" lang="en-US" sz="2600" u="none" strike="noStrike">
                  <a:solidFill>
                    <a:srgbClr val="0A2540"/>
                  </a:solidFill>
                  <a:latin typeface="Calibri"/>
                  <a:ea typeface="Calibri"/>
                  <a:cs typeface="Calibri"/>
                  <a:sym typeface="Calibri"/>
                </a:rPr>
                <a:t>“sewing machine”</a:t>
              </a:r>
              <a:endParaRPr b="1" i="0" sz="1400" u="none" strike="noStrike">
                <a:solidFill>
                  <a:srgbClr val="0EA5E9"/>
                </a:solidFill>
                <a:latin typeface="Calibri"/>
                <a:ea typeface="Calibri"/>
                <a:cs typeface="Calibri"/>
                <a:sym typeface="Calibri"/>
              </a:endParaRPr>
            </a:p>
            <a:p>
              <a:pPr indent="0" lvl="0" marL="0" rtl="0" algn="l">
                <a:spcBef>
                  <a:spcPts val="1400"/>
                </a:spcBef>
                <a:spcAft>
                  <a:spcPts val="0"/>
                </a:spcAft>
                <a:buNone/>
              </a:pPr>
              <a:r>
                <a:rPr b="1" i="0" lang="en-US" sz="1500" u="none" strike="noStrike">
                  <a:solidFill>
                    <a:srgbClr val="0284C7"/>
                  </a:solidFill>
                  <a:latin typeface="Calibri"/>
                  <a:ea typeface="Calibri"/>
                  <a:cs typeface="Calibri"/>
                  <a:sym typeface="Calibri"/>
                </a:rPr>
                <a:t>has_ground_truth</a:t>
              </a:r>
              <a:r>
                <a:rPr b="0" i="0" lang="en-US" sz="1500" u="none" strike="noStrike">
                  <a:solidFill>
                    <a:srgbClr val="334155"/>
                  </a:solidFill>
                  <a:latin typeface="Calibri"/>
                  <a:ea typeface="Calibri"/>
                  <a:cs typeface="Calibri"/>
                  <a:sym typeface="Calibri"/>
                </a:rPr>
                <a:t> → true</a:t>
              </a:r>
              <a:endParaRPr b="1" i="0" sz="1400" u="none" strike="noStrike">
                <a:solidFill>
                  <a:srgbClr val="0EA5E9"/>
                </a:solidFill>
                <a:latin typeface="Calibri"/>
                <a:ea typeface="Calibri"/>
                <a:cs typeface="Calibri"/>
                <a:sym typeface="Calibri"/>
              </a:endParaRPr>
            </a:p>
            <a:p>
              <a:pPr indent="0" lvl="0" marL="0" rtl="0" algn="l">
                <a:spcBef>
                  <a:spcPts val="1200"/>
                </a:spcBef>
                <a:spcAft>
                  <a:spcPts val="0"/>
                </a:spcAft>
                <a:buNone/>
              </a:pPr>
              <a:r>
                <a:rPr b="0" i="0" lang="en-US" sz="1500" u="none" strike="noStrike">
                  <a:solidFill>
                    <a:srgbClr val="475569"/>
                  </a:solidFill>
                  <a:latin typeface="Calibri"/>
                  <a:ea typeface="Calibri"/>
                  <a:cs typeface="Calibri"/>
                  <a:sym typeface="Calibri"/>
                </a:rPr>
                <a:t>Scored directly against real ESCI ground truth, not internal metrics.</a:t>
              </a:r>
              <a:endParaRPr b="1" i="0" sz="1400" u="none" strike="noStrike">
                <a:solidFill>
                  <a:srgbClr val="0EA5E9"/>
                </a:solidFill>
                <a:latin typeface="Calibri"/>
                <a:ea typeface="Calibri"/>
                <a:cs typeface="Calibri"/>
                <a:sym typeface="Calibri"/>
              </a:endParaRPr>
            </a:p>
          </p:txBody>
        </p:sp>
      </p:grpSp>
      <p:grpSp>
        <p:nvGrpSpPr>
          <p:cNvPr id="301" name="Google Shape;301;p23"/>
          <p:cNvGrpSpPr/>
          <p:nvPr/>
        </p:nvGrpSpPr>
        <p:grpSpPr>
          <a:xfrm>
            <a:off x="4295775" y="1714500"/>
            <a:ext cx="3600600" cy="3143400"/>
            <a:chOff x="0" y="0"/>
            <a:chExt cx="3600600" cy="3143400"/>
          </a:xfrm>
        </p:grpSpPr>
        <p:sp>
          <p:nvSpPr>
            <p:cNvPr id="302" name="Google Shape;302;p23"/>
            <p:cNvSpPr/>
            <p:nvPr/>
          </p:nvSpPr>
          <p:spPr>
            <a:xfrm>
              <a:off x="0" y="0"/>
              <a:ext cx="3600600" cy="3143400"/>
            </a:xfrm>
            <a:prstGeom prst="roundRect">
              <a:avLst>
                <a:gd fmla="val 2424" name="adj"/>
              </a:avLst>
            </a:prstGeom>
            <a:solidFill>
              <a:srgbClr val="F8FAFC"/>
            </a:solidFill>
            <a:ln cap="flat" cmpd="sng" w="95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303" name="Google Shape;303;p23"/>
            <p:cNvSpPr txBox="1"/>
            <p:nvPr/>
          </p:nvSpPr>
          <p:spPr>
            <a:xfrm>
              <a:off x="228600" y="190500"/>
              <a:ext cx="3143400" cy="26670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i="0" lang="en-US" sz="1400" u="none" strike="noStrike">
                  <a:solidFill>
                    <a:srgbClr val="0EA5E9"/>
                  </a:solidFill>
                  <a:latin typeface="Calibri"/>
                  <a:ea typeface="Calibri"/>
                  <a:cs typeface="Calibri"/>
                  <a:sym typeface="Calibri"/>
                </a:rPr>
                <a:t>NDCG@10 PROGRESSION</a:t>
              </a:r>
              <a:endParaRPr b="1" i="0" sz="1400" u="none" strike="noStrike">
                <a:solidFill>
                  <a:srgbClr val="0EA5E9"/>
                </a:solidFill>
                <a:latin typeface="Calibri"/>
                <a:ea typeface="Calibri"/>
                <a:cs typeface="Calibri"/>
                <a:sym typeface="Calibri"/>
              </a:endParaRPr>
            </a:p>
            <a:p>
              <a:pPr indent="0" lvl="0" marL="0" rtl="0" algn="l">
                <a:spcBef>
                  <a:spcPts val="1400"/>
                </a:spcBef>
                <a:spcAft>
                  <a:spcPts val="0"/>
                </a:spcAft>
                <a:buNone/>
              </a:pPr>
              <a:r>
                <a:rPr b="0" i="0" lang="en-US" sz="1600" u="none" strike="noStrike">
                  <a:solidFill>
                    <a:srgbClr val="475569"/>
                  </a:solidFill>
                  <a:latin typeface="Calibri"/>
                  <a:ea typeface="Calibri"/>
                  <a:cs typeface="Calibri"/>
                  <a:sym typeface="Calibri"/>
                </a:rPr>
                <a:t>Stock BM25: </a:t>
              </a:r>
              <a:r>
                <a:rPr b="1" i="0" lang="en-US" sz="1600" u="none" strike="noStrike">
                  <a:solidFill>
                    <a:srgbClr val="0A2540"/>
                  </a:solidFill>
                  <a:latin typeface="Calibri"/>
                  <a:ea typeface="Calibri"/>
                  <a:cs typeface="Calibri"/>
                  <a:sym typeface="Calibri"/>
                </a:rPr>
                <a:t>0.81</a:t>
              </a:r>
              <a:endParaRPr b="1" i="0" sz="1400" u="none" strike="noStrike">
                <a:solidFill>
                  <a:srgbClr val="0EA5E9"/>
                </a:solidFill>
                <a:latin typeface="Calibri"/>
                <a:ea typeface="Calibri"/>
                <a:cs typeface="Calibri"/>
                <a:sym typeface="Calibri"/>
              </a:endParaRPr>
            </a:p>
            <a:p>
              <a:pPr indent="0" lvl="0" marL="0" rtl="0" algn="l">
                <a:spcBef>
                  <a:spcPts val="1200"/>
                </a:spcBef>
                <a:spcAft>
                  <a:spcPts val="0"/>
                </a:spcAft>
                <a:buNone/>
              </a:pPr>
              <a:r>
                <a:rPr b="0" i="0" lang="en-US" sz="1600" u="none" strike="noStrike">
                  <a:solidFill>
                    <a:srgbClr val="475569"/>
                  </a:solidFill>
                  <a:latin typeface="Calibri"/>
                  <a:ea typeface="Calibri"/>
                  <a:cs typeface="Calibri"/>
                  <a:sym typeface="Calibri"/>
                </a:rPr>
                <a:t>Optimized BM25: </a:t>
              </a:r>
              <a:r>
                <a:rPr b="1" i="0" lang="en-US" sz="1600" u="none" strike="noStrike">
                  <a:solidFill>
                    <a:srgbClr val="0A2540"/>
                  </a:solidFill>
                  <a:latin typeface="Calibri"/>
                  <a:ea typeface="Calibri"/>
                  <a:cs typeface="Calibri"/>
                  <a:sym typeface="Calibri"/>
                </a:rPr>
                <a:t>0.91</a:t>
              </a:r>
              <a:endParaRPr b="1" i="0" sz="1400" u="none" strike="noStrike">
                <a:solidFill>
                  <a:srgbClr val="0EA5E9"/>
                </a:solidFill>
                <a:latin typeface="Calibri"/>
                <a:ea typeface="Calibri"/>
                <a:cs typeface="Calibri"/>
                <a:sym typeface="Calibri"/>
              </a:endParaRPr>
            </a:p>
            <a:p>
              <a:pPr indent="0" lvl="0" marL="0" rtl="0" algn="l">
                <a:spcBef>
                  <a:spcPts val="1200"/>
                </a:spcBef>
                <a:spcAft>
                  <a:spcPts val="0"/>
                </a:spcAft>
                <a:buNone/>
              </a:pPr>
              <a:r>
                <a:rPr b="1" i="0" lang="en-US" sz="1600" u="none" strike="noStrike">
                  <a:solidFill>
                    <a:srgbClr val="0EA5E9"/>
                  </a:solidFill>
                  <a:latin typeface="Calibri"/>
                  <a:ea typeface="Calibri"/>
                  <a:cs typeface="Calibri"/>
                  <a:sym typeface="Calibri"/>
                </a:rPr>
                <a:t>Hybrid Search: 0.95</a:t>
              </a:r>
              <a:endParaRPr b="1" i="0" sz="1400" u="none" strike="noStrike">
                <a:solidFill>
                  <a:srgbClr val="0EA5E9"/>
                </a:solidFill>
                <a:latin typeface="Calibri"/>
                <a:ea typeface="Calibri"/>
                <a:cs typeface="Calibri"/>
                <a:sym typeface="Calibri"/>
              </a:endParaRPr>
            </a:p>
            <a:p>
              <a:pPr indent="0" lvl="0" marL="0" rtl="0" algn="l">
                <a:spcBef>
                  <a:spcPts val="1200"/>
                </a:spcBef>
                <a:spcAft>
                  <a:spcPts val="1400"/>
                </a:spcAft>
                <a:buNone/>
              </a:pPr>
              <a:r>
                <a:rPr b="0" i="0" lang="en-US" sz="1600" u="none" strike="noStrike">
                  <a:solidFill>
                    <a:srgbClr val="475569"/>
                  </a:solidFill>
                  <a:latin typeface="Calibri"/>
                  <a:ea typeface="Calibri"/>
                  <a:cs typeface="Calibri"/>
                  <a:sym typeface="Calibri"/>
                </a:rPr>
                <a:t>Reranked: </a:t>
              </a:r>
              <a:r>
                <a:rPr b="1" i="0" lang="en-US" sz="1600" u="none" strike="noStrike">
                  <a:solidFill>
                    <a:srgbClr val="0A2540"/>
                  </a:solidFill>
                  <a:latin typeface="Calibri"/>
                  <a:ea typeface="Calibri"/>
                  <a:cs typeface="Calibri"/>
                  <a:sym typeface="Calibri"/>
                </a:rPr>
                <a:t>0.92</a:t>
              </a:r>
              <a:endParaRPr b="1" i="0" sz="1400" u="none" strike="noStrike">
                <a:solidFill>
                  <a:srgbClr val="0EA5E9"/>
                </a:solidFill>
                <a:latin typeface="Calibri"/>
                <a:ea typeface="Calibri"/>
                <a:cs typeface="Calibri"/>
                <a:sym typeface="Calibri"/>
              </a:endParaRPr>
            </a:p>
          </p:txBody>
        </p:sp>
      </p:grpSp>
      <p:grpSp>
        <p:nvGrpSpPr>
          <p:cNvPr id="304" name="Google Shape;304;p23"/>
          <p:cNvGrpSpPr/>
          <p:nvPr/>
        </p:nvGrpSpPr>
        <p:grpSpPr>
          <a:xfrm>
            <a:off x="8134350" y="1714500"/>
            <a:ext cx="3600600" cy="3143400"/>
            <a:chOff x="0" y="0"/>
            <a:chExt cx="3600600" cy="3143400"/>
          </a:xfrm>
        </p:grpSpPr>
        <p:sp>
          <p:nvSpPr>
            <p:cNvPr id="305" name="Google Shape;305;p23"/>
            <p:cNvSpPr/>
            <p:nvPr/>
          </p:nvSpPr>
          <p:spPr>
            <a:xfrm>
              <a:off x="0" y="0"/>
              <a:ext cx="3600600" cy="3143400"/>
            </a:xfrm>
            <a:prstGeom prst="roundRect">
              <a:avLst>
                <a:gd fmla="val 2424" name="adj"/>
              </a:avLst>
            </a:prstGeom>
            <a:solidFill>
              <a:srgbClr val="F8FAFC"/>
            </a:solidFill>
            <a:ln cap="flat" cmpd="sng" w="95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306" name="Google Shape;306;p23"/>
            <p:cNvSpPr txBox="1"/>
            <p:nvPr/>
          </p:nvSpPr>
          <p:spPr>
            <a:xfrm>
              <a:off x="228600" y="190500"/>
              <a:ext cx="3143400" cy="26670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i="0" lang="en-US" sz="1400" u="none" strike="noStrike">
                  <a:solidFill>
                    <a:srgbClr val="0EA5E9"/>
                  </a:solidFill>
                  <a:latin typeface="Calibri"/>
                  <a:ea typeface="Calibri"/>
                  <a:cs typeface="Calibri"/>
                  <a:sym typeface="Calibri"/>
                </a:rPr>
                <a:t>BENCHMARK COMPARISON</a:t>
              </a:r>
              <a:endParaRPr b="1" i="0" sz="1400" u="none" strike="noStrike">
                <a:solidFill>
                  <a:srgbClr val="0EA5E9"/>
                </a:solidFill>
                <a:latin typeface="Calibri"/>
                <a:ea typeface="Calibri"/>
                <a:cs typeface="Calibri"/>
                <a:sym typeface="Calibri"/>
              </a:endParaRPr>
            </a:p>
            <a:p>
              <a:pPr indent="0" lvl="0" marL="0" rtl="0" algn="l">
                <a:spcBef>
                  <a:spcPts val="1000"/>
                </a:spcBef>
                <a:spcAft>
                  <a:spcPts val="0"/>
                </a:spcAft>
                <a:buNone/>
              </a:pPr>
              <a:r>
                <a:rPr b="1" i="0" lang="en-US" sz="2600" u="none" strike="noStrike">
                  <a:solidFill>
                    <a:srgbClr val="0A2540"/>
                  </a:solidFill>
                  <a:latin typeface="Calibri"/>
                  <a:ea typeface="Calibri"/>
                  <a:cs typeface="Calibri"/>
                  <a:sym typeface="Calibri"/>
                </a:rPr>
                <a:t>+0.14 Max Gain</a:t>
              </a:r>
              <a:endParaRPr b="1" i="0" sz="1400" u="none" strike="noStrike">
                <a:solidFill>
                  <a:srgbClr val="0EA5E9"/>
                </a:solidFill>
                <a:latin typeface="Calibri"/>
                <a:ea typeface="Calibri"/>
                <a:cs typeface="Calibri"/>
                <a:sym typeface="Calibri"/>
              </a:endParaRPr>
            </a:p>
            <a:p>
              <a:pPr indent="0" lvl="0" marL="0" rtl="0" algn="l">
                <a:spcBef>
                  <a:spcPts val="1400"/>
                </a:spcBef>
                <a:spcAft>
                  <a:spcPts val="0"/>
                </a:spcAft>
                <a:buNone/>
              </a:pPr>
              <a:r>
                <a:rPr b="1" i="0" lang="en-US" sz="1550" u="none" strike="noStrike">
                  <a:solidFill>
                    <a:srgbClr val="0EA5E9"/>
                  </a:solidFill>
                  <a:latin typeface="Calibri"/>
                  <a:ea typeface="Calibri"/>
                  <a:cs typeface="Calibri"/>
                  <a:sym typeface="Calibri"/>
                </a:rPr>
                <a:t>Hybrid 0.95</a:t>
              </a:r>
              <a:r>
                <a:rPr b="0" i="0" lang="en-US" sz="1550" u="none" strike="noStrike">
                  <a:solidFill>
                    <a:srgbClr val="475569"/>
                  </a:solidFill>
                  <a:latin typeface="Calibri"/>
                  <a:ea typeface="Calibri"/>
                  <a:cs typeface="Calibri"/>
                  <a:sym typeface="Calibri"/>
                </a:rPr>
                <a:t> vs Stock 0.81</a:t>
              </a:r>
              <a:endParaRPr b="1" i="0" sz="1400" u="none" strike="noStrike">
                <a:solidFill>
                  <a:srgbClr val="0EA5E9"/>
                </a:solidFill>
                <a:latin typeface="Calibri"/>
                <a:ea typeface="Calibri"/>
                <a:cs typeface="Calibri"/>
                <a:sym typeface="Calibri"/>
              </a:endParaRPr>
            </a:p>
            <a:p>
              <a:pPr indent="0" lvl="0" marL="0" rtl="0" algn="l">
                <a:spcBef>
                  <a:spcPts val="1200"/>
                </a:spcBef>
                <a:spcAft>
                  <a:spcPts val="0"/>
                </a:spcAft>
                <a:buNone/>
              </a:pPr>
              <a:r>
                <a:rPr b="0" i="0" lang="en-US" sz="1500" u="none" strike="noStrike">
                  <a:solidFill>
                    <a:srgbClr val="475569"/>
                  </a:solidFill>
                  <a:latin typeface="Calibri"/>
                  <a:ea typeface="Calibri"/>
                  <a:cs typeface="Calibri"/>
                  <a:sym typeface="Calibri"/>
                </a:rPr>
                <a:t>Significant relevance increase across all pipeline stages over standard default search.</a:t>
              </a:r>
              <a:endParaRPr b="1" i="0" sz="1400" u="none" strike="noStrike">
                <a:solidFill>
                  <a:srgbClr val="0EA5E9"/>
                </a:solidFill>
                <a:latin typeface="Calibri"/>
                <a:ea typeface="Calibri"/>
                <a:cs typeface="Calibri"/>
                <a:sym typeface="Calibri"/>
              </a:endParaRPr>
            </a:p>
          </p:txBody>
        </p:sp>
      </p:grpSp>
      <p:grpSp>
        <p:nvGrpSpPr>
          <p:cNvPr id="307" name="Google Shape;307;p23"/>
          <p:cNvGrpSpPr/>
          <p:nvPr/>
        </p:nvGrpSpPr>
        <p:grpSpPr>
          <a:xfrm>
            <a:off x="457200" y="5143500"/>
            <a:ext cx="11277600" cy="952500"/>
            <a:chOff x="0" y="0"/>
            <a:chExt cx="11277600" cy="952500"/>
          </a:xfrm>
        </p:grpSpPr>
        <p:sp>
          <p:nvSpPr>
            <p:cNvPr id="308" name="Google Shape;308;p23"/>
            <p:cNvSpPr/>
            <p:nvPr/>
          </p:nvSpPr>
          <p:spPr>
            <a:xfrm>
              <a:off x="0" y="0"/>
              <a:ext cx="11277600" cy="952500"/>
            </a:xfrm>
            <a:prstGeom prst="roundRect">
              <a:avLst>
                <a:gd fmla="val 8000" name="adj"/>
              </a:avLst>
            </a:prstGeom>
            <a:solidFill>
              <a:srgbClr val="0A2540"/>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309" name="Google Shape;309;p23"/>
            <p:cNvSpPr txBox="1"/>
            <p:nvPr/>
          </p:nvSpPr>
          <p:spPr>
            <a:xfrm>
              <a:off x="304800" y="152400"/>
              <a:ext cx="10668000" cy="6477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l">
                <a:spcBef>
                  <a:spcPts val="0"/>
                </a:spcBef>
                <a:spcAft>
                  <a:spcPts val="0"/>
                </a:spcAft>
                <a:buNone/>
              </a:pPr>
              <a:r>
                <a:rPr b="1" i="0" lang="en-US" sz="1105" u="none" strike="noStrike">
                  <a:solidFill>
                    <a:srgbClr val="0EA5E9"/>
                  </a:solidFill>
                  <a:latin typeface="Calibri"/>
                  <a:ea typeface="Calibri"/>
                  <a:cs typeface="Calibri"/>
                  <a:sym typeface="Calibri"/>
                </a:rPr>
                <a:t>KEY TAKEAWAY</a:t>
              </a:r>
              <a:endParaRPr b="1" i="0" sz="1105" u="none" strike="noStrike">
                <a:solidFill>
                  <a:srgbClr val="0EA5E9"/>
                </a:solidFill>
                <a:latin typeface="Calibri"/>
                <a:ea typeface="Calibri"/>
                <a:cs typeface="Calibri"/>
                <a:sym typeface="Calibri"/>
              </a:endParaRPr>
            </a:p>
            <a:p>
              <a:pPr indent="0" lvl="0" marL="0" rtl="0" algn="l">
                <a:spcBef>
                  <a:spcPts val="300"/>
                </a:spcBef>
                <a:spcAft>
                  <a:spcPts val="0"/>
                </a:spcAft>
                <a:buNone/>
              </a:pPr>
              <a:r>
                <a:rPr b="1" i="0" lang="en-US" sz="1955" u="none" strike="noStrike">
                  <a:solidFill>
                    <a:srgbClr val="FFFFFF"/>
                  </a:solidFill>
                  <a:latin typeface="Calibri"/>
                  <a:ea typeface="Calibri"/>
                  <a:cs typeface="Calibri"/>
                  <a:sym typeface="Calibri"/>
                </a:rPr>
                <a:t>Every optimized stage beat the stock baseline — graded by Amazon's own relevance judgments.</a:t>
              </a:r>
              <a:endParaRPr b="1" i="0" sz="1105" u="none" strike="noStrike">
                <a:solidFill>
                  <a:srgbClr val="0EA5E9"/>
                </a:solidFill>
                <a:latin typeface="Calibri"/>
                <a:ea typeface="Calibri"/>
                <a:cs typeface="Calibri"/>
                <a:sym typeface="Calibri"/>
              </a:endParaRPr>
            </a:p>
          </p:txBody>
        </p:sp>
      </p:grpSp>
      <p:sp>
        <p:nvSpPr>
          <p:cNvPr id="310" name="Google Shape;310;p23"/>
          <p:cNvSpPr txBox="1"/>
          <p:nvPr/>
        </p:nvSpPr>
        <p:spPr>
          <a:xfrm>
            <a:off x="365760" y="190500"/>
            <a:ext cx="1371600" cy="1692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l">
              <a:spcBef>
                <a:spcPts val="0"/>
              </a:spcBef>
              <a:spcAft>
                <a:spcPts val="0"/>
              </a:spcAft>
              <a:buNone/>
            </a:pPr>
            <a:r>
              <a:rPr b="0" i="0" lang="en-US" sz="1100" u="none" strike="noStrike">
                <a:solidFill>
                  <a:srgbClr val="94A3B8"/>
                </a:solidFill>
                <a:latin typeface="Calibri"/>
                <a:ea typeface="Calibri"/>
                <a:cs typeface="Calibri"/>
                <a:sym typeface="Calibri"/>
              </a:rPr>
              <a:t>7 / 11</a:t>
            </a:r>
            <a:endParaRPr b="0" i="0" sz="1100" u="none" strike="noStrike">
              <a:solidFill>
                <a:srgbClr val="94A3B8"/>
              </a:solidFill>
              <a:latin typeface="Calibri"/>
              <a:ea typeface="Calibri"/>
              <a:cs typeface="Calibri"/>
              <a:sym typeface="Calibri"/>
            </a:endParaRPr>
          </a:p>
        </p:txBody>
      </p:sp>
      <p:pic>
        <p:nvPicPr>
          <p:cNvPr id="311" name="Google Shape;311;p23" title="KMWLogo_blk_blue.png"/>
          <p:cNvPicPr preferRelativeResize="0"/>
          <p:nvPr/>
        </p:nvPicPr>
        <p:blipFill>
          <a:blip r:embed="rId4">
            <a:alphaModFix/>
          </a:blip>
          <a:stretch>
            <a:fillRect/>
          </a:stretch>
        </p:blipFill>
        <p:spPr>
          <a:xfrm>
            <a:off x="10059924" y="314175"/>
            <a:ext cx="1644399" cy="645950"/>
          </a:xfrm>
          <a:prstGeom prst="rect">
            <a:avLst/>
          </a:prstGeom>
          <a:noFill/>
          <a:ln>
            <a:noFill/>
          </a:ln>
        </p:spPr>
      </p:pic>
      <p:sp>
        <p:nvSpPr>
          <p:cNvPr id="312" name="Google Shape;312;p23"/>
          <p:cNvSpPr txBox="1"/>
          <p:nvPr/>
        </p:nvSpPr>
        <p:spPr>
          <a:xfrm>
            <a:off x="1921297" y="6477000"/>
            <a:ext cx="10058400" cy="1692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r">
              <a:spcBef>
                <a:spcPts val="0"/>
              </a:spcBef>
              <a:spcAft>
                <a:spcPts val="0"/>
              </a:spcAft>
              <a:buNone/>
            </a:pPr>
            <a:r>
              <a:rPr b="0" i="0" lang="en-US" sz="1100" u="none" strike="noStrike">
                <a:solidFill>
                  <a:srgbClr val="94A3B8"/>
                </a:solidFill>
                <a:latin typeface="Calibri"/>
                <a:ea typeface="Calibri"/>
                <a:cs typeface="Calibri"/>
                <a:sym typeface="Calibri"/>
              </a:rPr>
              <a:t>OpenSearchCon North America · 2026 · Agentic Search: Reimagining Search from Ingestion to Relevancy</a:t>
            </a:r>
            <a:endParaRPr b="0" i="0" sz="1100" u="none" strike="noStrike">
              <a:solidFill>
                <a:srgbClr val="94A3B8"/>
              </a:solidFill>
              <a:latin typeface="Calibri"/>
              <a:ea typeface="Calibri"/>
              <a:cs typeface="Calibri"/>
              <a:sym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316" name="Shape 316"/>
        <p:cNvGrpSpPr/>
        <p:nvPr/>
      </p:nvGrpSpPr>
      <p:grpSpPr>
        <a:xfrm>
          <a:off x="0" y="0"/>
          <a:ext cx="0" cy="0"/>
          <a:chOff x="0" y="0"/>
          <a:chExt cx="0" cy="0"/>
        </a:xfrm>
      </p:grpSpPr>
      <p:sp>
        <p:nvSpPr>
          <p:cNvPr id="317" name="Google Shape;317;p24"/>
          <p:cNvSpPr txBox="1"/>
          <p:nvPr/>
        </p:nvSpPr>
        <p:spPr>
          <a:xfrm>
            <a:off x="457200" y="495300"/>
            <a:ext cx="11239500" cy="2667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i="0" lang="en-US" sz="1300" u="none" strike="noStrike">
                <a:solidFill>
                  <a:srgbClr val="0369A1"/>
                </a:solidFill>
                <a:latin typeface="Calibri"/>
                <a:ea typeface="Calibri"/>
                <a:cs typeface="Calibri"/>
                <a:sym typeface="Calibri"/>
              </a:rPr>
              <a:t>DEMO 3 RECAP</a:t>
            </a:r>
            <a:endParaRPr b="1" i="0" sz="1300" u="none" strike="noStrike">
              <a:solidFill>
                <a:srgbClr val="0369A1"/>
              </a:solidFill>
              <a:latin typeface="Calibri"/>
              <a:ea typeface="Calibri"/>
              <a:cs typeface="Calibri"/>
              <a:sym typeface="Calibri"/>
            </a:endParaRPr>
          </a:p>
        </p:txBody>
      </p:sp>
      <p:sp>
        <p:nvSpPr>
          <p:cNvPr id="318" name="Google Shape;318;p24"/>
          <p:cNvSpPr txBox="1"/>
          <p:nvPr/>
        </p:nvSpPr>
        <p:spPr>
          <a:xfrm>
            <a:off x="457200" y="838200"/>
            <a:ext cx="11239500" cy="6192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i="0" lang="en-US" sz="3800" u="none" strike="noStrike">
                <a:solidFill>
                  <a:srgbClr val="0A2540"/>
                </a:solidFill>
                <a:latin typeface="Calibri"/>
                <a:ea typeface="Calibri"/>
                <a:cs typeface="Calibri"/>
                <a:sym typeface="Calibri"/>
              </a:rPr>
              <a:t>Classification &amp; Ingestion</a:t>
            </a:r>
            <a:endParaRPr b="1" i="0" sz="3800" u="none" strike="noStrike">
              <a:solidFill>
                <a:srgbClr val="0A2540"/>
              </a:solidFill>
              <a:latin typeface="Calibri"/>
              <a:ea typeface="Calibri"/>
              <a:cs typeface="Calibri"/>
              <a:sym typeface="Calibri"/>
            </a:endParaRPr>
          </a:p>
        </p:txBody>
      </p:sp>
      <p:grpSp>
        <p:nvGrpSpPr>
          <p:cNvPr id="319" name="Google Shape;319;p24"/>
          <p:cNvGrpSpPr/>
          <p:nvPr/>
        </p:nvGrpSpPr>
        <p:grpSpPr>
          <a:xfrm>
            <a:off x="457200" y="1714500"/>
            <a:ext cx="3600600" cy="3143400"/>
            <a:chOff x="0" y="0"/>
            <a:chExt cx="3600600" cy="3143400"/>
          </a:xfrm>
        </p:grpSpPr>
        <p:sp>
          <p:nvSpPr>
            <p:cNvPr id="320" name="Google Shape;320;p24"/>
            <p:cNvSpPr/>
            <p:nvPr/>
          </p:nvSpPr>
          <p:spPr>
            <a:xfrm>
              <a:off x="0" y="0"/>
              <a:ext cx="3600600" cy="3143400"/>
            </a:xfrm>
            <a:prstGeom prst="roundRect">
              <a:avLst>
                <a:gd fmla="val 2424" name="adj"/>
              </a:avLst>
            </a:prstGeom>
            <a:solidFill>
              <a:srgbClr val="F8FAFC"/>
            </a:solidFill>
            <a:ln cap="flat" cmpd="sng" w="95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321" name="Google Shape;321;p24"/>
            <p:cNvSpPr txBox="1"/>
            <p:nvPr/>
          </p:nvSpPr>
          <p:spPr>
            <a:xfrm>
              <a:off x="228600" y="190500"/>
              <a:ext cx="3143400" cy="26670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i="0" lang="en-US" sz="1300" u="none" strike="noStrike">
                  <a:solidFill>
                    <a:srgbClr val="0EA5E9"/>
                  </a:solidFill>
                  <a:latin typeface="Calibri"/>
                  <a:ea typeface="Calibri"/>
                  <a:cs typeface="Calibri"/>
                  <a:sym typeface="Calibri"/>
                </a:rPr>
                <a:t>PHASE 1: THE DISPUTE</a:t>
              </a:r>
              <a:endParaRPr b="1" i="0" sz="1300" u="none" strike="noStrike">
                <a:solidFill>
                  <a:srgbClr val="0EA5E9"/>
                </a:solidFill>
                <a:latin typeface="Calibri"/>
                <a:ea typeface="Calibri"/>
                <a:cs typeface="Calibri"/>
                <a:sym typeface="Calibri"/>
              </a:endParaRPr>
            </a:p>
            <a:p>
              <a:pPr indent="0" lvl="0" marL="0" rtl="0" algn="l">
                <a:spcBef>
                  <a:spcPts val="450"/>
                </a:spcBef>
                <a:spcAft>
                  <a:spcPts val="0"/>
                </a:spcAft>
                <a:buNone/>
              </a:pPr>
              <a:r>
                <a:rPr b="1" i="0" lang="en-US" sz="1800" u="none" strike="noStrike">
                  <a:solidFill>
                    <a:srgbClr val="0A2540"/>
                  </a:solidFill>
                  <a:latin typeface="Calibri"/>
                  <a:ea typeface="Calibri"/>
                  <a:cs typeface="Calibri"/>
                  <a:sym typeface="Calibri"/>
                </a:rPr>
                <a:t>“show me tan boots”</a:t>
              </a:r>
              <a:endParaRPr b="1" i="0" sz="1300" u="none" strike="noStrike">
                <a:solidFill>
                  <a:srgbClr val="0EA5E9"/>
                </a:solidFill>
                <a:latin typeface="Calibri"/>
                <a:ea typeface="Calibri"/>
                <a:cs typeface="Calibri"/>
                <a:sym typeface="Calibri"/>
              </a:endParaRPr>
            </a:p>
            <a:p>
              <a:pPr indent="0" lvl="0" marL="0" rtl="0" algn="l">
                <a:spcBef>
                  <a:spcPts val="800"/>
                </a:spcBef>
                <a:spcAft>
                  <a:spcPts val="0"/>
                </a:spcAft>
                <a:buNone/>
              </a:pPr>
              <a:r>
                <a:rPr b="0" i="0" lang="en-US" sz="1150" u="none" strike="noStrike">
                  <a:solidFill>
                    <a:srgbClr val="475569"/>
                  </a:solidFill>
                  <a:latin typeface="Calibri"/>
                  <a:ea typeface="Calibri"/>
                  <a:cs typeface="Calibri"/>
                  <a:sym typeface="Calibri"/>
                </a:rPr>
                <a:t>Filter resolves to </a:t>
              </a:r>
              <a:r>
                <a:rPr b="1" i="0" lang="en-US" sz="1150" u="none" strike="noStrike">
                  <a:solidFill>
                    <a:srgbClr val="475569"/>
                  </a:solidFill>
                  <a:latin typeface="Calibri"/>
                  <a:ea typeface="Calibri"/>
                  <a:cs typeface="Calibri"/>
                  <a:sym typeface="Calibri"/>
                </a:rPr>
                <a:t>yellow</a:t>
              </a:r>
              <a:r>
                <a:rPr b="0" i="0" lang="en-US" sz="1150" u="none" strike="noStrike">
                  <a:solidFill>
                    <a:srgbClr val="475569"/>
                  </a:solidFill>
                  <a:latin typeface="Calibri"/>
                  <a:ea typeface="Calibri"/>
                  <a:cs typeface="Calibri"/>
                  <a:sym typeface="Calibri"/>
                </a:rPr>
                <a:t>, passes quality gate anyway.</a:t>
              </a:r>
              <a:endParaRPr b="1" i="0" sz="1150" u="none" strike="noStrike">
                <a:solidFill>
                  <a:srgbClr val="0EA5E9"/>
                </a:solidFill>
                <a:latin typeface="Calibri"/>
                <a:ea typeface="Calibri"/>
                <a:cs typeface="Calibri"/>
                <a:sym typeface="Calibri"/>
              </a:endParaRPr>
            </a:p>
            <a:p>
              <a:pPr indent="0" lvl="0" marL="0" rtl="0" algn="l">
                <a:spcBef>
                  <a:spcPts val="600"/>
                </a:spcBef>
                <a:spcAft>
                  <a:spcPts val="0"/>
                </a:spcAft>
                <a:buNone/>
              </a:pPr>
              <a:r>
                <a:rPr b="1" i="0" lang="en-US" sz="1150" u="none" strike="noStrike">
                  <a:solidFill>
                    <a:srgbClr val="475569"/>
                  </a:solidFill>
                  <a:latin typeface="Calibri"/>
                  <a:ea typeface="Calibri"/>
                  <a:cs typeface="Calibri"/>
                  <a:sym typeface="Calibri"/>
                </a:rPr>
                <a:t>User Feedback:</a:t>
              </a:r>
              <a:r>
                <a:rPr b="0" i="0" lang="en-US" sz="1150" u="none" strike="noStrike">
                  <a:solidFill>
                    <a:srgbClr val="475569"/>
                  </a:solidFill>
                  <a:latin typeface="Calibri"/>
                  <a:ea typeface="Calibri"/>
                  <a:cs typeface="Calibri"/>
                  <a:sym typeface="Calibri"/>
                </a:rPr>
                <a:t> “that’s not tan, that’s tagged yellow which is wrong”</a:t>
              </a:r>
              <a:endParaRPr b="1" i="0" sz="1150" u="none" strike="noStrike">
                <a:solidFill>
                  <a:srgbClr val="0EA5E9"/>
                </a:solidFill>
                <a:latin typeface="Calibri"/>
                <a:ea typeface="Calibri"/>
                <a:cs typeface="Calibri"/>
                <a:sym typeface="Calibri"/>
              </a:endParaRPr>
            </a:p>
            <a:p>
              <a:pPr indent="0" lvl="0" marL="0" rtl="0" algn="l">
                <a:spcBef>
                  <a:spcPts val="800"/>
                </a:spcBef>
                <a:spcAft>
                  <a:spcPts val="0"/>
                </a:spcAft>
                <a:buNone/>
              </a:pPr>
              <a:r>
                <a:rPr b="1" i="0" lang="en-US" sz="1100" u="none" strike="noStrike">
                  <a:solidFill>
                    <a:srgbClr val="B91C1C"/>
                  </a:solidFill>
                  <a:latin typeface="Calibri"/>
                  <a:ea typeface="Calibri"/>
                  <a:cs typeface="Calibri"/>
                  <a:sym typeface="Calibri"/>
                </a:rPr>
                <a:t>BEFORE RECORD (Catalog Error):</a:t>
              </a:r>
              <a:endParaRPr b="1" i="0" sz="1100" u="none" strike="noStrike">
                <a:solidFill>
                  <a:srgbClr val="0EA5E9"/>
                </a:solidFill>
                <a:latin typeface="Calibri"/>
                <a:ea typeface="Calibri"/>
                <a:cs typeface="Calibri"/>
                <a:sym typeface="Calibri"/>
              </a:endParaRPr>
            </a:p>
            <a:p>
              <a:pPr indent="0" lvl="0" marL="0" rtl="0" algn="l">
                <a:spcBef>
                  <a:spcPts val="200"/>
                </a:spcBef>
                <a:spcAft>
                  <a:spcPts val="0"/>
                </a:spcAft>
                <a:buNone/>
              </a:pPr>
              <a:r>
                <a:rPr b="1" i="0" lang="en-US" sz="1100" u="none" strike="noStrike">
                  <a:solidFill>
                    <a:srgbClr val="991B1B"/>
                  </a:solidFill>
                  <a:highlight>
                    <a:srgbClr val="FEE2E2"/>
                  </a:highlight>
                  <a:latin typeface="Courier New"/>
                  <a:ea typeface="Courier New"/>
                  <a:cs typeface="Courier New"/>
                  <a:sym typeface="Courier New"/>
                </a:rPr>
                <a:t>product_color_primary: yellow</a:t>
              </a:r>
              <a:endParaRPr b="1" i="0" sz="1100" u="none" strike="noStrike">
                <a:solidFill>
                  <a:srgbClr val="0EA5E9"/>
                </a:solidFill>
                <a:latin typeface="Calibri"/>
                <a:ea typeface="Calibri"/>
                <a:cs typeface="Calibri"/>
                <a:sym typeface="Calibri"/>
              </a:endParaRPr>
            </a:p>
          </p:txBody>
        </p:sp>
      </p:grpSp>
      <p:grpSp>
        <p:nvGrpSpPr>
          <p:cNvPr id="322" name="Google Shape;322;p24"/>
          <p:cNvGrpSpPr/>
          <p:nvPr/>
        </p:nvGrpSpPr>
        <p:grpSpPr>
          <a:xfrm>
            <a:off x="4295775" y="1714500"/>
            <a:ext cx="3600600" cy="3143400"/>
            <a:chOff x="0" y="0"/>
            <a:chExt cx="3600600" cy="3143400"/>
          </a:xfrm>
        </p:grpSpPr>
        <p:sp>
          <p:nvSpPr>
            <p:cNvPr id="323" name="Google Shape;323;p24"/>
            <p:cNvSpPr/>
            <p:nvPr/>
          </p:nvSpPr>
          <p:spPr>
            <a:xfrm>
              <a:off x="0" y="0"/>
              <a:ext cx="3600600" cy="3143400"/>
            </a:xfrm>
            <a:prstGeom prst="roundRect">
              <a:avLst>
                <a:gd fmla="val 2424" name="adj"/>
              </a:avLst>
            </a:prstGeom>
            <a:solidFill>
              <a:srgbClr val="F8FAFC"/>
            </a:solidFill>
            <a:ln cap="flat" cmpd="sng" w="95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324" name="Google Shape;324;p24"/>
            <p:cNvSpPr txBox="1"/>
            <p:nvPr/>
          </p:nvSpPr>
          <p:spPr>
            <a:xfrm>
              <a:off x="228600" y="190500"/>
              <a:ext cx="3143400" cy="26670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i="0" lang="en-US" sz="1300" u="none" strike="noStrike">
                  <a:solidFill>
                    <a:srgbClr val="0EA5E9"/>
                  </a:solidFill>
                  <a:latin typeface="Calibri"/>
                  <a:ea typeface="Calibri"/>
                  <a:cs typeface="Calibri"/>
                  <a:sym typeface="Calibri"/>
                </a:rPr>
                <a:t>PHASE 2: LIVE RE-INDEX</a:t>
              </a:r>
              <a:endParaRPr b="1" i="0" sz="1300" u="none" strike="noStrike">
                <a:solidFill>
                  <a:srgbClr val="0EA5E9"/>
                </a:solidFill>
                <a:latin typeface="Calibri"/>
                <a:ea typeface="Calibri"/>
                <a:cs typeface="Calibri"/>
                <a:sym typeface="Calibri"/>
              </a:endParaRPr>
            </a:p>
            <a:p>
              <a:pPr indent="0" lvl="0" marL="0" rtl="0" algn="l">
                <a:spcBef>
                  <a:spcPts val="450"/>
                </a:spcBef>
                <a:spcAft>
                  <a:spcPts val="0"/>
                </a:spcAft>
                <a:buNone/>
              </a:pPr>
              <a:r>
                <a:rPr b="1" i="0" lang="en-US" sz="1800" u="none" strike="noStrike">
                  <a:solidFill>
                    <a:srgbClr val="0A2540"/>
                  </a:solidFill>
                  <a:latin typeface="Calibri"/>
                  <a:ea typeface="Calibri"/>
                  <a:cs typeface="Calibri"/>
                  <a:sym typeface="Calibri"/>
                </a:rPr>
                <a:t>Lucille Pipeline</a:t>
              </a:r>
              <a:endParaRPr b="1" i="0" sz="1300" u="none" strike="noStrike">
                <a:solidFill>
                  <a:srgbClr val="0EA5E9"/>
                </a:solidFill>
                <a:latin typeface="Calibri"/>
                <a:ea typeface="Calibri"/>
                <a:cs typeface="Calibri"/>
                <a:sym typeface="Calibri"/>
              </a:endParaRPr>
            </a:p>
            <a:p>
              <a:pPr indent="0" lvl="0" marL="0" rtl="0" algn="l">
                <a:spcBef>
                  <a:spcPts val="800"/>
                </a:spcBef>
                <a:spcAft>
                  <a:spcPts val="0"/>
                </a:spcAft>
                <a:buNone/>
              </a:pPr>
              <a:r>
                <a:rPr b="0" i="0" lang="en-US" sz="1150" u="none" strike="noStrike">
                  <a:solidFill>
                    <a:srgbClr val="475569"/>
                  </a:solidFill>
                  <a:latin typeface="Calibri"/>
                  <a:ea typeface="Calibri"/>
                  <a:cs typeface="Calibri"/>
                  <a:sym typeface="Calibri"/>
                </a:rPr>
                <a:t>Correction verified dynamically step-by-step.</a:t>
              </a:r>
              <a:endParaRPr b="1" i="0" sz="1150" u="none" strike="noStrike">
                <a:solidFill>
                  <a:srgbClr val="0EA5E9"/>
                </a:solidFill>
                <a:latin typeface="Calibri"/>
                <a:ea typeface="Calibri"/>
                <a:cs typeface="Calibri"/>
                <a:sym typeface="Calibri"/>
              </a:endParaRPr>
            </a:p>
            <a:p>
              <a:pPr indent="0" lvl="0" marL="0" rtl="0" algn="l">
                <a:spcBef>
                  <a:spcPts val="600"/>
                </a:spcBef>
                <a:spcAft>
                  <a:spcPts val="0"/>
                </a:spcAft>
                <a:buNone/>
              </a:pPr>
              <a:r>
                <a:rPr b="1" i="0" lang="en-US" sz="1150" u="none" strike="noStrike">
                  <a:solidFill>
                    <a:srgbClr val="475569"/>
                  </a:solidFill>
                  <a:latin typeface="Calibri"/>
                  <a:ea typeface="Calibri"/>
                  <a:cs typeface="Calibri"/>
                  <a:sym typeface="Calibri"/>
                </a:rPr>
                <a:t>Action:</a:t>
              </a:r>
              <a:r>
                <a:rPr b="0" i="0" lang="en-US" sz="1150" u="none" strike="noStrike">
                  <a:solidFill>
                    <a:srgbClr val="475569"/>
                  </a:solidFill>
                  <a:latin typeface="Calibri"/>
                  <a:ea typeface="Calibri"/>
                  <a:cs typeface="Calibri"/>
                  <a:sym typeface="Calibri"/>
                </a:rPr>
                <a:t> Triggered real Lucille re-index across </a:t>
              </a:r>
              <a:r>
                <a:rPr b="1" i="0" lang="en-US" sz="1150" u="none" strike="noStrike">
                  <a:solidFill>
                    <a:srgbClr val="475569"/>
                  </a:solidFill>
                  <a:latin typeface="Calibri"/>
                  <a:ea typeface="Calibri"/>
                  <a:cs typeface="Calibri"/>
                  <a:sym typeface="Calibri"/>
                </a:rPr>
                <a:t>9,618 products</a:t>
              </a:r>
              <a:r>
                <a:rPr b="0" i="0" lang="en-US" sz="1150" u="none" strike="noStrike">
                  <a:solidFill>
                    <a:srgbClr val="475569"/>
                  </a:solidFill>
                  <a:latin typeface="Calibri"/>
                  <a:ea typeface="Calibri"/>
                  <a:cs typeface="Calibri"/>
                  <a:sym typeface="Calibri"/>
                </a:rPr>
                <a:t> without manual query tuning.</a:t>
              </a:r>
              <a:endParaRPr b="1" i="0" sz="1150" u="none" strike="noStrike">
                <a:solidFill>
                  <a:srgbClr val="0EA5E9"/>
                </a:solidFill>
                <a:latin typeface="Calibri"/>
                <a:ea typeface="Calibri"/>
                <a:cs typeface="Calibri"/>
                <a:sym typeface="Calibri"/>
              </a:endParaRPr>
            </a:p>
            <a:p>
              <a:pPr indent="0" lvl="0" marL="0" rtl="0" algn="l">
                <a:spcBef>
                  <a:spcPts val="800"/>
                </a:spcBef>
                <a:spcAft>
                  <a:spcPts val="0"/>
                </a:spcAft>
                <a:buNone/>
              </a:pPr>
              <a:r>
                <a:rPr b="1" i="0" lang="en-US" sz="1100" u="none" strike="noStrike">
                  <a:solidFill>
                    <a:srgbClr val="0369A1"/>
                  </a:solidFill>
                  <a:latin typeface="Calibri"/>
                  <a:ea typeface="Calibri"/>
                  <a:cs typeface="Calibri"/>
                  <a:sym typeface="Calibri"/>
                </a:rPr>
                <a:t>PIPELINE RE-INDEX EXECUTION:</a:t>
              </a:r>
              <a:endParaRPr b="1" i="0" sz="1100" u="none" strike="noStrike">
                <a:solidFill>
                  <a:srgbClr val="0EA5E9"/>
                </a:solidFill>
                <a:latin typeface="Calibri"/>
                <a:ea typeface="Calibri"/>
                <a:cs typeface="Calibri"/>
                <a:sym typeface="Calibri"/>
              </a:endParaRPr>
            </a:p>
            <a:p>
              <a:pPr indent="0" lvl="0" marL="0" rtl="0" algn="l">
                <a:spcBef>
                  <a:spcPts val="200"/>
                </a:spcBef>
                <a:spcAft>
                  <a:spcPts val="0"/>
                </a:spcAft>
                <a:buNone/>
              </a:pPr>
              <a:r>
                <a:rPr b="1" i="0" lang="en-US" sz="1100" u="none" strike="noStrike">
                  <a:solidFill>
                    <a:srgbClr val="0284C7"/>
                  </a:solidFill>
                  <a:latin typeface="Courier New"/>
                  <a:ea typeface="Courier New"/>
                  <a:cs typeface="Courier New"/>
                  <a:sym typeface="Courier New"/>
                </a:rPr>
                <a:t>reclassify_field(color_primary)</a:t>
              </a:r>
              <a:endParaRPr b="1" i="0" sz="1100" u="none" strike="noStrike">
                <a:solidFill>
                  <a:srgbClr val="0EA5E9"/>
                </a:solidFill>
                <a:latin typeface="Calibri"/>
                <a:ea typeface="Calibri"/>
                <a:cs typeface="Calibri"/>
                <a:sym typeface="Calibri"/>
              </a:endParaRPr>
            </a:p>
          </p:txBody>
        </p:sp>
      </p:grpSp>
      <p:grpSp>
        <p:nvGrpSpPr>
          <p:cNvPr id="325" name="Google Shape;325;p24"/>
          <p:cNvGrpSpPr/>
          <p:nvPr/>
        </p:nvGrpSpPr>
        <p:grpSpPr>
          <a:xfrm>
            <a:off x="8134350" y="1714500"/>
            <a:ext cx="3600600" cy="3143400"/>
            <a:chOff x="0" y="0"/>
            <a:chExt cx="3600600" cy="3143400"/>
          </a:xfrm>
        </p:grpSpPr>
        <p:sp>
          <p:nvSpPr>
            <p:cNvPr id="326" name="Google Shape;326;p24"/>
            <p:cNvSpPr/>
            <p:nvPr/>
          </p:nvSpPr>
          <p:spPr>
            <a:xfrm>
              <a:off x="0" y="0"/>
              <a:ext cx="3600600" cy="3143400"/>
            </a:xfrm>
            <a:prstGeom prst="roundRect">
              <a:avLst>
                <a:gd fmla="val 2424" name="adj"/>
              </a:avLst>
            </a:prstGeom>
            <a:solidFill>
              <a:srgbClr val="F8FAFC"/>
            </a:solidFill>
            <a:ln cap="flat" cmpd="sng" w="95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327" name="Google Shape;327;p24"/>
            <p:cNvSpPr txBox="1"/>
            <p:nvPr/>
          </p:nvSpPr>
          <p:spPr>
            <a:xfrm>
              <a:off x="228600" y="190500"/>
              <a:ext cx="3143400" cy="26670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i="0" lang="en-US" sz="1300" u="none" strike="noStrike">
                  <a:solidFill>
                    <a:srgbClr val="0EA5E9"/>
                  </a:solidFill>
                  <a:latin typeface="Calibri"/>
                  <a:ea typeface="Calibri"/>
                  <a:cs typeface="Calibri"/>
                  <a:sym typeface="Calibri"/>
                </a:rPr>
                <a:t>PHASE 3: PERMANENT FIX</a:t>
              </a:r>
              <a:endParaRPr b="1" i="0" sz="1300" u="none" strike="noStrike">
                <a:solidFill>
                  <a:srgbClr val="0EA5E9"/>
                </a:solidFill>
                <a:latin typeface="Calibri"/>
                <a:ea typeface="Calibri"/>
                <a:cs typeface="Calibri"/>
                <a:sym typeface="Calibri"/>
              </a:endParaRPr>
            </a:p>
            <a:p>
              <a:pPr indent="0" lvl="0" marL="0" rtl="0" algn="l">
                <a:spcBef>
                  <a:spcPts val="450"/>
                </a:spcBef>
                <a:spcAft>
                  <a:spcPts val="0"/>
                </a:spcAft>
                <a:buNone/>
              </a:pPr>
              <a:r>
                <a:rPr b="1" i="0" lang="en-US" sz="1800" u="none" strike="noStrike">
                  <a:solidFill>
                    <a:srgbClr val="0A2540"/>
                  </a:solidFill>
                  <a:latin typeface="Calibri"/>
                  <a:ea typeface="Calibri"/>
                  <a:cs typeface="Calibri"/>
                  <a:sym typeface="Calibri"/>
                </a:rPr>
                <a:t>“show me tan boots”</a:t>
              </a:r>
              <a:endParaRPr b="1" i="0" sz="1300" u="none" strike="noStrike">
                <a:solidFill>
                  <a:srgbClr val="0EA5E9"/>
                </a:solidFill>
                <a:latin typeface="Calibri"/>
                <a:ea typeface="Calibri"/>
                <a:cs typeface="Calibri"/>
                <a:sym typeface="Calibri"/>
              </a:endParaRPr>
            </a:p>
            <a:p>
              <a:pPr indent="0" lvl="0" marL="0" rtl="0" algn="l">
                <a:spcBef>
                  <a:spcPts val="800"/>
                </a:spcBef>
                <a:spcAft>
                  <a:spcPts val="0"/>
                </a:spcAft>
                <a:buNone/>
              </a:pPr>
              <a:r>
                <a:rPr b="1" i="0" lang="en-US" sz="1150" u="none" strike="noStrike">
                  <a:solidFill>
                    <a:srgbClr val="475569"/>
                  </a:solidFill>
                  <a:latin typeface="Calibri"/>
                  <a:ea typeface="Calibri"/>
                  <a:cs typeface="Calibri"/>
                  <a:sym typeface="Calibri"/>
                </a:rPr>
                <a:t>New Session:</a:t>
              </a:r>
              <a:r>
                <a:rPr b="0" i="0" lang="en-US" sz="1150" u="none" strike="noStrike">
                  <a:solidFill>
                    <a:srgbClr val="475569"/>
                  </a:solidFill>
                  <a:latin typeface="Calibri"/>
                  <a:ea typeface="Calibri"/>
                  <a:cs typeface="Calibri"/>
                  <a:sym typeface="Calibri"/>
                </a:rPr>
                <a:t> Filter now correctly reads </a:t>
              </a:r>
              <a:r>
                <a:rPr b="1" i="0" lang="en-US" sz="1150" u="none" strike="noStrike">
                  <a:solidFill>
                    <a:srgbClr val="475569"/>
                  </a:solidFill>
                  <a:latin typeface="Calibri"/>
                  <a:ea typeface="Calibri"/>
                  <a:cs typeface="Calibri"/>
                  <a:sym typeface="Calibri"/>
                </a:rPr>
                <a:t>brown</a:t>
              </a:r>
              <a:r>
                <a:rPr b="0" i="0" lang="en-US" sz="1150" u="none" strike="noStrike">
                  <a:solidFill>
                    <a:srgbClr val="475569"/>
                  </a:solidFill>
                  <a:latin typeface="Calibri"/>
                  <a:ea typeface="Calibri"/>
                  <a:cs typeface="Calibri"/>
                  <a:sym typeface="Calibri"/>
                </a:rPr>
                <a:t> — permanently updated in catalog.</a:t>
              </a:r>
              <a:endParaRPr b="1" i="0" sz="1150" u="none" strike="noStrike">
                <a:solidFill>
                  <a:srgbClr val="0EA5E9"/>
                </a:solidFill>
                <a:latin typeface="Calibri"/>
                <a:ea typeface="Calibri"/>
                <a:cs typeface="Calibri"/>
                <a:sym typeface="Calibri"/>
              </a:endParaRPr>
            </a:p>
            <a:p>
              <a:pPr indent="0" lvl="0" marL="0" rtl="0" algn="l">
                <a:spcBef>
                  <a:spcPts val="600"/>
                </a:spcBef>
                <a:spcAft>
                  <a:spcPts val="0"/>
                </a:spcAft>
                <a:buNone/>
              </a:pPr>
              <a:r>
                <a:rPr b="0" i="0" lang="en-US" sz="1150" u="none" strike="noStrike">
                  <a:solidFill>
                    <a:srgbClr val="475569"/>
                  </a:solidFill>
                  <a:latin typeface="Calibri"/>
                  <a:ea typeface="Calibri"/>
                  <a:cs typeface="Calibri"/>
                  <a:sym typeface="Calibri"/>
                </a:rPr>
                <a:t>Resolved systemic catalog error at the source.</a:t>
              </a:r>
              <a:endParaRPr b="1" i="0" sz="1150" u="none" strike="noStrike">
                <a:solidFill>
                  <a:srgbClr val="0EA5E9"/>
                </a:solidFill>
                <a:latin typeface="Calibri"/>
                <a:ea typeface="Calibri"/>
                <a:cs typeface="Calibri"/>
                <a:sym typeface="Calibri"/>
              </a:endParaRPr>
            </a:p>
            <a:p>
              <a:pPr indent="0" lvl="0" marL="0" rtl="0" algn="l">
                <a:spcBef>
                  <a:spcPts val="800"/>
                </a:spcBef>
                <a:spcAft>
                  <a:spcPts val="0"/>
                </a:spcAft>
                <a:buNone/>
              </a:pPr>
              <a:r>
                <a:rPr b="1" i="0" lang="en-US" sz="1100" u="none" strike="noStrike">
                  <a:solidFill>
                    <a:srgbClr val="15803D"/>
                  </a:solidFill>
                  <a:latin typeface="Calibri"/>
                  <a:ea typeface="Calibri"/>
                  <a:cs typeface="Calibri"/>
                  <a:sym typeface="Calibri"/>
                </a:rPr>
                <a:t>AFTER RECORD (Catalog Fixed):</a:t>
              </a:r>
              <a:endParaRPr b="1" i="0" sz="1100" u="none" strike="noStrike">
                <a:solidFill>
                  <a:srgbClr val="0EA5E9"/>
                </a:solidFill>
                <a:latin typeface="Calibri"/>
                <a:ea typeface="Calibri"/>
                <a:cs typeface="Calibri"/>
                <a:sym typeface="Calibri"/>
              </a:endParaRPr>
            </a:p>
            <a:p>
              <a:pPr indent="0" lvl="0" marL="0" rtl="0" algn="l">
                <a:spcBef>
                  <a:spcPts val="200"/>
                </a:spcBef>
                <a:spcAft>
                  <a:spcPts val="0"/>
                </a:spcAft>
                <a:buNone/>
              </a:pPr>
              <a:r>
                <a:rPr b="1" i="0" lang="en-US" sz="1100" u="none" strike="noStrike">
                  <a:solidFill>
                    <a:srgbClr val="166534"/>
                  </a:solidFill>
                  <a:highlight>
                    <a:srgbClr val="DCFCE7"/>
                  </a:highlight>
                  <a:latin typeface="Courier New"/>
                  <a:ea typeface="Courier New"/>
                  <a:cs typeface="Courier New"/>
                  <a:sym typeface="Courier New"/>
                </a:rPr>
                <a:t>product_color_primary: brown</a:t>
              </a:r>
              <a:endParaRPr b="1" i="0" sz="1100" u="none" strike="noStrike">
                <a:solidFill>
                  <a:srgbClr val="0EA5E9"/>
                </a:solidFill>
                <a:latin typeface="Calibri"/>
                <a:ea typeface="Calibri"/>
                <a:cs typeface="Calibri"/>
                <a:sym typeface="Calibri"/>
              </a:endParaRPr>
            </a:p>
          </p:txBody>
        </p:sp>
      </p:grpSp>
      <p:grpSp>
        <p:nvGrpSpPr>
          <p:cNvPr id="328" name="Google Shape;328;p24"/>
          <p:cNvGrpSpPr/>
          <p:nvPr/>
        </p:nvGrpSpPr>
        <p:grpSpPr>
          <a:xfrm>
            <a:off x="457200" y="5143500"/>
            <a:ext cx="11277600" cy="952500"/>
            <a:chOff x="0" y="0"/>
            <a:chExt cx="11277600" cy="952500"/>
          </a:xfrm>
        </p:grpSpPr>
        <p:sp>
          <p:nvSpPr>
            <p:cNvPr id="329" name="Google Shape;329;p24"/>
            <p:cNvSpPr/>
            <p:nvPr/>
          </p:nvSpPr>
          <p:spPr>
            <a:xfrm>
              <a:off x="0" y="0"/>
              <a:ext cx="11277600" cy="952500"/>
            </a:xfrm>
            <a:prstGeom prst="roundRect">
              <a:avLst>
                <a:gd fmla="val 8000" name="adj"/>
              </a:avLst>
            </a:prstGeom>
            <a:solidFill>
              <a:srgbClr val="0A2540"/>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330" name="Google Shape;330;p24"/>
            <p:cNvSpPr txBox="1"/>
            <p:nvPr/>
          </p:nvSpPr>
          <p:spPr>
            <a:xfrm>
              <a:off x="304800" y="152400"/>
              <a:ext cx="10668000" cy="6477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l">
                <a:spcBef>
                  <a:spcPts val="0"/>
                </a:spcBef>
                <a:spcAft>
                  <a:spcPts val="0"/>
                </a:spcAft>
                <a:buNone/>
              </a:pPr>
              <a:r>
                <a:rPr b="1" i="0" lang="en-US" sz="1020" u="none" strike="noStrike">
                  <a:solidFill>
                    <a:srgbClr val="0EA5E9"/>
                  </a:solidFill>
                  <a:latin typeface="Calibri"/>
                  <a:ea typeface="Calibri"/>
                  <a:cs typeface="Calibri"/>
                  <a:sym typeface="Calibri"/>
                </a:rPr>
                <a:t>KEY TAKEAWAY</a:t>
              </a:r>
              <a:endParaRPr b="1" i="0" sz="1020" u="none" strike="noStrike">
                <a:solidFill>
                  <a:srgbClr val="0EA5E9"/>
                </a:solidFill>
                <a:latin typeface="Calibri"/>
                <a:ea typeface="Calibri"/>
                <a:cs typeface="Calibri"/>
                <a:sym typeface="Calibri"/>
              </a:endParaRPr>
            </a:p>
            <a:p>
              <a:pPr indent="0" lvl="0" marL="0" rtl="0" algn="l">
                <a:spcBef>
                  <a:spcPts val="300"/>
                </a:spcBef>
                <a:spcAft>
                  <a:spcPts val="0"/>
                </a:spcAft>
                <a:buNone/>
              </a:pPr>
              <a:r>
                <a:rPr b="1" i="0" lang="en-US" sz="1785" u="none" strike="noStrike">
                  <a:solidFill>
                    <a:srgbClr val="FFFFFF"/>
                  </a:solidFill>
                  <a:latin typeface="Calibri"/>
                  <a:ea typeface="Calibri"/>
                  <a:cs typeface="Calibri"/>
                  <a:sym typeface="Calibri"/>
                </a:rPr>
                <a:t>A confidently wrong result that passed every automated check — fixed by the catalog changing, not the query.</a:t>
              </a:r>
              <a:endParaRPr b="1" i="0" sz="1020" u="none" strike="noStrike">
                <a:solidFill>
                  <a:srgbClr val="0EA5E9"/>
                </a:solidFill>
                <a:latin typeface="Calibri"/>
                <a:ea typeface="Calibri"/>
                <a:cs typeface="Calibri"/>
                <a:sym typeface="Calibri"/>
              </a:endParaRPr>
            </a:p>
          </p:txBody>
        </p:sp>
      </p:grpSp>
      <p:sp>
        <p:nvSpPr>
          <p:cNvPr id="331" name="Google Shape;331;p24"/>
          <p:cNvSpPr txBox="1"/>
          <p:nvPr/>
        </p:nvSpPr>
        <p:spPr>
          <a:xfrm>
            <a:off x="365760" y="190500"/>
            <a:ext cx="1371600" cy="1692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l">
              <a:spcBef>
                <a:spcPts val="0"/>
              </a:spcBef>
              <a:spcAft>
                <a:spcPts val="0"/>
              </a:spcAft>
              <a:buNone/>
            </a:pPr>
            <a:r>
              <a:rPr b="0" i="0" lang="en-US" sz="1100" u="none" strike="noStrike">
                <a:solidFill>
                  <a:srgbClr val="94A3B8"/>
                </a:solidFill>
                <a:latin typeface="Calibri"/>
                <a:ea typeface="Calibri"/>
                <a:cs typeface="Calibri"/>
                <a:sym typeface="Calibri"/>
              </a:rPr>
              <a:t>8 / 11</a:t>
            </a:r>
            <a:endParaRPr b="0" i="0" sz="1100" u="none" strike="noStrike">
              <a:solidFill>
                <a:srgbClr val="94A3B8"/>
              </a:solidFill>
              <a:latin typeface="Calibri"/>
              <a:ea typeface="Calibri"/>
              <a:cs typeface="Calibri"/>
              <a:sym typeface="Calibri"/>
            </a:endParaRPr>
          </a:p>
        </p:txBody>
      </p:sp>
      <p:pic>
        <p:nvPicPr>
          <p:cNvPr id="332" name="Google Shape;332;p24" title="KMWLogo_blk_blue.png"/>
          <p:cNvPicPr preferRelativeResize="0"/>
          <p:nvPr/>
        </p:nvPicPr>
        <p:blipFill>
          <a:blip r:embed="rId4">
            <a:alphaModFix/>
          </a:blip>
          <a:stretch>
            <a:fillRect/>
          </a:stretch>
        </p:blipFill>
        <p:spPr>
          <a:xfrm>
            <a:off x="10059924" y="314175"/>
            <a:ext cx="1644399" cy="645950"/>
          </a:xfrm>
          <a:prstGeom prst="rect">
            <a:avLst/>
          </a:prstGeom>
          <a:noFill/>
          <a:ln>
            <a:noFill/>
          </a:ln>
        </p:spPr>
      </p:pic>
      <p:sp>
        <p:nvSpPr>
          <p:cNvPr id="333" name="Google Shape;333;p24"/>
          <p:cNvSpPr txBox="1"/>
          <p:nvPr/>
        </p:nvSpPr>
        <p:spPr>
          <a:xfrm>
            <a:off x="1921297" y="6477000"/>
            <a:ext cx="10058400" cy="1692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r">
              <a:spcBef>
                <a:spcPts val="0"/>
              </a:spcBef>
              <a:spcAft>
                <a:spcPts val="0"/>
              </a:spcAft>
              <a:buNone/>
            </a:pPr>
            <a:r>
              <a:rPr b="0" i="0" lang="en-US" sz="1100" u="none" strike="noStrike">
                <a:solidFill>
                  <a:srgbClr val="94A3B8"/>
                </a:solidFill>
                <a:latin typeface="Calibri"/>
                <a:ea typeface="Calibri"/>
                <a:cs typeface="Calibri"/>
                <a:sym typeface="Calibri"/>
              </a:rPr>
              <a:t>OpenSearchCon North America · 2026 · Agentic Search: Reimagining Search from Ingestion to Relevancy</a:t>
            </a:r>
            <a:endParaRPr b="0" i="0" sz="1100" u="none" strike="noStrike">
              <a:solidFill>
                <a:srgbClr val="94A3B8"/>
              </a:solidFill>
              <a:latin typeface="Calibri"/>
              <a:ea typeface="Calibri"/>
              <a:cs typeface="Calibri"/>
              <a:sym typeface="Calibri"/>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337" name="Shape 337"/>
        <p:cNvGrpSpPr/>
        <p:nvPr/>
      </p:nvGrpSpPr>
      <p:grpSpPr>
        <a:xfrm>
          <a:off x="0" y="0"/>
          <a:ext cx="0" cy="0"/>
          <a:chOff x="0" y="0"/>
          <a:chExt cx="0" cy="0"/>
        </a:xfrm>
      </p:grpSpPr>
      <p:sp>
        <p:nvSpPr>
          <p:cNvPr id="338" name="Google Shape;338;p25"/>
          <p:cNvSpPr txBox="1"/>
          <p:nvPr/>
        </p:nvSpPr>
        <p:spPr>
          <a:xfrm>
            <a:off x="457200" y="495300"/>
            <a:ext cx="11239500" cy="2667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i="0" lang="en-US" sz="1200">
                <a:solidFill>
                  <a:srgbClr val="0369A1"/>
                </a:solidFill>
                <a:latin typeface="Calibri"/>
                <a:ea typeface="Calibri"/>
                <a:cs typeface="Calibri"/>
                <a:sym typeface="Calibri"/>
              </a:rPr>
              <a:t>DEMO 3 EXTENSION (OPTIONAL)</a:t>
            </a:r>
            <a:endParaRPr b="1" i="0" sz="1200">
              <a:solidFill>
                <a:srgbClr val="0369A1"/>
              </a:solidFill>
              <a:latin typeface="Calibri"/>
              <a:ea typeface="Calibri"/>
              <a:cs typeface="Calibri"/>
              <a:sym typeface="Calibri"/>
            </a:endParaRPr>
          </a:p>
        </p:txBody>
      </p:sp>
      <p:sp>
        <p:nvSpPr>
          <p:cNvPr id="339" name="Google Shape;339;p25"/>
          <p:cNvSpPr txBox="1"/>
          <p:nvPr/>
        </p:nvSpPr>
        <p:spPr>
          <a:xfrm>
            <a:off x="457200" y="838200"/>
            <a:ext cx="11239500" cy="6192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i="0" lang="en-US" sz="3600">
                <a:solidFill>
                  <a:srgbClr val="0A2540"/>
                </a:solidFill>
                <a:latin typeface="Calibri"/>
                <a:ea typeface="Calibri"/>
                <a:cs typeface="Calibri"/>
                <a:sym typeface="Calibri"/>
              </a:rPr>
              <a:t>Data Enrichment - Growth &amp; Schema Evolution</a:t>
            </a:r>
            <a:endParaRPr b="1" i="0" sz="3600">
              <a:solidFill>
                <a:srgbClr val="0A2540"/>
              </a:solidFill>
              <a:latin typeface="Calibri"/>
              <a:ea typeface="Calibri"/>
              <a:cs typeface="Calibri"/>
              <a:sym typeface="Calibri"/>
            </a:endParaRPr>
          </a:p>
        </p:txBody>
      </p:sp>
      <p:grpSp>
        <p:nvGrpSpPr>
          <p:cNvPr id="340" name="Google Shape;340;p25"/>
          <p:cNvGrpSpPr/>
          <p:nvPr/>
        </p:nvGrpSpPr>
        <p:grpSpPr>
          <a:xfrm>
            <a:off x="457200" y="1714500"/>
            <a:ext cx="3600600" cy="3143400"/>
            <a:chOff x="0" y="0"/>
            <a:chExt cx="3600600" cy="3143400"/>
          </a:xfrm>
        </p:grpSpPr>
        <p:sp>
          <p:nvSpPr>
            <p:cNvPr id="341" name="Google Shape;341;p25"/>
            <p:cNvSpPr/>
            <p:nvPr/>
          </p:nvSpPr>
          <p:spPr>
            <a:xfrm>
              <a:off x="0" y="0"/>
              <a:ext cx="3600600" cy="3143400"/>
            </a:xfrm>
            <a:prstGeom prst="roundRect">
              <a:avLst>
                <a:gd fmla="val 2424" name="adj"/>
              </a:avLst>
            </a:prstGeom>
            <a:solidFill>
              <a:srgbClr val="F8FAFC"/>
            </a:solidFill>
            <a:ln cap="flat" cmpd="sng" w="95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342" name="Google Shape;342;p25"/>
            <p:cNvSpPr txBox="1"/>
            <p:nvPr/>
          </p:nvSpPr>
          <p:spPr>
            <a:xfrm>
              <a:off x="228600" y="190500"/>
              <a:ext cx="3143400" cy="26670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i="0" lang="en-US" sz="1300">
                  <a:solidFill>
                    <a:srgbClr val="0EA5E9"/>
                  </a:solidFill>
                  <a:latin typeface="Calibri"/>
                  <a:ea typeface="Calibri"/>
                  <a:cs typeface="Calibri"/>
                  <a:sym typeface="Calibri"/>
                </a:rPr>
                <a:t>PHASE 1: ATTRIBUTE GAP</a:t>
              </a:r>
              <a:endParaRPr b="1" i="0" sz="1300">
                <a:solidFill>
                  <a:srgbClr val="0EA5E9"/>
                </a:solidFill>
                <a:latin typeface="Calibri"/>
                <a:ea typeface="Calibri"/>
                <a:cs typeface="Calibri"/>
                <a:sym typeface="Calibri"/>
              </a:endParaRPr>
            </a:p>
            <a:p>
              <a:pPr indent="0" lvl="0" marL="0" rtl="0" algn="l">
                <a:spcBef>
                  <a:spcPts val="450"/>
                </a:spcBef>
                <a:spcAft>
                  <a:spcPts val="0"/>
                </a:spcAft>
                <a:buNone/>
              </a:pPr>
              <a:r>
                <a:rPr b="1" i="0" lang="en-US" sz="1800">
                  <a:solidFill>
                    <a:srgbClr val="0A2540"/>
                  </a:solidFill>
                  <a:latin typeface="Calibri"/>
                  <a:ea typeface="Calibri"/>
                  <a:cs typeface="Calibri"/>
                  <a:sym typeface="Calibri"/>
                </a:rPr>
                <a:t>“waterproof hiking boots”</a:t>
              </a:r>
              <a:endParaRPr b="1" i="0" sz="1300">
                <a:solidFill>
                  <a:srgbClr val="0EA5E9"/>
                </a:solidFill>
                <a:latin typeface="Calibri"/>
                <a:ea typeface="Calibri"/>
                <a:cs typeface="Calibri"/>
                <a:sym typeface="Calibri"/>
              </a:endParaRPr>
            </a:p>
            <a:p>
              <a:pPr indent="0" lvl="0" marL="0" rtl="0" algn="l">
                <a:spcBef>
                  <a:spcPts val="800"/>
                </a:spcBef>
                <a:spcAft>
                  <a:spcPts val="0"/>
                </a:spcAft>
                <a:buNone/>
              </a:pPr>
              <a:r>
                <a:rPr b="0" i="0" lang="en-US" sz="1100">
                  <a:solidFill>
                    <a:srgbClr val="475569"/>
                  </a:solidFill>
                  <a:latin typeface="Calibri"/>
                  <a:ea typeface="Calibri"/>
                  <a:cs typeface="Calibri"/>
                  <a:sym typeface="Calibri"/>
                </a:rPr>
                <a:t>Query expects direct </a:t>
              </a:r>
              <a:r>
                <a:rPr b="1" i="0" lang="en-US" sz="1100">
                  <a:solidFill>
                    <a:srgbClr val="475569"/>
                  </a:solidFill>
                  <a:latin typeface="Calibri"/>
                  <a:ea typeface="Calibri"/>
                  <a:cs typeface="Calibri"/>
                  <a:sym typeface="Calibri"/>
                </a:rPr>
                <a:t>waterproof</a:t>
              </a:r>
              <a:r>
                <a:rPr b="0" i="0" lang="en-US" sz="1100">
                  <a:solidFill>
                    <a:srgbClr val="475569"/>
                  </a:solidFill>
                  <a:latin typeface="Calibri"/>
                  <a:ea typeface="Calibri"/>
                  <a:cs typeface="Calibri"/>
                  <a:sym typeface="Calibri"/>
                </a:rPr>
                <a:t> metadata filter.</a:t>
              </a:r>
              <a:endParaRPr b="1" i="0" sz="1100">
                <a:solidFill>
                  <a:srgbClr val="0EA5E9"/>
                </a:solidFill>
                <a:latin typeface="Calibri"/>
                <a:ea typeface="Calibri"/>
                <a:cs typeface="Calibri"/>
                <a:sym typeface="Calibri"/>
              </a:endParaRPr>
            </a:p>
            <a:p>
              <a:pPr indent="0" lvl="0" marL="0" rtl="0" algn="l">
                <a:spcBef>
                  <a:spcPts val="600"/>
                </a:spcBef>
                <a:spcAft>
                  <a:spcPts val="0"/>
                </a:spcAft>
                <a:buNone/>
              </a:pPr>
              <a:r>
                <a:rPr b="1" i="0" lang="en-US" sz="1100">
                  <a:solidFill>
                    <a:srgbClr val="475569"/>
                  </a:solidFill>
                  <a:latin typeface="Calibri"/>
                  <a:ea typeface="Calibri"/>
                  <a:cs typeface="Calibri"/>
                  <a:sym typeface="Calibri"/>
                </a:rPr>
                <a:t>Catalog State:</a:t>
              </a:r>
              <a:r>
                <a:rPr b="0" i="0" lang="en-US" sz="1100">
                  <a:solidFill>
                    <a:srgbClr val="475569"/>
                  </a:solidFill>
                  <a:latin typeface="Calibri"/>
                  <a:ea typeface="Calibri"/>
                  <a:cs typeface="Calibri"/>
                  <a:sym typeface="Calibri"/>
                </a:rPr>
                <a:t> Feature unindexed; relies solely on unstructured text matching.</a:t>
              </a:r>
              <a:endParaRPr b="1" i="0" sz="1100">
                <a:solidFill>
                  <a:srgbClr val="0EA5E9"/>
                </a:solidFill>
                <a:latin typeface="Calibri"/>
                <a:ea typeface="Calibri"/>
                <a:cs typeface="Calibri"/>
                <a:sym typeface="Calibri"/>
              </a:endParaRPr>
            </a:p>
            <a:p>
              <a:pPr indent="0" lvl="0" marL="0" rtl="0" algn="l">
                <a:spcBef>
                  <a:spcPts val="800"/>
                </a:spcBef>
                <a:spcAft>
                  <a:spcPts val="0"/>
                </a:spcAft>
                <a:buNone/>
              </a:pPr>
              <a:r>
                <a:rPr b="1" i="0" lang="en-US" sz="1050">
                  <a:solidFill>
                    <a:srgbClr val="0369A1"/>
                  </a:solidFill>
                  <a:latin typeface="Calibri"/>
                  <a:ea typeface="Calibri"/>
                  <a:cs typeface="Calibri"/>
                  <a:sym typeface="Calibri"/>
                </a:rPr>
                <a:t>CURRENT SCHEMA (Missing Field):</a:t>
              </a:r>
              <a:endParaRPr b="1" i="0" sz="1050">
                <a:solidFill>
                  <a:srgbClr val="0EA5E9"/>
                </a:solidFill>
                <a:latin typeface="Calibri"/>
                <a:ea typeface="Calibri"/>
                <a:cs typeface="Calibri"/>
                <a:sym typeface="Calibri"/>
              </a:endParaRPr>
            </a:p>
            <a:p>
              <a:pPr indent="0" lvl="0" marL="0" rtl="0" algn="l">
                <a:spcBef>
                  <a:spcPts val="200"/>
                </a:spcBef>
                <a:spcAft>
                  <a:spcPts val="0"/>
                </a:spcAft>
                <a:buNone/>
              </a:pPr>
              <a:r>
                <a:rPr b="1" i="0" lang="en-US" sz="1050">
                  <a:solidFill>
                    <a:srgbClr val="0284C7"/>
                  </a:solidFill>
                  <a:latin typeface="Courier New"/>
                  <a:ea typeface="Courier New"/>
                  <a:cs typeface="Courier New"/>
                  <a:sym typeface="Courier New"/>
                </a:rPr>
                <a:t>is_waterproof: undefined</a:t>
              </a:r>
              <a:endParaRPr b="1" i="0" sz="1050">
                <a:solidFill>
                  <a:srgbClr val="0EA5E9"/>
                </a:solidFill>
                <a:latin typeface="Calibri"/>
                <a:ea typeface="Calibri"/>
                <a:cs typeface="Calibri"/>
                <a:sym typeface="Calibri"/>
              </a:endParaRPr>
            </a:p>
          </p:txBody>
        </p:sp>
      </p:grpSp>
      <p:grpSp>
        <p:nvGrpSpPr>
          <p:cNvPr id="343" name="Google Shape;343;p25"/>
          <p:cNvGrpSpPr/>
          <p:nvPr/>
        </p:nvGrpSpPr>
        <p:grpSpPr>
          <a:xfrm>
            <a:off x="4295775" y="1714500"/>
            <a:ext cx="3600600" cy="3143400"/>
            <a:chOff x="0" y="0"/>
            <a:chExt cx="3600600" cy="3143400"/>
          </a:xfrm>
        </p:grpSpPr>
        <p:sp>
          <p:nvSpPr>
            <p:cNvPr id="344" name="Google Shape;344;p25"/>
            <p:cNvSpPr/>
            <p:nvPr/>
          </p:nvSpPr>
          <p:spPr>
            <a:xfrm>
              <a:off x="0" y="0"/>
              <a:ext cx="3600600" cy="3143400"/>
            </a:xfrm>
            <a:prstGeom prst="roundRect">
              <a:avLst>
                <a:gd fmla="val 2424" name="adj"/>
              </a:avLst>
            </a:prstGeom>
            <a:solidFill>
              <a:srgbClr val="F8FAFC"/>
            </a:solidFill>
            <a:ln cap="flat" cmpd="sng" w="95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345" name="Google Shape;345;p25"/>
            <p:cNvSpPr txBox="1"/>
            <p:nvPr/>
          </p:nvSpPr>
          <p:spPr>
            <a:xfrm>
              <a:off x="228600" y="190500"/>
              <a:ext cx="3143400" cy="26670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i="0" lang="en-US" sz="1300">
                  <a:solidFill>
                    <a:srgbClr val="0EA5E9"/>
                  </a:solidFill>
                  <a:latin typeface="Calibri"/>
                  <a:ea typeface="Calibri"/>
                  <a:cs typeface="Calibri"/>
                  <a:sym typeface="Calibri"/>
                </a:rPr>
                <a:t>PHASE 2: SCHEMA EXTENSION</a:t>
              </a:r>
              <a:endParaRPr b="1" i="0" sz="1300">
                <a:solidFill>
                  <a:srgbClr val="0EA5E9"/>
                </a:solidFill>
                <a:latin typeface="Calibri"/>
                <a:ea typeface="Calibri"/>
                <a:cs typeface="Calibri"/>
                <a:sym typeface="Calibri"/>
              </a:endParaRPr>
            </a:p>
            <a:p>
              <a:pPr indent="0" lvl="0" marL="0" rtl="0" algn="l">
                <a:spcBef>
                  <a:spcPts val="450"/>
                </a:spcBef>
                <a:spcAft>
                  <a:spcPts val="0"/>
                </a:spcAft>
                <a:buNone/>
              </a:pPr>
              <a:r>
                <a:rPr b="1" i="0" lang="en-US" sz="1800">
                  <a:solidFill>
                    <a:srgbClr val="0A2540"/>
                  </a:solidFill>
                  <a:latin typeface="Calibri"/>
                  <a:ea typeface="Calibri"/>
                  <a:cs typeface="Calibri"/>
                  <a:sym typeface="Calibri"/>
                </a:rPr>
                <a:t>Lucille Pipeline</a:t>
              </a:r>
              <a:endParaRPr b="1" i="0" sz="1300">
                <a:solidFill>
                  <a:srgbClr val="0EA5E9"/>
                </a:solidFill>
                <a:latin typeface="Calibri"/>
                <a:ea typeface="Calibri"/>
                <a:cs typeface="Calibri"/>
                <a:sym typeface="Calibri"/>
              </a:endParaRPr>
            </a:p>
            <a:p>
              <a:pPr indent="0" lvl="0" marL="0" rtl="0" algn="l">
                <a:spcBef>
                  <a:spcPts val="800"/>
                </a:spcBef>
                <a:spcAft>
                  <a:spcPts val="0"/>
                </a:spcAft>
                <a:buNone/>
              </a:pPr>
              <a:r>
                <a:rPr b="0" i="0" lang="en-US" sz="1100">
                  <a:solidFill>
                    <a:srgbClr val="475569"/>
                  </a:solidFill>
                  <a:latin typeface="Calibri"/>
                  <a:ea typeface="Calibri"/>
                  <a:cs typeface="Calibri"/>
                  <a:sym typeface="Calibri"/>
                </a:rPr>
                <a:t>Extracted new attribute from specs &amp; product descriptions.</a:t>
              </a:r>
              <a:endParaRPr b="1" i="0" sz="1100">
                <a:solidFill>
                  <a:srgbClr val="0EA5E9"/>
                </a:solidFill>
                <a:latin typeface="Calibri"/>
                <a:ea typeface="Calibri"/>
                <a:cs typeface="Calibri"/>
                <a:sym typeface="Calibri"/>
              </a:endParaRPr>
            </a:p>
            <a:p>
              <a:pPr indent="0" lvl="0" marL="0" rtl="0" algn="l">
                <a:spcBef>
                  <a:spcPts val="600"/>
                </a:spcBef>
                <a:spcAft>
                  <a:spcPts val="0"/>
                </a:spcAft>
                <a:buNone/>
              </a:pPr>
              <a:r>
                <a:rPr b="1" i="0" lang="en-US" sz="1100">
                  <a:solidFill>
                    <a:srgbClr val="475569"/>
                  </a:solidFill>
                  <a:latin typeface="Calibri"/>
                  <a:ea typeface="Calibri"/>
                  <a:cs typeface="Calibri"/>
                  <a:sym typeface="Calibri"/>
                </a:rPr>
                <a:t>Action:</a:t>
              </a:r>
              <a:r>
                <a:rPr b="0" i="0" lang="en-US" sz="1100">
                  <a:solidFill>
                    <a:srgbClr val="475569"/>
                  </a:solidFill>
                  <a:latin typeface="Calibri"/>
                  <a:ea typeface="Calibri"/>
                  <a:cs typeface="Calibri"/>
                  <a:sym typeface="Calibri"/>
                </a:rPr>
                <a:t> Bulk-augmented catalog across </a:t>
              </a:r>
              <a:r>
                <a:rPr b="1" i="0" lang="en-US" sz="1100">
                  <a:solidFill>
                    <a:srgbClr val="475569"/>
                  </a:solidFill>
                  <a:latin typeface="Calibri"/>
                  <a:ea typeface="Calibri"/>
                  <a:cs typeface="Calibri"/>
                  <a:sym typeface="Calibri"/>
                </a:rPr>
                <a:t>9,618 products</a:t>
              </a:r>
              <a:r>
                <a:rPr b="0" i="0" lang="en-US" sz="1100">
                  <a:solidFill>
                    <a:srgbClr val="475569"/>
                  </a:solidFill>
                  <a:latin typeface="Calibri"/>
                  <a:ea typeface="Calibri"/>
                  <a:cs typeface="Calibri"/>
                  <a:sym typeface="Calibri"/>
                </a:rPr>
                <a:t> to add derived attribute.</a:t>
              </a:r>
              <a:endParaRPr b="1" i="0" sz="1100">
                <a:solidFill>
                  <a:srgbClr val="0EA5E9"/>
                </a:solidFill>
                <a:latin typeface="Calibri"/>
                <a:ea typeface="Calibri"/>
                <a:cs typeface="Calibri"/>
                <a:sym typeface="Calibri"/>
              </a:endParaRPr>
            </a:p>
            <a:p>
              <a:pPr indent="0" lvl="0" marL="0" rtl="0" algn="l">
                <a:spcBef>
                  <a:spcPts val="800"/>
                </a:spcBef>
                <a:spcAft>
                  <a:spcPts val="0"/>
                </a:spcAft>
                <a:buNone/>
              </a:pPr>
              <a:r>
                <a:rPr b="1" i="0" lang="en-US" sz="1050">
                  <a:solidFill>
                    <a:srgbClr val="0369A1"/>
                  </a:solidFill>
                  <a:latin typeface="Calibri"/>
                  <a:ea typeface="Calibri"/>
                  <a:cs typeface="Calibri"/>
                  <a:sym typeface="Calibri"/>
                </a:rPr>
                <a:t>AUGMENTATION EXECUTION:</a:t>
              </a:r>
              <a:endParaRPr b="1" i="0" sz="1050">
                <a:solidFill>
                  <a:srgbClr val="0EA5E9"/>
                </a:solidFill>
                <a:latin typeface="Calibri"/>
                <a:ea typeface="Calibri"/>
                <a:cs typeface="Calibri"/>
                <a:sym typeface="Calibri"/>
              </a:endParaRPr>
            </a:p>
            <a:p>
              <a:pPr indent="0" lvl="0" marL="0" rtl="0" algn="l">
                <a:spcBef>
                  <a:spcPts val="200"/>
                </a:spcBef>
                <a:spcAft>
                  <a:spcPts val="0"/>
                </a:spcAft>
                <a:buNone/>
              </a:pPr>
              <a:r>
                <a:rPr b="1" i="0" lang="en-US" sz="1050">
                  <a:solidFill>
                    <a:srgbClr val="0284C7"/>
                  </a:solidFill>
                  <a:latin typeface="Courier New"/>
                  <a:ea typeface="Courier New"/>
                  <a:cs typeface="Courier New"/>
                  <a:sym typeface="Courier New"/>
                </a:rPr>
                <a:t>add_derived_field(is_waterproof)</a:t>
              </a:r>
              <a:endParaRPr b="1" i="0" sz="1050">
                <a:solidFill>
                  <a:srgbClr val="0EA5E9"/>
                </a:solidFill>
                <a:latin typeface="Calibri"/>
                <a:ea typeface="Calibri"/>
                <a:cs typeface="Calibri"/>
                <a:sym typeface="Calibri"/>
              </a:endParaRPr>
            </a:p>
          </p:txBody>
        </p:sp>
      </p:grpSp>
      <p:grpSp>
        <p:nvGrpSpPr>
          <p:cNvPr id="346" name="Google Shape;346;p25"/>
          <p:cNvGrpSpPr/>
          <p:nvPr/>
        </p:nvGrpSpPr>
        <p:grpSpPr>
          <a:xfrm>
            <a:off x="8134350" y="1714500"/>
            <a:ext cx="3600600" cy="3143400"/>
            <a:chOff x="0" y="0"/>
            <a:chExt cx="3600600" cy="3143400"/>
          </a:xfrm>
        </p:grpSpPr>
        <p:sp>
          <p:nvSpPr>
            <p:cNvPr id="347" name="Google Shape;347;p25"/>
            <p:cNvSpPr/>
            <p:nvPr/>
          </p:nvSpPr>
          <p:spPr>
            <a:xfrm>
              <a:off x="0" y="0"/>
              <a:ext cx="3600600" cy="3143400"/>
            </a:xfrm>
            <a:prstGeom prst="roundRect">
              <a:avLst>
                <a:gd fmla="val 2424" name="adj"/>
              </a:avLst>
            </a:prstGeom>
            <a:solidFill>
              <a:srgbClr val="F8FAFC"/>
            </a:solidFill>
            <a:ln cap="flat" cmpd="sng" w="95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348" name="Google Shape;348;p25"/>
            <p:cNvSpPr txBox="1"/>
            <p:nvPr/>
          </p:nvSpPr>
          <p:spPr>
            <a:xfrm>
              <a:off x="228600" y="190500"/>
              <a:ext cx="3143400" cy="26670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i="0" lang="en-US" sz="1300">
                  <a:solidFill>
                    <a:srgbClr val="0EA5E9"/>
                  </a:solidFill>
                  <a:latin typeface="Calibri"/>
                  <a:ea typeface="Calibri"/>
                  <a:cs typeface="Calibri"/>
                  <a:sym typeface="Calibri"/>
                </a:rPr>
                <a:t>PHASE 3: ENHANCED SEARCH</a:t>
              </a:r>
              <a:endParaRPr b="1" i="0" sz="1300">
                <a:solidFill>
                  <a:srgbClr val="0EA5E9"/>
                </a:solidFill>
                <a:latin typeface="Calibri"/>
                <a:ea typeface="Calibri"/>
                <a:cs typeface="Calibri"/>
                <a:sym typeface="Calibri"/>
              </a:endParaRPr>
            </a:p>
            <a:p>
              <a:pPr indent="0" lvl="0" marL="0" rtl="0" algn="l">
                <a:spcBef>
                  <a:spcPts val="450"/>
                </a:spcBef>
                <a:spcAft>
                  <a:spcPts val="0"/>
                </a:spcAft>
                <a:buNone/>
              </a:pPr>
              <a:r>
                <a:rPr b="1" i="0" lang="en-US" sz="1800">
                  <a:solidFill>
                    <a:srgbClr val="0A2540"/>
                  </a:solidFill>
                  <a:latin typeface="Calibri"/>
                  <a:ea typeface="Calibri"/>
                  <a:cs typeface="Calibri"/>
                  <a:sym typeface="Calibri"/>
                </a:rPr>
                <a:t>“waterproof hiking boots”</a:t>
              </a:r>
              <a:endParaRPr b="1" i="0" sz="1300">
                <a:solidFill>
                  <a:srgbClr val="0EA5E9"/>
                </a:solidFill>
                <a:latin typeface="Calibri"/>
                <a:ea typeface="Calibri"/>
                <a:cs typeface="Calibri"/>
                <a:sym typeface="Calibri"/>
              </a:endParaRPr>
            </a:p>
            <a:p>
              <a:pPr indent="0" lvl="0" marL="0" rtl="0" algn="l">
                <a:spcBef>
                  <a:spcPts val="800"/>
                </a:spcBef>
                <a:spcAft>
                  <a:spcPts val="0"/>
                </a:spcAft>
                <a:buNone/>
              </a:pPr>
              <a:r>
                <a:rPr b="1" i="0" lang="en-US" sz="1100">
                  <a:solidFill>
                    <a:srgbClr val="475569"/>
                  </a:solidFill>
                  <a:latin typeface="Calibri"/>
                  <a:ea typeface="Calibri"/>
                  <a:cs typeface="Calibri"/>
                  <a:sym typeface="Calibri"/>
                </a:rPr>
                <a:t>New Session:</a:t>
              </a:r>
              <a:r>
                <a:rPr b="0" i="0" lang="en-US" sz="1100">
                  <a:solidFill>
                    <a:srgbClr val="475569"/>
                  </a:solidFill>
                  <a:latin typeface="Calibri"/>
                  <a:ea typeface="Calibri"/>
                  <a:cs typeface="Calibri"/>
                  <a:sym typeface="Calibri"/>
                </a:rPr>
                <a:t> Filter explicitly matches </a:t>
              </a:r>
              <a:r>
                <a:rPr b="1" i="0" lang="en-US" sz="1100">
                  <a:solidFill>
                    <a:srgbClr val="475569"/>
                  </a:solidFill>
                  <a:latin typeface="Calibri"/>
                  <a:ea typeface="Calibri"/>
                  <a:cs typeface="Calibri"/>
                  <a:sym typeface="Calibri"/>
                </a:rPr>
                <a:t>is_waterproof: true</a:t>
              </a:r>
              <a:r>
                <a:rPr b="0" i="0" lang="en-US" sz="1100">
                  <a:solidFill>
                    <a:srgbClr val="475569"/>
                  </a:solidFill>
                  <a:latin typeface="Calibri"/>
                  <a:ea typeface="Calibri"/>
                  <a:cs typeface="Calibri"/>
                  <a:sym typeface="Calibri"/>
                </a:rPr>
                <a:t> across full catalog.</a:t>
              </a:r>
              <a:endParaRPr b="1" i="0" sz="1100">
                <a:solidFill>
                  <a:srgbClr val="0EA5E9"/>
                </a:solidFill>
                <a:latin typeface="Calibri"/>
                <a:ea typeface="Calibri"/>
                <a:cs typeface="Calibri"/>
                <a:sym typeface="Calibri"/>
              </a:endParaRPr>
            </a:p>
            <a:p>
              <a:pPr indent="0" lvl="0" marL="0" rtl="0" algn="l">
                <a:spcBef>
                  <a:spcPts val="600"/>
                </a:spcBef>
                <a:spcAft>
                  <a:spcPts val="0"/>
                </a:spcAft>
                <a:buNone/>
              </a:pPr>
              <a:r>
                <a:rPr b="0" i="0" lang="en-US" sz="1100">
                  <a:solidFill>
                    <a:srgbClr val="475569"/>
                  </a:solidFill>
                  <a:latin typeface="Calibri"/>
                  <a:ea typeface="Calibri"/>
                  <a:cs typeface="Calibri"/>
                  <a:sym typeface="Calibri"/>
                </a:rPr>
                <a:t>Expanded taxonomy to support new structured search dimensions.</a:t>
              </a:r>
              <a:endParaRPr b="1" i="0" sz="1100">
                <a:solidFill>
                  <a:srgbClr val="0EA5E9"/>
                </a:solidFill>
                <a:latin typeface="Calibri"/>
                <a:ea typeface="Calibri"/>
                <a:cs typeface="Calibri"/>
                <a:sym typeface="Calibri"/>
              </a:endParaRPr>
            </a:p>
            <a:p>
              <a:pPr indent="0" lvl="0" marL="0" rtl="0" algn="l">
                <a:spcBef>
                  <a:spcPts val="800"/>
                </a:spcBef>
                <a:spcAft>
                  <a:spcPts val="0"/>
                </a:spcAft>
                <a:buNone/>
              </a:pPr>
              <a:r>
                <a:rPr b="1" i="0" lang="en-US" sz="1050">
                  <a:solidFill>
                    <a:srgbClr val="15803D"/>
                  </a:solidFill>
                  <a:latin typeface="Calibri"/>
                  <a:ea typeface="Calibri"/>
                  <a:cs typeface="Calibri"/>
                  <a:sym typeface="Calibri"/>
                </a:rPr>
                <a:t>AFTER RECORD (Catalog Enhanced):</a:t>
              </a:r>
              <a:endParaRPr b="1" i="0" sz="1050">
                <a:solidFill>
                  <a:srgbClr val="0EA5E9"/>
                </a:solidFill>
                <a:latin typeface="Calibri"/>
                <a:ea typeface="Calibri"/>
                <a:cs typeface="Calibri"/>
                <a:sym typeface="Calibri"/>
              </a:endParaRPr>
            </a:p>
            <a:p>
              <a:pPr indent="0" lvl="0" marL="0" rtl="0" algn="l">
                <a:spcBef>
                  <a:spcPts val="200"/>
                </a:spcBef>
                <a:spcAft>
                  <a:spcPts val="0"/>
                </a:spcAft>
                <a:buNone/>
              </a:pPr>
              <a:r>
                <a:rPr b="1" i="0" lang="en-US" sz="1050">
                  <a:solidFill>
                    <a:srgbClr val="166534"/>
                  </a:solidFill>
                  <a:highlight>
                    <a:srgbClr val="DCFCE7"/>
                  </a:highlight>
                  <a:latin typeface="Courier New"/>
                  <a:ea typeface="Courier New"/>
                  <a:cs typeface="Courier New"/>
                  <a:sym typeface="Courier New"/>
                </a:rPr>
                <a:t>is_waterproof: true</a:t>
              </a:r>
              <a:endParaRPr b="1" i="0" sz="1050">
                <a:solidFill>
                  <a:srgbClr val="0EA5E9"/>
                </a:solidFill>
                <a:latin typeface="Calibri"/>
                <a:ea typeface="Calibri"/>
                <a:cs typeface="Calibri"/>
                <a:sym typeface="Calibri"/>
              </a:endParaRPr>
            </a:p>
          </p:txBody>
        </p:sp>
      </p:grpSp>
      <p:grpSp>
        <p:nvGrpSpPr>
          <p:cNvPr id="349" name="Google Shape;349;p25"/>
          <p:cNvGrpSpPr/>
          <p:nvPr/>
        </p:nvGrpSpPr>
        <p:grpSpPr>
          <a:xfrm>
            <a:off x="457200" y="5143500"/>
            <a:ext cx="11277600" cy="952500"/>
            <a:chOff x="0" y="0"/>
            <a:chExt cx="11277600" cy="952500"/>
          </a:xfrm>
        </p:grpSpPr>
        <p:sp>
          <p:nvSpPr>
            <p:cNvPr id="350" name="Google Shape;350;p25"/>
            <p:cNvSpPr/>
            <p:nvPr/>
          </p:nvSpPr>
          <p:spPr>
            <a:xfrm>
              <a:off x="0" y="0"/>
              <a:ext cx="11277600" cy="952500"/>
            </a:xfrm>
            <a:prstGeom prst="roundRect">
              <a:avLst>
                <a:gd fmla="val 8000" name="adj"/>
              </a:avLst>
            </a:prstGeom>
            <a:solidFill>
              <a:srgbClr val="0A2540"/>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351" name="Google Shape;351;p25"/>
            <p:cNvSpPr txBox="1"/>
            <p:nvPr/>
          </p:nvSpPr>
          <p:spPr>
            <a:xfrm>
              <a:off x="304800" y="152400"/>
              <a:ext cx="10668000" cy="6477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l">
                <a:spcBef>
                  <a:spcPts val="0"/>
                </a:spcBef>
                <a:spcAft>
                  <a:spcPts val="0"/>
                </a:spcAft>
                <a:buNone/>
              </a:pPr>
              <a:r>
                <a:rPr b="1" i="0" lang="en-US" sz="1018">
                  <a:solidFill>
                    <a:srgbClr val="0EA5E9"/>
                  </a:solidFill>
                  <a:latin typeface="Calibri"/>
                  <a:ea typeface="Calibri"/>
                  <a:cs typeface="Calibri"/>
                  <a:sym typeface="Calibri"/>
                </a:rPr>
                <a:t>KEY TAKEAWAY</a:t>
              </a:r>
              <a:endParaRPr b="1" i="0" sz="1018">
                <a:solidFill>
                  <a:srgbClr val="0EA5E9"/>
                </a:solidFill>
                <a:latin typeface="Calibri"/>
                <a:ea typeface="Calibri"/>
                <a:cs typeface="Calibri"/>
                <a:sym typeface="Calibri"/>
              </a:endParaRPr>
            </a:p>
            <a:p>
              <a:pPr indent="0" lvl="0" marL="0" rtl="0" algn="l">
                <a:spcBef>
                  <a:spcPts val="300"/>
                </a:spcBef>
                <a:spcAft>
                  <a:spcPts val="0"/>
                </a:spcAft>
                <a:buNone/>
              </a:pPr>
              <a:r>
                <a:rPr b="0" i="0" lang="en-US" sz="1804">
                  <a:solidFill>
                    <a:srgbClr val="FFFFFF"/>
                  </a:solidFill>
                  <a:latin typeface="Calibri"/>
                  <a:ea typeface="Calibri"/>
                  <a:cs typeface="Calibri"/>
                  <a:sym typeface="Calibri"/>
                </a:rPr>
                <a:t>Agentic search isn't just correcting errors — it continuously evolves schema to unlock new filter dimensions.</a:t>
              </a:r>
              <a:endParaRPr b="1" i="0" sz="1018">
                <a:solidFill>
                  <a:srgbClr val="0EA5E9"/>
                </a:solidFill>
                <a:latin typeface="Calibri"/>
                <a:ea typeface="Calibri"/>
                <a:cs typeface="Calibri"/>
                <a:sym typeface="Calibri"/>
              </a:endParaRPr>
            </a:p>
          </p:txBody>
        </p:sp>
      </p:grpSp>
      <p:pic>
        <p:nvPicPr>
          <p:cNvPr id="352" name="Google Shape;352;p25"/>
          <p:cNvPicPr preferRelativeResize="0"/>
          <p:nvPr/>
        </p:nvPicPr>
        <p:blipFill rotWithShape="1">
          <a:blip r:embed="rId4">
            <a:alphaModFix/>
          </a:blip>
          <a:srcRect b="0" l="0" r="0" t="0"/>
          <a:stretch/>
        </p:blipFill>
        <p:spPr>
          <a:xfrm>
            <a:off x="10059924" y="314175"/>
            <a:ext cx="1644300" cy="645900"/>
          </a:xfrm>
          <a:prstGeom prst="rect">
            <a:avLst/>
          </a:prstGeom>
          <a:noFill/>
          <a:ln>
            <a:noFill/>
          </a:ln>
        </p:spPr>
      </p:pic>
      <p:sp>
        <p:nvSpPr>
          <p:cNvPr id="353" name="Google Shape;353;p25"/>
          <p:cNvSpPr txBox="1"/>
          <p:nvPr/>
        </p:nvSpPr>
        <p:spPr>
          <a:xfrm>
            <a:off x="1921297" y="6477000"/>
            <a:ext cx="10058400" cy="1692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r">
              <a:spcBef>
                <a:spcPts val="0"/>
              </a:spcBef>
              <a:spcAft>
                <a:spcPts val="0"/>
              </a:spcAft>
              <a:buNone/>
            </a:pPr>
            <a:r>
              <a:rPr b="0" i="0" lang="en-US" sz="1100">
                <a:solidFill>
                  <a:srgbClr val="94A3B8"/>
                </a:solidFill>
                <a:latin typeface="Calibri"/>
                <a:ea typeface="Calibri"/>
                <a:cs typeface="Calibri"/>
                <a:sym typeface="Calibri"/>
              </a:rPr>
              <a:t>OpenSearchCon North America · 2026 · Agentic Search: Reimagining Search from Ingestion to Relevancy</a:t>
            </a:r>
            <a:endParaRPr b="0" i="0" sz="1100">
              <a:solidFill>
                <a:srgbClr val="94A3B8"/>
              </a:solidFill>
              <a:latin typeface="Calibri"/>
              <a:ea typeface="Calibri"/>
              <a:cs typeface="Calibri"/>
              <a:sym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357" name="Shape 357"/>
        <p:cNvGrpSpPr/>
        <p:nvPr/>
      </p:nvGrpSpPr>
      <p:grpSpPr>
        <a:xfrm>
          <a:off x="0" y="0"/>
          <a:ext cx="0" cy="0"/>
          <a:chOff x="0" y="0"/>
          <a:chExt cx="0" cy="0"/>
        </a:xfrm>
      </p:grpSpPr>
      <p:sp>
        <p:nvSpPr>
          <p:cNvPr id="358" name="Google Shape;358;p26"/>
          <p:cNvSpPr txBox="1"/>
          <p:nvPr/>
        </p:nvSpPr>
        <p:spPr>
          <a:xfrm>
            <a:off x="457200" y="857250"/>
            <a:ext cx="11239500" cy="6192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i="0" lang="en-US" sz="3600" u="none" strike="noStrike">
                <a:solidFill>
                  <a:srgbClr val="0A2540"/>
                </a:solidFill>
                <a:latin typeface="Calibri"/>
                <a:ea typeface="Calibri"/>
                <a:cs typeface="Calibri"/>
                <a:sym typeface="Calibri"/>
              </a:rPr>
              <a:t>One live application, three demos, one thesis</a:t>
            </a:r>
            <a:endParaRPr b="1" i="0" sz="3600" u="none" strike="noStrike">
              <a:solidFill>
                <a:srgbClr val="0A2540"/>
              </a:solidFill>
              <a:latin typeface="Calibri"/>
              <a:ea typeface="Calibri"/>
              <a:cs typeface="Calibri"/>
              <a:sym typeface="Calibri"/>
            </a:endParaRPr>
          </a:p>
        </p:txBody>
      </p:sp>
      <p:grpSp>
        <p:nvGrpSpPr>
          <p:cNvPr id="359" name="Google Shape;359;p26"/>
          <p:cNvGrpSpPr/>
          <p:nvPr/>
        </p:nvGrpSpPr>
        <p:grpSpPr>
          <a:xfrm>
            <a:off x="457200" y="1714500"/>
            <a:ext cx="3600600" cy="1476300"/>
            <a:chOff x="0" y="0"/>
            <a:chExt cx="3600600" cy="1476300"/>
          </a:xfrm>
        </p:grpSpPr>
        <p:sp>
          <p:nvSpPr>
            <p:cNvPr id="360" name="Google Shape;360;p26"/>
            <p:cNvSpPr/>
            <p:nvPr/>
          </p:nvSpPr>
          <p:spPr>
            <a:xfrm>
              <a:off x="0" y="0"/>
              <a:ext cx="3600600" cy="1476300"/>
            </a:xfrm>
            <a:prstGeom prst="roundRect">
              <a:avLst>
                <a:gd fmla="val 5161" name="adj"/>
              </a:avLst>
            </a:prstGeom>
            <a:solidFill>
              <a:srgbClr val="F8FAFC"/>
            </a:solidFill>
            <a:ln cap="flat" cmpd="sng" w="95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361" name="Google Shape;361;p26"/>
            <p:cNvSpPr txBox="1"/>
            <p:nvPr/>
          </p:nvSpPr>
          <p:spPr>
            <a:xfrm>
              <a:off x="190500" y="133350"/>
              <a:ext cx="3219600" cy="11811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i="0" lang="en-US" sz="2400" u="none" strike="noStrike">
                  <a:solidFill>
                    <a:srgbClr val="0EA5E9"/>
                  </a:solidFill>
                  <a:latin typeface="Calibri"/>
                  <a:ea typeface="Calibri"/>
                  <a:cs typeface="Calibri"/>
                  <a:sym typeface="Calibri"/>
                </a:rPr>
                <a:t>01</a:t>
              </a:r>
              <a:endParaRPr b="1" i="0" sz="2400" u="none" strike="noStrike">
                <a:solidFill>
                  <a:srgbClr val="0EA5E9"/>
                </a:solidFill>
                <a:latin typeface="Calibri"/>
                <a:ea typeface="Calibri"/>
                <a:cs typeface="Calibri"/>
                <a:sym typeface="Calibri"/>
              </a:endParaRPr>
            </a:p>
            <a:p>
              <a:pPr indent="0" lvl="0" marL="0" rtl="0" algn="l">
                <a:spcBef>
                  <a:spcPts val="400"/>
                </a:spcBef>
                <a:spcAft>
                  <a:spcPts val="400"/>
                </a:spcAft>
                <a:buNone/>
              </a:pPr>
              <a:r>
                <a:rPr b="0" i="0" lang="en-US" sz="1650" u="none" strike="noStrike">
                  <a:solidFill>
                    <a:srgbClr val="334155"/>
                  </a:solidFill>
                  <a:latin typeface="Calibri"/>
                  <a:ea typeface="Calibri"/>
                  <a:cs typeface="Calibri"/>
                  <a:sym typeface="Calibri"/>
                </a:rPr>
                <a:t>Hybrid retrieval, reranking, one bounded retry — never an unconstrained loop</a:t>
              </a:r>
              <a:endParaRPr b="1" i="0" sz="1650" u="none" strike="noStrike">
                <a:solidFill>
                  <a:srgbClr val="0EA5E9"/>
                </a:solidFill>
                <a:latin typeface="Calibri"/>
                <a:ea typeface="Calibri"/>
                <a:cs typeface="Calibri"/>
                <a:sym typeface="Calibri"/>
              </a:endParaRPr>
            </a:p>
          </p:txBody>
        </p:sp>
      </p:grpSp>
      <p:grpSp>
        <p:nvGrpSpPr>
          <p:cNvPr id="362" name="Google Shape;362;p26"/>
          <p:cNvGrpSpPr/>
          <p:nvPr/>
        </p:nvGrpSpPr>
        <p:grpSpPr>
          <a:xfrm>
            <a:off x="4295775" y="1714500"/>
            <a:ext cx="3600600" cy="1476300"/>
            <a:chOff x="0" y="0"/>
            <a:chExt cx="3600600" cy="1476300"/>
          </a:xfrm>
        </p:grpSpPr>
        <p:sp>
          <p:nvSpPr>
            <p:cNvPr id="363" name="Google Shape;363;p26"/>
            <p:cNvSpPr/>
            <p:nvPr/>
          </p:nvSpPr>
          <p:spPr>
            <a:xfrm>
              <a:off x="0" y="0"/>
              <a:ext cx="3600600" cy="1476300"/>
            </a:xfrm>
            <a:prstGeom prst="roundRect">
              <a:avLst>
                <a:gd fmla="val 5161" name="adj"/>
              </a:avLst>
            </a:prstGeom>
            <a:solidFill>
              <a:srgbClr val="F8FAFC"/>
            </a:solidFill>
            <a:ln cap="flat" cmpd="sng" w="95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364" name="Google Shape;364;p26"/>
            <p:cNvSpPr txBox="1"/>
            <p:nvPr/>
          </p:nvSpPr>
          <p:spPr>
            <a:xfrm>
              <a:off x="190500" y="133350"/>
              <a:ext cx="3219600" cy="11811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i="0" lang="en-US" sz="2400" u="none" strike="noStrike">
                  <a:solidFill>
                    <a:srgbClr val="0EA5E9"/>
                  </a:solidFill>
                  <a:latin typeface="Calibri"/>
                  <a:ea typeface="Calibri"/>
                  <a:cs typeface="Calibri"/>
                  <a:sym typeface="Calibri"/>
                </a:rPr>
                <a:t>02</a:t>
              </a:r>
              <a:endParaRPr b="1" i="0" sz="2400" u="none" strike="noStrike">
                <a:solidFill>
                  <a:srgbClr val="0EA5E9"/>
                </a:solidFill>
                <a:latin typeface="Calibri"/>
                <a:ea typeface="Calibri"/>
                <a:cs typeface="Calibri"/>
                <a:sym typeface="Calibri"/>
              </a:endParaRPr>
            </a:p>
            <a:p>
              <a:pPr indent="0" lvl="0" marL="0" rtl="0" algn="l">
                <a:spcBef>
                  <a:spcPts val="400"/>
                </a:spcBef>
                <a:spcAft>
                  <a:spcPts val="400"/>
                </a:spcAft>
                <a:buNone/>
              </a:pPr>
              <a:r>
                <a:rPr b="0" i="0" lang="en-US" sz="1650" u="none" strike="noStrike">
                  <a:solidFill>
                    <a:srgbClr val="334155"/>
                  </a:solidFill>
                  <a:latin typeface="Calibri"/>
                  <a:ea typeface="Calibri"/>
                  <a:cs typeface="Calibri"/>
                  <a:sym typeface="Calibri"/>
                </a:rPr>
                <a:t>Judgments diagnose when they exist; a confidence proxy carries every other query</a:t>
              </a:r>
              <a:endParaRPr b="1" i="0" sz="1650" u="none" strike="noStrike">
                <a:solidFill>
                  <a:srgbClr val="0EA5E9"/>
                </a:solidFill>
                <a:latin typeface="Calibri"/>
                <a:ea typeface="Calibri"/>
                <a:cs typeface="Calibri"/>
                <a:sym typeface="Calibri"/>
              </a:endParaRPr>
            </a:p>
          </p:txBody>
        </p:sp>
      </p:grpSp>
      <p:grpSp>
        <p:nvGrpSpPr>
          <p:cNvPr id="365" name="Google Shape;365;p26"/>
          <p:cNvGrpSpPr/>
          <p:nvPr/>
        </p:nvGrpSpPr>
        <p:grpSpPr>
          <a:xfrm>
            <a:off x="8134350" y="1714500"/>
            <a:ext cx="3600600" cy="1476300"/>
            <a:chOff x="0" y="0"/>
            <a:chExt cx="3600600" cy="1476300"/>
          </a:xfrm>
        </p:grpSpPr>
        <p:sp>
          <p:nvSpPr>
            <p:cNvPr id="366" name="Google Shape;366;p26"/>
            <p:cNvSpPr/>
            <p:nvPr/>
          </p:nvSpPr>
          <p:spPr>
            <a:xfrm>
              <a:off x="0" y="0"/>
              <a:ext cx="3600600" cy="1476300"/>
            </a:xfrm>
            <a:prstGeom prst="roundRect">
              <a:avLst>
                <a:gd fmla="val 5161" name="adj"/>
              </a:avLst>
            </a:prstGeom>
            <a:solidFill>
              <a:srgbClr val="F8FAFC"/>
            </a:solidFill>
            <a:ln cap="flat" cmpd="sng" w="95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367" name="Google Shape;367;p26"/>
            <p:cNvSpPr txBox="1"/>
            <p:nvPr/>
          </p:nvSpPr>
          <p:spPr>
            <a:xfrm>
              <a:off x="190500" y="133350"/>
              <a:ext cx="3219600" cy="11811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i="0" lang="en-US" sz="2400" u="none" strike="noStrike">
                  <a:solidFill>
                    <a:srgbClr val="0EA5E9"/>
                  </a:solidFill>
                  <a:latin typeface="Calibri"/>
                  <a:ea typeface="Calibri"/>
                  <a:cs typeface="Calibri"/>
                  <a:sym typeface="Calibri"/>
                </a:rPr>
                <a:t>03</a:t>
              </a:r>
              <a:endParaRPr b="1" i="0" sz="2400" u="none" strike="noStrike">
                <a:solidFill>
                  <a:srgbClr val="0EA5E9"/>
                </a:solidFill>
                <a:latin typeface="Calibri"/>
                <a:ea typeface="Calibri"/>
                <a:cs typeface="Calibri"/>
                <a:sym typeface="Calibri"/>
              </a:endParaRPr>
            </a:p>
            <a:p>
              <a:pPr indent="0" lvl="0" marL="0" rtl="0" algn="l">
                <a:spcBef>
                  <a:spcPts val="400"/>
                </a:spcBef>
                <a:spcAft>
                  <a:spcPts val="400"/>
                </a:spcAft>
                <a:buNone/>
              </a:pPr>
              <a:r>
                <a:rPr b="0" i="0" lang="en-US" sz="1650" u="none" strike="noStrike">
                  <a:solidFill>
                    <a:srgbClr val="334155"/>
                  </a:solidFill>
                  <a:latin typeface="Calibri"/>
                  <a:ea typeface="Calibri"/>
                  <a:cs typeface="Calibri"/>
                  <a:sym typeface="Calibri"/>
                </a:rPr>
                <a:t>The centerpiece: an agent that enriches the catalog, not just the answer</a:t>
              </a:r>
              <a:endParaRPr b="1" i="0" sz="1650" u="none" strike="noStrike">
                <a:solidFill>
                  <a:srgbClr val="0EA5E9"/>
                </a:solidFill>
                <a:latin typeface="Calibri"/>
                <a:ea typeface="Calibri"/>
                <a:cs typeface="Calibri"/>
                <a:sym typeface="Calibri"/>
              </a:endParaRPr>
            </a:p>
          </p:txBody>
        </p:sp>
      </p:grpSp>
      <p:grpSp>
        <p:nvGrpSpPr>
          <p:cNvPr id="368" name="Google Shape;368;p26"/>
          <p:cNvGrpSpPr/>
          <p:nvPr/>
        </p:nvGrpSpPr>
        <p:grpSpPr>
          <a:xfrm>
            <a:off x="457200" y="3381375"/>
            <a:ext cx="11277600" cy="1476300"/>
            <a:chOff x="0" y="0"/>
            <a:chExt cx="11277600" cy="1476300"/>
          </a:xfrm>
        </p:grpSpPr>
        <p:sp>
          <p:nvSpPr>
            <p:cNvPr id="369" name="Google Shape;369;p26"/>
            <p:cNvSpPr/>
            <p:nvPr/>
          </p:nvSpPr>
          <p:spPr>
            <a:xfrm>
              <a:off x="0" y="0"/>
              <a:ext cx="11277600" cy="1476300"/>
            </a:xfrm>
            <a:prstGeom prst="roundRect">
              <a:avLst>
                <a:gd fmla="val 5161" name="adj"/>
              </a:avLst>
            </a:prstGeom>
            <a:solidFill>
              <a:srgbClr val="F8FAFC"/>
            </a:solidFill>
            <a:ln cap="flat" cmpd="sng" w="95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370" name="Google Shape;370;p26"/>
            <p:cNvSpPr txBox="1"/>
            <p:nvPr/>
          </p:nvSpPr>
          <p:spPr>
            <a:xfrm>
              <a:off x="228600" y="133350"/>
              <a:ext cx="10820400" cy="11811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i="0" lang="en-US" sz="2400" u="none" strike="noStrike">
                  <a:solidFill>
                    <a:srgbClr val="0EA5E9"/>
                  </a:solidFill>
                  <a:latin typeface="Calibri"/>
                  <a:ea typeface="Calibri"/>
                  <a:cs typeface="Calibri"/>
                  <a:sym typeface="Calibri"/>
                </a:rPr>
                <a:t>04</a:t>
              </a:r>
              <a:endParaRPr b="1" i="0" sz="2400" u="none" strike="noStrike">
                <a:solidFill>
                  <a:srgbClr val="0EA5E9"/>
                </a:solidFill>
                <a:latin typeface="Calibri"/>
                <a:ea typeface="Calibri"/>
                <a:cs typeface="Calibri"/>
                <a:sym typeface="Calibri"/>
              </a:endParaRPr>
            </a:p>
            <a:p>
              <a:pPr indent="0" lvl="0" marL="0" rtl="0" algn="l">
                <a:spcBef>
                  <a:spcPts val="400"/>
                </a:spcBef>
                <a:spcAft>
                  <a:spcPts val="400"/>
                </a:spcAft>
                <a:buNone/>
              </a:pPr>
              <a:r>
                <a:rPr b="0" i="0" lang="en-US" sz="1650" u="none" strike="noStrike">
                  <a:solidFill>
                    <a:srgbClr val="334155"/>
                  </a:solidFill>
                  <a:latin typeface="Calibri"/>
                  <a:ea typeface="Calibri"/>
                  <a:cs typeface="Calibri"/>
                  <a:sym typeface="Calibri"/>
                </a:rPr>
                <a:t>Every decision — intent, α, retry, repair — visible in the observability panel</a:t>
              </a:r>
              <a:endParaRPr b="1" i="0" sz="1650" u="none" strike="noStrike">
                <a:solidFill>
                  <a:srgbClr val="0EA5E9"/>
                </a:solidFill>
                <a:latin typeface="Calibri"/>
                <a:ea typeface="Calibri"/>
                <a:cs typeface="Calibri"/>
                <a:sym typeface="Calibri"/>
              </a:endParaRPr>
            </a:p>
          </p:txBody>
        </p:sp>
      </p:grpSp>
      <p:grpSp>
        <p:nvGrpSpPr>
          <p:cNvPr id="371" name="Google Shape;371;p26"/>
          <p:cNvGrpSpPr/>
          <p:nvPr/>
        </p:nvGrpSpPr>
        <p:grpSpPr>
          <a:xfrm>
            <a:off x="457200" y="5143500"/>
            <a:ext cx="11277600" cy="952500"/>
            <a:chOff x="0" y="0"/>
            <a:chExt cx="11277600" cy="952500"/>
          </a:xfrm>
        </p:grpSpPr>
        <p:sp>
          <p:nvSpPr>
            <p:cNvPr id="372" name="Google Shape;372;p26"/>
            <p:cNvSpPr/>
            <p:nvPr/>
          </p:nvSpPr>
          <p:spPr>
            <a:xfrm>
              <a:off x="0" y="0"/>
              <a:ext cx="11277600" cy="952500"/>
            </a:xfrm>
            <a:prstGeom prst="roundRect">
              <a:avLst>
                <a:gd fmla="val 8000" name="adj"/>
              </a:avLst>
            </a:prstGeom>
            <a:solidFill>
              <a:srgbClr val="0A2540"/>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373" name="Google Shape;373;p26"/>
            <p:cNvSpPr txBox="1"/>
            <p:nvPr/>
          </p:nvSpPr>
          <p:spPr>
            <a:xfrm>
              <a:off x="304800" y="133350"/>
              <a:ext cx="10668000" cy="6858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l">
                <a:spcBef>
                  <a:spcPts val="0"/>
                </a:spcBef>
                <a:spcAft>
                  <a:spcPts val="0"/>
                </a:spcAft>
                <a:buNone/>
              </a:pPr>
              <a:r>
                <a:rPr b="1" i="0" lang="en-US" sz="935" u="none" strike="noStrike">
                  <a:solidFill>
                    <a:srgbClr val="0EA5E9"/>
                  </a:solidFill>
                  <a:latin typeface="Calibri"/>
                  <a:ea typeface="Calibri"/>
                  <a:cs typeface="Calibri"/>
                  <a:sym typeface="Calibri"/>
                </a:rPr>
                <a:t>KEY TAKEAWAY</a:t>
              </a:r>
              <a:endParaRPr b="1" i="0" sz="935" u="none" strike="noStrike">
                <a:solidFill>
                  <a:srgbClr val="0EA5E9"/>
                </a:solidFill>
                <a:latin typeface="Calibri"/>
                <a:ea typeface="Calibri"/>
                <a:cs typeface="Calibri"/>
                <a:sym typeface="Calibri"/>
              </a:endParaRPr>
            </a:p>
            <a:p>
              <a:pPr indent="0" lvl="0" marL="0" rtl="0" algn="l">
                <a:spcBef>
                  <a:spcPts val="400"/>
                </a:spcBef>
                <a:spcAft>
                  <a:spcPts val="0"/>
                </a:spcAft>
                <a:buNone/>
              </a:pPr>
              <a:r>
                <a:rPr b="0" i="0" lang="en-US" sz="1488" u="none" strike="noStrike">
                  <a:solidFill>
                    <a:srgbClr val="FFFFFF"/>
                  </a:solidFill>
                  <a:latin typeface="Calibri"/>
                  <a:ea typeface="Calibri"/>
                  <a:cs typeface="Calibri"/>
                  <a:sym typeface="Calibri"/>
                </a:rPr>
                <a:t>Agentic search doesn't replace relevancy tuning — it's the layer that knows when your retrieval, your reranker, or your catalog itself is the thing that</a:t>
              </a:r>
              <a:r>
                <a:rPr lang="en-US" sz="1488">
                  <a:solidFill>
                    <a:srgbClr val="FFFFFF"/>
                  </a:solidFill>
                  <a:latin typeface="Calibri"/>
                  <a:ea typeface="Calibri"/>
                  <a:cs typeface="Calibri"/>
                  <a:sym typeface="Calibri"/>
                </a:rPr>
                <a:t> needs enrichment.</a:t>
              </a:r>
              <a:endParaRPr b="1" i="0" sz="935" u="none" strike="noStrike">
                <a:solidFill>
                  <a:srgbClr val="0EA5E9"/>
                </a:solidFill>
                <a:latin typeface="Calibri"/>
                <a:ea typeface="Calibri"/>
                <a:cs typeface="Calibri"/>
                <a:sym typeface="Calibri"/>
              </a:endParaRPr>
            </a:p>
          </p:txBody>
        </p:sp>
      </p:grpSp>
      <p:sp>
        <p:nvSpPr>
          <p:cNvPr id="374" name="Google Shape;374;p26"/>
          <p:cNvSpPr txBox="1"/>
          <p:nvPr/>
        </p:nvSpPr>
        <p:spPr>
          <a:xfrm>
            <a:off x="457200" y="514350"/>
            <a:ext cx="11239500" cy="2667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i="0" lang="en-US" sz="1350" u="none" strike="noStrike">
                <a:solidFill>
                  <a:srgbClr val="0369A1"/>
                </a:solidFill>
                <a:latin typeface="Calibri"/>
                <a:ea typeface="Calibri"/>
                <a:cs typeface="Calibri"/>
                <a:sym typeface="Calibri"/>
              </a:rPr>
              <a:t>CLOSING — TAKEAWAYS</a:t>
            </a:r>
            <a:endParaRPr b="1" i="0" sz="1350" u="none" strike="noStrike">
              <a:solidFill>
                <a:srgbClr val="0369A1"/>
              </a:solidFill>
              <a:latin typeface="Calibri"/>
              <a:ea typeface="Calibri"/>
              <a:cs typeface="Calibri"/>
              <a:sym typeface="Calibri"/>
            </a:endParaRPr>
          </a:p>
        </p:txBody>
      </p:sp>
      <p:sp>
        <p:nvSpPr>
          <p:cNvPr id="375" name="Google Shape;375;p26"/>
          <p:cNvSpPr txBox="1"/>
          <p:nvPr/>
        </p:nvSpPr>
        <p:spPr>
          <a:xfrm>
            <a:off x="365760" y="190500"/>
            <a:ext cx="1371600" cy="1692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l">
              <a:spcBef>
                <a:spcPts val="0"/>
              </a:spcBef>
              <a:spcAft>
                <a:spcPts val="0"/>
              </a:spcAft>
              <a:buNone/>
            </a:pPr>
            <a:r>
              <a:rPr b="0" i="0" lang="en-US" sz="1100" u="none" strike="noStrike">
                <a:solidFill>
                  <a:srgbClr val="94A3B8"/>
                </a:solidFill>
                <a:latin typeface="Calibri"/>
                <a:ea typeface="Calibri"/>
                <a:cs typeface="Calibri"/>
                <a:sym typeface="Calibri"/>
              </a:rPr>
              <a:t>9 / 11</a:t>
            </a:r>
            <a:endParaRPr b="0" i="0" sz="1100" u="none" strike="noStrike">
              <a:solidFill>
                <a:srgbClr val="94A3B8"/>
              </a:solidFill>
              <a:latin typeface="Calibri"/>
              <a:ea typeface="Calibri"/>
              <a:cs typeface="Calibri"/>
              <a:sym typeface="Calibri"/>
            </a:endParaRPr>
          </a:p>
        </p:txBody>
      </p:sp>
      <p:pic>
        <p:nvPicPr>
          <p:cNvPr id="376" name="Google Shape;376;p26" title="KMWLogo_blk_blue.png"/>
          <p:cNvPicPr preferRelativeResize="0"/>
          <p:nvPr/>
        </p:nvPicPr>
        <p:blipFill>
          <a:blip r:embed="rId4">
            <a:alphaModFix/>
          </a:blip>
          <a:stretch>
            <a:fillRect/>
          </a:stretch>
        </p:blipFill>
        <p:spPr>
          <a:xfrm>
            <a:off x="10059924" y="314175"/>
            <a:ext cx="1644399" cy="645950"/>
          </a:xfrm>
          <a:prstGeom prst="rect">
            <a:avLst/>
          </a:prstGeom>
          <a:noFill/>
          <a:ln>
            <a:noFill/>
          </a:ln>
        </p:spPr>
      </p:pic>
      <p:sp>
        <p:nvSpPr>
          <p:cNvPr id="377" name="Google Shape;377;p26"/>
          <p:cNvSpPr txBox="1"/>
          <p:nvPr/>
        </p:nvSpPr>
        <p:spPr>
          <a:xfrm>
            <a:off x="1921297" y="6477000"/>
            <a:ext cx="10058400" cy="1692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r">
              <a:spcBef>
                <a:spcPts val="0"/>
              </a:spcBef>
              <a:spcAft>
                <a:spcPts val="0"/>
              </a:spcAft>
              <a:buNone/>
            </a:pPr>
            <a:r>
              <a:rPr b="0" i="0" lang="en-US" sz="1100" u="none" strike="noStrike">
                <a:solidFill>
                  <a:srgbClr val="94A3B8"/>
                </a:solidFill>
                <a:latin typeface="Calibri"/>
                <a:ea typeface="Calibri"/>
                <a:cs typeface="Calibri"/>
                <a:sym typeface="Calibri"/>
              </a:rPr>
              <a:t>OpenSearchCon North America · 2026 · Agentic Search: Reimagining Search from Ingestion to Relevancy</a:t>
            </a:r>
            <a:endParaRPr b="0" i="0" sz="1100" u="none" strike="noStrike">
              <a:solidFill>
                <a:srgbClr val="94A3B8"/>
              </a:solidFill>
              <a:latin typeface="Calibri"/>
              <a:ea typeface="Calibri"/>
              <a:cs typeface="Calibri"/>
              <a:sym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381" name="Shape 381"/>
        <p:cNvGrpSpPr/>
        <p:nvPr/>
      </p:nvGrpSpPr>
      <p:grpSpPr>
        <a:xfrm>
          <a:off x="0" y="0"/>
          <a:ext cx="0" cy="0"/>
          <a:chOff x="0" y="0"/>
          <a:chExt cx="0" cy="0"/>
        </a:xfrm>
      </p:grpSpPr>
      <p:grpSp>
        <p:nvGrpSpPr>
          <p:cNvPr id="382" name="Google Shape;382;p27"/>
          <p:cNvGrpSpPr/>
          <p:nvPr/>
        </p:nvGrpSpPr>
        <p:grpSpPr>
          <a:xfrm>
            <a:off x="457200" y="1714500"/>
            <a:ext cx="3600600" cy="3143400"/>
            <a:chOff x="0" y="0"/>
            <a:chExt cx="3600600" cy="3143400"/>
          </a:xfrm>
        </p:grpSpPr>
        <p:sp>
          <p:nvSpPr>
            <p:cNvPr id="383" name="Google Shape;383;p27"/>
            <p:cNvSpPr/>
            <p:nvPr/>
          </p:nvSpPr>
          <p:spPr>
            <a:xfrm>
              <a:off x="0" y="0"/>
              <a:ext cx="3600600" cy="3143400"/>
            </a:xfrm>
            <a:prstGeom prst="roundRect">
              <a:avLst>
                <a:gd fmla="val 2424" name="adj"/>
              </a:avLst>
            </a:prstGeom>
            <a:solidFill>
              <a:srgbClr val="F8FAFC"/>
            </a:solidFill>
            <a:ln cap="flat" cmpd="sng" w="95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384" name="Google Shape;384;p27"/>
            <p:cNvSpPr txBox="1"/>
            <p:nvPr/>
          </p:nvSpPr>
          <p:spPr>
            <a:xfrm>
              <a:off x="228600" y="228600"/>
              <a:ext cx="3143400" cy="26670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i="0" lang="en-US" sz="2800">
                  <a:solidFill>
                    <a:srgbClr val="0EA5E9"/>
                  </a:solidFill>
                  <a:latin typeface="Calibri"/>
                  <a:ea typeface="Calibri"/>
                  <a:cs typeface="Calibri"/>
                  <a:sym typeface="Calibri"/>
                </a:rPr>
                <a:t>01</a:t>
              </a:r>
              <a:endParaRPr b="1" i="0" sz="2800">
                <a:solidFill>
                  <a:srgbClr val="0EA5E9"/>
                </a:solidFill>
                <a:latin typeface="Calibri"/>
                <a:ea typeface="Calibri"/>
                <a:cs typeface="Calibri"/>
                <a:sym typeface="Calibri"/>
              </a:endParaRPr>
            </a:p>
            <a:p>
              <a:pPr indent="0" lvl="0" marL="0" rtl="0" algn="l">
                <a:spcBef>
                  <a:spcPts val="800"/>
                </a:spcBef>
                <a:spcAft>
                  <a:spcPts val="0"/>
                </a:spcAft>
                <a:buNone/>
              </a:pPr>
              <a:r>
                <a:rPr b="1" i="0" lang="en-US" sz="1900">
                  <a:solidFill>
                    <a:srgbClr val="0A2540"/>
                  </a:solidFill>
                  <a:latin typeface="Calibri"/>
                  <a:ea typeface="Calibri"/>
                  <a:cs typeface="Calibri"/>
                  <a:sym typeface="Calibri"/>
                </a:rPr>
                <a:t>Multi-Attribute Loop</a:t>
              </a:r>
              <a:endParaRPr b="1" i="0" sz="1900">
                <a:solidFill>
                  <a:srgbClr val="0EA5E9"/>
                </a:solidFill>
                <a:latin typeface="Calibri"/>
                <a:ea typeface="Calibri"/>
                <a:cs typeface="Calibri"/>
                <a:sym typeface="Calibri"/>
              </a:endParaRPr>
            </a:p>
            <a:p>
              <a:pPr indent="0" lvl="0" marL="0" rtl="0" algn="l">
                <a:spcBef>
                  <a:spcPts val="800"/>
                </a:spcBef>
                <a:spcAft>
                  <a:spcPts val="600"/>
                </a:spcAft>
                <a:buNone/>
              </a:pPr>
              <a:r>
                <a:rPr b="0" i="0" lang="en-US" sz="1500">
                  <a:solidFill>
                    <a:srgbClr val="334155"/>
                  </a:solidFill>
                  <a:latin typeface="Calibri"/>
                  <a:ea typeface="Calibri"/>
                  <a:cs typeface="Calibri"/>
                  <a:sym typeface="Calibri"/>
                </a:rPr>
                <a:t>Extending the autonomous correction loop beyond simple fields to complex nested schemas, compatibility matrices, and multi-value attribute types.</a:t>
              </a:r>
              <a:endParaRPr b="1" i="0" sz="1500">
                <a:solidFill>
                  <a:srgbClr val="0EA5E9"/>
                </a:solidFill>
                <a:latin typeface="Calibri"/>
                <a:ea typeface="Calibri"/>
                <a:cs typeface="Calibri"/>
                <a:sym typeface="Calibri"/>
              </a:endParaRPr>
            </a:p>
          </p:txBody>
        </p:sp>
      </p:grpSp>
      <p:grpSp>
        <p:nvGrpSpPr>
          <p:cNvPr id="385" name="Google Shape;385;p27"/>
          <p:cNvGrpSpPr/>
          <p:nvPr/>
        </p:nvGrpSpPr>
        <p:grpSpPr>
          <a:xfrm>
            <a:off x="4295775" y="1714500"/>
            <a:ext cx="3600600" cy="3143400"/>
            <a:chOff x="0" y="0"/>
            <a:chExt cx="3600600" cy="3143400"/>
          </a:xfrm>
        </p:grpSpPr>
        <p:sp>
          <p:nvSpPr>
            <p:cNvPr id="386" name="Google Shape;386;p27"/>
            <p:cNvSpPr/>
            <p:nvPr/>
          </p:nvSpPr>
          <p:spPr>
            <a:xfrm>
              <a:off x="0" y="0"/>
              <a:ext cx="3600600" cy="3143400"/>
            </a:xfrm>
            <a:prstGeom prst="roundRect">
              <a:avLst>
                <a:gd fmla="val 2424" name="adj"/>
              </a:avLst>
            </a:prstGeom>
            <a:solidFill>
              <a:srgbClr val="F8FAFC"/>
            </a:solidFill>
            <a:ln cap="flat" cmpd="sng" w="95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387" name="Google Shape;387;p27"/>
            <p:cNvSpPr txBox="1"/>
            <p:nvPr/>
          </p:nvSpPr>
          <p:spPr>
            <a:xfrm>
              <a:off x="228600" y="228600"/>
              <a:ext cx="3143400" cy="26670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i="0" lang="en-US" sz="2800">
                  <a:solidFill>
                    <a:srgbClr val="0EA5E9"/>
                  </a:solidFill>
                  <a:latin typeface="Calibri"/>
                  <a:ea typeface="Calibri"/>
                  <a:cs typeface="Calibri"/>
                  <a:sym typeface="Calibri"/>
                </a:rPr>
                <a:t>02</a:t>
              </a:r>
              <a:endParaRPr b="1" i="0" sz="2800">
                <a:solidFill>
                  <a:srgbClr val="0EA5E9"/>
                </a:solidFill>
                <a:latin typeface="Calibri"/>
                <a:ea typeface="Calibri"/>
                <a:cs typeface="Calibri"/>
                <a:sym typeface="Calibri"/>
              </a:endParaRPr>
            </a:p>
            <a:p>
              <a:pPr indent="0" lvl="0" marL="0" rtl="0" algn="l">
                <a:spcBef>
                  <a:spcPts val="800"/>
                </a:spcBef>
                <a:spcAft>
                  <a:spcPts val="0"/>
                </a:spcAft>
                <a:buNone/>
              </a:pPr>
              <a:r>
                <a:rPr b="1" i="0" lang="en-US" sz="1900">
                  <a:solidFill>
                    <a:srgbClr val="0A2540"/>
                  </a:solidFill>
                  <a:latin typeface="Calibri"/>
                  <a:ea typeface="Calibri"/>
                  <a:cs typeface="Calibri"/>
                  <a:sym typeface="Calibri"/>
                </a:rPr>
                <a:t>Auto-Tuning Alpha</a:t>
              </a:r>
              <a:endParaRPr b="1" i="0" sz="1900">
                <a:solidFill>
                  <a:srgbClr val="0EA5E9"/>
                </a:solidFill>
                <a:latin typeface="Calibri"/>
                <a:ea typeface="Calibri"/>
                <a:cs typeface="Calibri"/>
                <a:sym typeface="Calibri"/>
              </a:endParaRPr>
            </a:p>
            <a:p>
              <a:pPr indent="0" lvl="0" marL="0" rtl="0" algn="l">
                <a:spcBef>
                  <a:spcPts val="800"/>
                </a:spcBef>
                <a:spcAft>
                  <a:spcPts val="600"/>
                </a:spcAft>
                <a:buNone/>
              </a:pPr>
              <a:r>
                <a:rPr b="0" i="0" lang="en-US" sz="1500">
                  <a:solidFill>
                    <a:srgbClr val="334155"/>
                  </a:solidFill>
                  <a:latin typeface="Calibri"/>
                  <a:ea typeface="Calibri"/>
                  <a:cs typeface="Calibri"/>
                  <a:sym typeface="Calibri"/>
                </a:rPr>
                <a:t>Evaluator-driven dynamic adjustment of hybrid search weighting () based on real-time query intent, implicit feedback, and live confidence scores.</a:t>
              </a:r>
              <a:endParaRPr b="1" i="0" sz="1500">
                <a:solidFill>
                  <a:srgbClr val="0EA5E9"/>
                </a:solidFill>
                <a:latin typeface="Calibri"/>
                <a:ea typeface="Calibri"/>
                <a:cs typeface="Calibri"/>
                <a:sym typeface="Calibri"/>
              </a:endParaRPr>
            </a:p>
          </p:txBody>
        </p:sp>
      </p:grpSp>
      <p:grpSp>
        <p:nvGrpSpPr>
          <p:cNvPr id="388" name="Google Shape;388;p27"/>
          <p:cNvGrpSpPr/>
          <p:nvPr/>
        </p:nvGrpSpPr>
        <p:grpSpPr>
          <a:xfrm>
            <a:off x="8134350" y="1714500"/>
            <a:ext cx="3600600" cy="3143400"/>
            <a:chOff x="0" y="0"/>
            <a:chExt cx="3600600" cy="3143400"/>
          </a:xfrm>
        </p:grpSpPr>
        <p:sp>
          <p:nvSpPr>
            <p:cNvPr id="389" name="Google Shape;389;p27"/>
            <p:cNvSpPr/>
            <p:nvPr/>
          </p:nvSpPr>
          <p:spPr>
            <a:xfrm>
              <a:off x="0" y="0"/>
              <a:ext cx="3600600" cy="3143400"/>
            </a:xfrm>
            <a:prstGeom prst="roundRect">
              <a:avLst>
                <a:gd fmla="val 2424" name="adj"/>
              </a:avLst>
            </a:prstGeom>
            <a:solidFill>
              <a:srgbClr val="F8FAFC"/>
            </a:solidFill>
            <a:ln cap="flat" cmpd="sng" w="95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390" name="Google Shape;390;p27"/>
            <p:cNvSpPr txBox="1"/>
            <p:nvPr/>
          </p:nvSpPr>
          <p:spPr>
            <a:xfrm>
              <a:off x="228600" y="228600"/>
              <a:ext cx="3143400" cy="26670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i="0" lang="en-US" sz="2800">
                  <a:solidFill>
                    <a:srgbClr val="0EA5E9"/>
                  </a:solidFill>
                  <a:latin typeface="Calibri"/>
                  <a:ea typeface="Calibri"/>
                  <a:cs typeface="Calibri"/>
                  <a:sym typeface="Calibri"/>
                </a:rPr>
                <a:t>03</a:t>
              </a:r>
              <a:endParaRPr b="1" i="0" sz="2800">
                <a:solidFill>
                  <a:srgbClr val="0EA5E9"/>
                </a:solidFill>
                <a:latin typeface="Calibri"/>
                <a:ea typeface="Calibri"/>
                <a:cs typeface="Calibri"/>
                <a:sym typeface="Calibri"/>
              </a:endParaRPr>
            </a:p>
            <a:p>
              <a:pPr indent="0" lvl="0" marL="0" rtl="0" algn="l">
                <a:spcBef>
                  <a:spcPts val="800"/>
                </a:spcBef>
                <a:spcAft>
                  <a:spcPts val="0"/>
                </a:spcAft>
                <a:buNone/>
              </a:pPr>
              <a:r>
                <a:rPr b="1" lang="en-US" sz="1900">
                  <a:solidFill>
                    <a:srgbClr val="0A2540"/>
                  </a:solidFill>
                  <a:latin typeface="Calibri"/>
                  <a:ea typeface="Calibri"/>
                  <a:cs typeface="Calibri"/>
                  <a:sym typeface="Calibri"/>
                </a:rPr>
                <a:t>Attribute</a:t>
              </a:r>
              <a:r>
                <a:rPr b="1" i="0" lang="en-US" sz="1900">
                  <a:solidFill>
                    <a:srgbClr val="0A2540"/>
                  </a:solidFill>
                  <a:latin typeface="Calibri"/>
                  <a:ea typeface="Calibri"/>
                  <a:cs typeface="Calibri"/>
                  <a:sym typeface="Calibri"/>
                </a:rPr>
                <a:t> Expansion</a:t>
              </a:r>
              <a:endParaRPr b="1" i="0" sz="1900">
                <a:solidFill>
                  <a:srgbClr val="0EA5E9"/>
                </a:solidFill>
                <a:latin typeface="Calibri"/>
                <a:ea typeface="Calibri"/>
                <a:cs typeface="Calibri"/>
                <a:sym typeface="Calibri"/>
              </a:endParaRPr>
            </a:p>
            <a:p>
              <a:pPr indent="0" lvl="0" marL="0" rtl="0" algn="l">
                <a:spcBef>
                  <a:spcPts val="800"/>
                </a:spcBef>
                <a:spcAft>
                  <a:spcPts val="600"/>
                </a:spcAft>
                <a:buNone/>
              </a:pPr>
              <a:r>
                <a:rPr b="0" i="0" lang="en-US" sz="1500">
                  <a:solidFill>
                    <a:srgbClr val="334155"/>
                  </a:solidFill>
                  <a:latin typeface="Calibri"/>
                  <a:ea typeface="Calibri"/>
                  <a:cs typeface="Calibri"/>
                  <a:sym typeface="Calibri"/>
                </a:rPr>
                <a:t>Scaling automated </a:t>
              </a:r>
              <a:r>
                <a:rPr lang="en-US" sz="1500">
                  <a:solidFill>
                    <a:srgbClr val="334155"/>
                  </a:solidFill>
                  <a:latin typeface="Calibri"/>
                  <a:ea typeface="Calibri"/>
                  <a:cs typeface="Calibri"/>
                  <a:sym typeface="Calibri"/>
                </a:rPr>
                <a:t>attribute</a:t>
              </a:r>
              <a:r>
                <a:rPr b="0" i="0" lang="en-US" sz="1500">
                  <a:solidFill>
                    <a:srgbClr val="334155"/>
                  </a:solidFill>
                  <a:latin typeface="Calibri"/>
                  <a:ea typeface="Calibri"/>
                  <a:cs typeface="Calibri"/>
                  <a:sym typeface="Calibri"/>
                </a:rPr>
                <a:t> growth beyond color and material, unlocking entirely new filtering dimensions across diverse product categories.</a:t>
              </a:r>
              <a:endParaRPr b="1" i="0" sz="1500">
                <a:solidFill>
                  <a:srgbClr val="0EA5E9"/>
                </a:solidFill>
                <a:latin typeface="Calibri"/>
                <a:ea typeface="Calibri"/>
                <a:cs typeface="Calibri"/>
                <a:sym typeface="Calibri"/>
              </a:endParaRPr>
            </a:p>
          </p:txBody>
        </p:sp>
      </p:grpSp>
      <p:grpSp>
        <p:nvGrpSpPr>
          <p:cNvPr id="391" name="Google Shape;391;p27"/>
          <p:cNvGrpSpPr/>
          <p:nvPr/>
        </p:nvGrpSpPr>
        <p:grpSpPr>
          <a:xfrm>
            <a:off x="457200" y="5143500"/>
            <a:ext cx="11277600" cy="952500"/>
            <a:chOff x="0" y="0"/>
            <a:chExt cx="11277600" cy="952500"/>
          </a:xfrm>
        </p:grpSpPr>
        <p:sp>
          <p:nvSpPr>
            <p:cNvPr id="392" name="Google Shape;392;p27"/>
            <p:cNvSpPr/>
            <p:nvPr/>
          </p:nvSpPr>
          <p:spPr>
            <a:xfrm>
              <a:off x="0" y="0"/>
              <a:ext cx="11277600" cy="952500"/>
            </a:xfrm>
            <a:prstGeom prst="roundRect">
              <a:avLst>
                <a:gd fmla="val 8000" name="adj"/>
              </a:avLst>
            </a:prstGeom>
            <a:solidFill>
              <a:srgbClr val="0A2540"/>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393" name="Google Shape;393;p27"/>
            <p:cNvSpPr txBox="1"/>
            <p:nvPr/>
          </p:nvSpPr>
          <p:spPr>
            <a:xfrm>
              <a:off x="304800" y="152400"/>
              <a:ext cx="10668000" cy="6477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l">
                <a:spcBef>
                  <a:spcPts val="0"/>
                </a:spcBef>
                <a:spcAft>
                  <a:spcPts val="0"/>
                </a:spcAft>
                <a:buNone/>
              </a:pPr>
              <a:r>
                <a:rPr b="1" i="0" lang="en-US" sz="1110">
                  <a:solidFill>
                    <a:srgbClr val="0EA5E9"/>
                  </a:solidFill>
                  <a:latin typeface="Calibri"/>
                  <a:ea typeface="Calibri"/>
                  <a:cs typeface="Calibri"/>
                  <a:sym typeface="Calibri"/>
                </a:rPr>
                <a:t>DISCUSSION RUNWAY</a:t>
              </a:r>
              <a:endParaRPr b="1" i="0" sz="1110">
                <a:solidFill>
                  <a:srgbClr val="0EA5E9"/>
                </a:solidFill>
                <a:latin typeface="Calibri"/>
                <a:ea typeface="Calibri"/>
                <a:cs typeface="Calibri"/>
                <a:sym typeface="Calibri"/>
              </a:endParaRPr>
            </a:p>
            <a:p>
              <a:pPr indent="0" lvl="0" marL="0" rtl="0" algn="l">
                <a:spcBef>
                  <a:spcPts val="400"/>
                </a:spcBef>
                <a:spcAft>
                  <a:spcPts val="0"/>
                </a:spcAft>
                <a:buNone/>
              </a:pPr>
              <a:r>
                <a:rPr b="0" i="0" lang="en-US" sz="1573">
                  <a:solidFill>
                    <a:srgbClr val="FFFFFF"/>
                  </a:solidFill>
                  <a:latin typeface="Calibri"/>
                  <a:ea typeface="Calibri"/>
                  <a:cs typeface="Calibri"/>
                  <a:sym typeface="Calibri"/>
                </a:rPr>
                <a:t>The roadmap focuses on shifting from reactive query fixes to proactive, continuous catalog evolution across all discovery facets.</a:t>
              </a:r>
              <a:endParaRPr b="1" i="0" sz="1110">
                <a:solidFill>
                  <a:srgbClr val="0EA5E9"/>
                </a:solidFill>
                <a:latin typeface="Calibri"/>
                <a:ea typeface="Calibri"/>
                <a:cs typeface="Calibri"/>
                <a:sym typeface="Calibri"/>
              </a:endParaRPr>
            </a:p>
          </p:txBody>
        </p:sp>
      </p:grpSp>
      <p:pic>
        <p:nvPicPr>
          <p:cNvPr id="394" name="Google Shape;394;p27"/>
          <p:cNvPicPr preferRelativeResize="0"/>
          <p:nvPr/>
        </p:nvPicPr>
        <p:blipFill rotWithShape="1">
          <a:blip r:embed="rId4">
            <a:alphaModFix/>
          </a:blip>
          <a:srcRect b="0" l="0" r="0" t="0"/>
          <a:stretch/>
        </p:blipFill>
        <p:spPr>
          <a:xfrm>
            <a:off x="10059924" y="314175"/>
            <a:ext cx="1644300" cy="645900"/>
          </a:xfrm>
          <a:prstGeom prst="rect">
            <a:avLst/>
          </a:prstGeom>
          <a:noFill/>
          <a:ln>
            <a:noFill/>
          </a:ln>
        </p:spPr>
      </p:pic>
      <p:sp>
        <p:nvSpPr>
          <p:cNvPr id="395" name="Google Shape;395;p27"/>
          <p:cNvSpPr txBox="1"/>
          <p:nvPr/>
        </p:nvSpPr>
        <p:spPr>
          <a:xfrm>
            <a:off x="457200" y="533400"/>
            <a:ext cx="11239500" cy="2667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i="0" lang="en-US" sz="1400">
                <a:solidFill>
                  <a:srgbClr val="0369A1"/>
                </a:solidFill>
                <a:latin typeface="Calibri"/>
                <a:ea typeface="Calibri"/>
                <a:cs typeface="Calibri"/>
                <a:sym typeface="Calibri"/>
              </a:rPr>
              <a:t>LOOKING AHEAD — Q&amp;A RUNWAY</a:t>
            </a:r>
            <a:endParaRPr b="1" i="0" sz="1400">
              <a:solidFill>
                <a:srgbClr val="0369A1"/>
              </a:solidFill>
              <a:latin typeface="Calibri"/>
              <a:ea typeface="Calibri"/>
              <a:cs typeface="Calibri"/>
              <a:sym typeface="Calibri"/>
            </a:endParaRPr>
          </a:p>
        </p:txBody>
      </p:sp>
      <p:sp>
        <p:nvSpPr>
          <p:cNvPr id="396" name="Google Shape;396;p27"/>
          <p:cNvSpPr txBox="1"/>
          <p:nvPr/>
        </p:nvSpPr>
        <p:spPr>
          <a:xfrm>
            <a:off x="457200" y="876300"/>
            <a:ext cx="11239500" cy="6192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i="0" lang="en-US" sz="3800">
                <a:solidFill>
                  <a:srgbClr val="0A2540"/>
                </a:solidFill>
                <a:latin typeface="Calibri"/>
                <a:ea typeface="Calibri"/>
                <a:cs typeface="Calibri"/>
                <a:sym typeface="Calibri"/>
              </a:rPr>
              <a:t>What's Next for Agentic Search?</a:t>
            </a:r>
            <a:endParaRPr b="1" i="0" sz="3800">
              <a:solidFill>
                <a:srgbClr val="0A2540"/>
              </a:solidFill>
              <a:latin typeface="Calibri"/>
              <a:ea typeface="Calibri"/>
              <a:cs typeface="Calibri"/>
              <a:sym typeface="Calibri"/>
            </a:endParaRPr>
          </a:p>
        </p:txBody>
      </p:sp>
      <p:sp>
        <p:nvSpPr>
          <p:cNvPr id="397" name="Google Shape;397;p27"/>
          <p:cNvSpPr txBox="1"/>
          <p:nvPr/>
        </p:nvSpPr>
        <p:spPr>
          <a:xfrm>
            <a:off x="1921297" y="6513376"/>
            <a:ext cx="10058400" cy="1311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r">
              <a:spcBef>
                <a:spcPts val="0"/>
              </a:spcBef>
              <a:spcAft>
                <a:spcPts val="0"/>
              </a:spcAft>
              <a:buNone/>
            </a:pPr>
            <a:r>
              <a:rPr b="0" i="0" lang="en-US" sz="853">
                <a:solidFill>
                  <a:srgbClr val="94A3B8"/>
                </a:solidFill>
                <a:latin typeface="Calibri"/>
                <a:ea typeface="Calibri"/>
                <a:cs typeface="Calibri"/>
                <a:sym typeface="Calibri"/>
              </a:rPr>
              <a:t>OpenSearchCon North America · 2026 · Agentic Search: Reimagining Search from Ingestion to Relevancy</a:t>
            </a:r>
            <a:endParaRPr b="0" i="0" sz="853">
              <a:solidFill>
                <a:srgbClr val="94A3B8"/>
              </a:solidFill>
              <a:latin typeface="Calibri"/>
              <a:ea typeface="Calibri"/>
              <a:cs typeface="Calibri"/>
              <a:sym typeface="Calibri"/>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2540"/>
        </a:solidFill>
      </p:bgPr>
    </p:bg>
    <p:spTree>
      <p:nvGrpSpPr>
        <p:cNvPr id="401" name="Shape 401"/>
        <p:cNvGrpSpPr/>
        <p:nvPr/>
      </p:nvGrpSpPr>
      <p:grpSpPr>
        <a:xfrm>
          <a:off x="0" y="0"/>
          <a:ext cx="0" cy="0"/>
          <a:chOff x="0" y="0"/>
          <a:chExt cx="0" cy="0"/>
        </a:xfrm>
      </p:grpSpPr>
      <p:sp>
        <p:nvSpPr>
          <p:cNvPr id="402" name="Google Shape;402;p28"/>
          <p:cNvSpPr/>
          <p:nvPr/>
        </p:nvSpPr>
        <p:spPr>
          <a:xfrm>
            <a:off x="0" y="0"/>
            <a:ext cx="164700" cy="6858000"/>
          </a:xfrm>
          <a:prstGeom prst="rect">
            <a:avLst/>
          </a:prstGeom>
          <a:solidFill>
            <a:srgbClr val="0EA5E9"/>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403" name="Google Shape;403;p28"/>
          <p:cNvSpPr txBox="1"/>
          <p:nvPr/>
        </p:nvSpPr>
        <p:spPr>
          <a:xfrm>
            <a:off x="640080" y="1762125"/>
            <a:ext cx="7620000" cy="4002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l">
              <a:spcBef>
                <a:spcPts val="0"/>
              </a:spcBef>
              <a:spcAft>
                <a:spcPts val="0"/>
              </a:spcAft>
              <a:buNone/>
            </a:pPr>
            <a:r>
              <a:rPr b="1" i="0" lang="en-US" sz="2600">
                <a:solidFill>
                  <a:srgbClr val="0EA5E9"/>
                </a:solidFill>
                <a:latin typeface="Calibri"/>
                <a:ea typeface="Calibri"/>
                <a:cs typeface="Calibri"/>
                <a:sym typeface="Calibri"/>
              </a:rPr>
              <a:t>THANK YOU</a:t>
            </a:r>
            <a:endParaRPr b="1" i="0" sz="2600">
              <a:solidFill>
                <a:srgbClr val="0EA5E9"/>
              </a:solidFill>
              <a:latin typeface="Calibri"/>
              <a:ea typeface="Calibri"/>
              <a:cs typeface="Calibri"/>
              <a:sym typeface="Calibri"/>
            </a:endParaRPr>
          </a:p>
        </p:txBody>
      </p:sp>
      <p:sp>
        <p:nvSpPr>
          <p:cNvPr id="404" name="Google Shape;404;p28"/>
          <p:cNvSpPr txBox="1"/>
          <p:nvPr/>
        </p:nvSpPr>
        <p:spPr>
          <a:xfrm>
            <a:off x="609455" y="2190750"/>
            <a:ext cx="7620000" cy="10821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l">
              <a:spcBef>
                <a:spcPts val="0"/>
              </a:spcBef>
              <a:spcAft>
                <a:spcPts val="0"/>
              </a:spcAft>
              <a:buNone/>
            </a:pPr>
            <a:r>
              <a:rPr b="1" i="0" lang="en-US" sz="7030">
                <a:solidFill>
                  <a:srgbClr val="FFFFFF"/>
                </a:solidFill>
                <a:latin typeface="Calibri"/>
                <a:ea typeface="Calibri"/>
                <a:cs typeface="Calibri"/>
                <a:sym typeface="Calibri"/>
              </a:rPr>
              <a:t>Questions?</a:t>
            </a:r>
            <a:endParaRPr b="1" i="0" sz="7030">
              <a:solidFill>
                <a:srgbClr val="FFFFFF"/>
              </a:solidFill>
              <a:latin typeface="Calibri"/>
              <a:ea typeface="Calibri"/>
              <a:cs typeface="Calibri"/>
              <a:sym typeface="Calibri"/>
            </a:endParaRPr>
          </a:p>
        </p:txBody>
      </p:sp>
      <p:pic>
        <p:nvPicPr>
          <p:cNvPr id="405" name="Google Shape;405;p28" title="KMWLogo_white.png"/>
          <p:cNvPicPr preferRelativeResize="0"/>
          <p:nvPr/>
        </p:nvPicPr>
        <p:blipFill>
          <a:blip r:embed="rId3">
            <a:alphaModFix/>
          </a:blip>
          <a:stretch>
            <a:fillRect/>
          </a:stretch>
        </p:blipFill>
        <p:spPr>
          <a:xfrm>
            <a:off x="640075" y="361525"/>
            <a:ext cx="3593551" cy="1101525"/>
          </a:xfrm>
          <a:prstGeom prst="rect">
            <a:avLst/>
          </a:prstGeom>
          <a:noFill/>
          <a:ln>
            <a:noFill/>
          </a:ln>
        </p:spPr>
      </p:pic>
      <p:sp>
        <p:nvSpPr>
          <p:cNvPr id="406" name="Google Shape;406;p28"/>
          <p:cNvSpPr txBox="1"/>
          <p:nvPr/>
        </p:nvSpPr>
        <p:spPr>
          <a:xfrm>
            <a:off x="609443" y="3381375"/>
            <a:ext cx="7810500" cy="444900"/>
          </a:xfrm>
          <a:prstGeom prst="rect">
            <a:avLst/>
          </a:prstGeom>
          <a:solidFill>
            <a:srgbClr val="000000">
              <a:alpha val="0"/>
            </a:srgbClr>
          </a:solidFill>
          <a:ln>
            <a:noFill/>
          </a:ln>
        </p:spPr>
        <p:txBody>
          <a:bodyPr anchorCtr="0" anchor="ctr" bIns="0" lIns="0" spcFirstLastPara="1" rIns="0" wrap="square" tIns="0">
            <a:spAutoFit/>
          </a:bodyPr>
          <a:lstStyle/>
          <a:p>
            <a:pPr indent="0" lvl="0" marL="0" rtl="0" algn="l">
              <a:spcBef>
                <a:spcPts val="0"/>
              </a:spcBef>
              <a:spcAft>
                <a:spcPts val="0"/>
              </a:spcAft>
              <a:buNone/>
            </a:pPr>
            <a:r>
              <a:rPr b="1" i="0" lang="en-US" sz="2890">
                <a:solidFill>
                  <a:srgbClr val="FFFFFF"/>
                </a:solidFill>
                <a:latin typeface="Calibri"/>
                <a:ea typeface="Calibri"/>
                <a:cs typeface="Calibri"/>
                <a:sym typeface="Calibri"/>
              </a:rPr>
              <a:t>Reimagining search from ingestion to relevancy</a:t>
            </a:r>
            <a:endParaRPr b="1" i="0" sz="2890">
              <a:solidFill>
                <a:srgbClr val="FFFFFF"/>
              </a:solidFill>
              <a:latin typeface="Calibri"/>
              <a:ea typeface="Calibri"/>
              <a:cs typeface="Calibri"/>
              <a:sym typeface="Calibri"/>
            </a:endParaRPr>
          </a:p>
        </p:txBody>
      </p:sp>
      <p:sp>
        <p:nvSpPr>
          <p:cNvPr id="407" name="Google Shape;407;p28"/>
          <p:cNvSpPr txBox="1"/>
          <p:nvPr/>
        </p:nvSpPr>
        <p:spPr>
          <a:xfrm>
            <a:off x="609443" y="4095750"/>
            <a:ext cx="7810500" cy="585000"/>
          </a:xfrm>
          <a:prstGeom prst="rect">
            <a:avLst/>
          </a:prstGeom>
          <a:solidFill>
            <a:srgbClr val="000000">
              <a:alpha val="0"/>
            </a:srgbClr>
          </a:solidFill>
          <a:ln>
            <a:noFill/>
          </a:ln>
        </p:spPr>
        <p:txBody>
          <a:bodyPr anchorCtr="0" anchor="ctr" bIns="0" lIns="0" spcFirstLastPara="1" rIns="0" wrap="square" tIns="0">
            <a:spAutoFit/>
          </a:bodyPr>
          <a:lstStyle/>
          <a:p>
            <a:pPr indent="0" lvl="0" marL="0" rtl="0" algn="l">
              <a:spcBef>
                <a:spcPts val="0"/>
              </a:spcBef>
              <a:spcAft>
                <a:spcPts val="0"/>
              </a:spcAft>
              <a:buNone/>
            </a:pPr>
            <a:r>
              <a:rPr b="0" i="0" lang="en-US" sz="1900">
                <a:solidFill>
                  <a:srgbClr val="7DD3FC"/>
                </a:solidFill>
                <a:latin typeface="Calibri"/>
                <a:ea typeface="Calibri"/>
                <a:cs typeface="Calibri"/>
                <a:sym typeface="Calibri"/>
              </a:rPr>
              <a:t>One live LangGraph agent — adaptive retrieval, real ESCI-judged proof, and a catalog it enriches live.</a:t>
            </a:r>
            <a:endParaRPr b="0" i="0" sz="1900">
              <a:solidFill>
                <a:srgbClr val="7DD3FC"/>
              </a:solidFill>
              <a:latin typeface="Calibri"/>
              <a:ea typeface="Calibri"/>
              <a:cs typeface="Calibri"/>
              <a:sym typeface="Calibri"/>
            </a:endParaRPr>
          </a:p>
        </p:txBody>
      </p:sp>
      <p:sp>
        <p:nvSpPr>
          <p:cNvPr id="408" name="Google Shape;408;p28"/>
          <p:cNvSpPr txBox="1"/>
          <p:nvPr/>
        </p:nvSpPr>
        <p:spPr>
          <a:xfrm>
            <a:off x="609443" y="5000625"/>
            <a:ext cx="7315200" cy="313200"/>
          </a:xfrm>
          <a:prstGeom prst="rect">
            <a:avLst/>
          </a:prstGeom>
          <a:solidFill>
            <a:srgbClr val="000000">
              <a:alpha val="0"/>
            </a:srgbClr>
          </a:solidFill>
          <a:ln>
            <a:noFill/>
          </a:ln>
        </p:spPr>
        <p:txBody>
          <a:bodyPr anchorCtr="0" anchor="ctr" bIns="0" lIns="0" spcFirstLastPara="1" rIns="0" wrap="square" tIns="0">
            <a:spAutoFit/>
          </a:bodyPr>
          <a:lstStyle/>
          <a:p>
            <a:pPr indent="0" lvl="0" marL="0" rtl="0" algn="l">
              <a:spcBef>
                <a:spcPts val="0"/>
              </a:spcBef>
              <a:spcAft>
                <a:spcPts val="0"/>
              </a:spcAft>
              <a:buNone/>
            </a:pPr>
            <a:r>
              <a:rPr b="1" i="0" lang="en-US" sz="2035">
                <a:solidFill>
                  <a:srgbClr val="FFFFFF"/>
                </a:solidFill>
                <a:latin typeface="Calibri"/>
                <a:ea typeface="Calibri"/>
                <a:cs typeface="Calibri"/>
                <a:sym typeface="Calibri"/>
              </a:rPr>
              <a:t>Kevin M. Butler</a:t>
            </a:r>
            <a:endParaRPr b="1" i="0" sz="2035">
              <a:solidFill>
                <a:srgbClr val="FFFFFF"/>
              </a:solidFill>
              <a:latin typeface="Calibri"/>
              <a:ea typeface="Calibri"/>
              <a:cs typeface="Calibri"/>
              <a:sym typeface="Calibri"/>
            </a:endParaRPr>
          </a:p>
        </p:txBody>
      </p:sp>
      <p:sp>
        <p:nvSpPr>
          <p:cNvPr id="409" name="Google Shape;409;p28"/>
          <p:cNvSpPr txBox="1"/>
          <p:nvPr/>
        </p:nvSpPr>
        <p:spPr>
          <a:xfrm>
            <a:off x="609443" y="5381625"/>
            <a:ext cx="7315200" cy="246300"/>
          </a:xfrm>
          <a:prstGeom prst="rect">
            <a:avLst/>
          </a:prstGeom>
          <a:solidFill>
            <a:srgbClr val="000000">
              <a:alpha val="0"/>
            </a:srgbClr>
          </a:solidFill>
          <a:ln>
            <a:noFill/>
          </a:ln>
        </p:spPr>
        <p:txBody>
          <a:bodyPr anchorCtr="0" anchor="ctr" bIns="0" lIns="0" spcFirstLastPara="1" rIns="0" wrap="square" tIns="0">
            <a:spAutoFit/>
          </a:bodyPr>
          <a:lstStyle/>
          <a:p>
            <a:pPr indent="0" lvl="0" marL="0" rtl="0" algn="l">
              <a:spcBef>
                <a:spcPts val="0"/>
              </a:spcBef>
              <a:spcAft>
                <a:spcPts val="0"/>
              </a:spcAft>
              <a:buNone/>
            </a:pPr>
            <a:r>
              <a:rPr b="0" i="0" lang="en-US" sz="1600">
                <a:solidFill>
                  <a:srgbClr val="B8C5D1"/>
                </a:solidFill>
                <a:latin typeface="Calibri"/>
                <a:ea typeface="Calibri"/>
                <a:cs typeface="Calibri"/>
                <a:sym typeface="Calibri"/>
              </a:rPr>
              <a:t>Senior Search and AI Engineer</a:t>
            </a:r>
            <a:endParaRPr b="0" i="0" sz="1600">
              <a:solidFill>
                <a:srgbClr val="B8C5D1"/>
              </a:solidFill>
              <a:latin typeface="Calibri"/>
              <a:ea typeface="Calibri"/>
              <a:cs typeface="Calibri"/>
              <a:sym typeface="Calibri"/>
            </a:endParaRPr>
          </a:p>
        </p:txBody>
      </p:sp>
      <p:pic>
        <p:nvPicPr>
          <p:cNvPr id="410" name="Google Shape;410;p28" title="agentic-search-reimagining-search-from-ingestion-_butler_1230723_feedback-code.png"/>
          <p:cNvPicPr preferRelativeResize="0"/>
          <p:nvPr/>
        </p:nvPicPr>
        <p:blipFill>
          <a:blip r:embed="rId4">
            <a:alphaModFix/>
          </a:blip>
          <a:stretch>
            <a:fillRect/>
          </a:stretch>
        </p:blipFill>
        <p:spPr>
          <a:xfrm>
            <a:off x="8724688" y="361525"/>
            <a:ext cx="2910836" cy="2997375"/>
          </a:xfrm>
          <a:prstGeom prst="rect">
            <a:avLst/>
          </a:prstGeom>
          <a:noFill/>
          <a:ln>
            <a:noFill/>
          </a:ln>
        </p:spPr>
      </p:pic>
      <p:sp>
        <p:nvSpPr>
          <p:cNvPr id="411" name="Google Shape;411;p28"/>
          <p:cNvSpPr txBox="1"/>
          <p:nvPr/>
        </p:nvSpPr>
        <p:spPr>
          <a:xfrm>
            <a:off x="1921297" y="6477000"/>
            <a:ext cx="10058400" cy="1692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r">
              <a:spcBef>
                <a:spcPts val="0"/>
              </a:spcBef>
              <a:spcAft>
                <a:spcPts val="0"/>
              </a:spcAft>
              <a:buNone/>
            </a:pPr>
            <a:r>
              <a:rPr b="0" i="0" lang="en-US" sz="1100">
                <a:solidFill>
                  <a:srgbClr val="94A3B8"/>
                </a:solidFill>
                <a:latin typeface="Calibri"/>
                <a:ea typeface="Calibri"/>
                <a:cs typeface="Calibri"/>
                <a:sym typeface="Calibri"/>
              </a:rPr>
              <a:t>OpenSearchCon North America · 2026 · Agentic Search: Reimagining Search from Ingestion to Relevancy</a:t>
            </a:r>
            <a:endParaRPr b="0" i="0" sz="1100">
              <a:solidFill>
                <a:srgbClr val="94A3B8"/>
              </a:solidFill>
              <a:latin typeface="Calibri"/>
              <a:ea typeface="Calibri"/>
              <a:cs typeface="Calibri"/>
              <a:sym typeface="Calibri"/>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15" name="Shape 415"/>
        <p:cNvGrpSpPr/>
        <p:nvPr/>
      </p:nvGrpSpPr>
      <p:grpSpPr>
        <a:xfrm>
          <a:off x="0" y="0"/>
          <a:ext cx="0" cy="0"/>
          <a:chOff x="0" y="0"/>
          <a:chExt cx="0" cy="0"/>
        </a:xfrm>
      </p:grpSpPr>
      <p:sp>
        <p:nvSpPr>
          <p:cNvPr id="416" name="Google Shape;416;p29"/>
          <p:cNvSpPr txBox="1"/>
          <p:nvPr/>
        </p:nvSpPr>
        <p:spPr>
          <a:xfrm>
            <a:off x="365760" y="228600"/>
            <a:ext cx="1371600" cy="1692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l">
              <a:spcBef>
                <a:spcPts val="0"/>
              </a:spcBef>
              <a:spcAft>
                <a:spcPts val="0"/>
              </a:spcAft>
              <a:buNone/>
            </a:pPr>
            <a:r>
              <a:rPr b="0" i="0" lang="en-US" sz="1100">
                <a:solidFill>
                  <a:srgbClr val="94A3B8"/>
                </a:solidFill>
                <a:latin typeface="Calibri"/>
                <a:ea typeface="Calibri"/>
                <a:cs typeface="Calibri"/>
                <a:sym typeface="Calibri"/>
              </a:rPr>
              <a:t>10 / 11</a:t>
            </a:r>
            <a:endParaRPr b="0" i="0" sz="1100">
              <a:solidFill>
                <a:srgbClr val="94A3B8"/>
              </a:solidFill>
              <a:latin typeface="Calibri"/>
              <a:ea typeface="Calibri"/>
              <a:cs typeface="Calibri"/>
              <a:sym typeface="Calibri"/>
            </a:endParaRPr>
          </a:p>
        </p:txBody>
      </p:sp>
      <p:sp>
        <p:nvSpPr>
          <p:cNvPr id="417" name="Google Shape;417;p29"/>
          <p:cNvSpPr txBox="1"/>
          <p:nvPr/>
        </p:nvSpPr>
        <p:spPr>
          <a:xfrm>
            <a:off x="457200" y="533400"/>
            <a:ext cx="11247000" cy="2154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l">
              <a:spcBef>
                <a:spcPts val="0"/>
              </a:spcBef>
              <a:spcAft>
                <a:spcPts val="0"/>
              </a:spcAft>
              <a:buNone/>
            </a:pPr>
            <a:r>
              <a:rPr b="1" i="0" lang="en-US" sz="1400">
                <a:solidFill>
                  <a:srgbClr val="0369A1"/>
                </a:solidFill>
                <a:latin typeface="Calibri"/>
                <a:ea typeface="Calibri"/>
                <a:cs typeface="Calibri"/>
                <a:sym typeface="Calibri"/>
              </a:rPr>
              <a:t>SOURCES</a:t>
            </a:r>
            <a:endParaRPr b="1" i="0" sz="1400">
              <a:solidFill>
                <a:srgbClr val="0369A1"/>
              </a:solidFill>
              <a:latin typeface="Calibri"/>
              <a:ea typeface="Calibri"/>
              <a:cs typeface="Calibri"/>
              <a:sym typeface="Calibri"/>
            </a:endParaRPr>
          </a:p>
        </p:txBody>
      </p:sp>
      <p:sp>
        <p:nvSpPr>
          <p:cNvPr id="418" name="Google Shape;418;p29"/>
          <p:cNvSpPr txBox="1"/>
          <p:nvPr/>
        </p:nvSpPr>
        <p:spPr>
          <a:xfrm>
            <a:off x="457200" y="876300"/>
            <a:ext cx="11247000" cy="5850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l">
              <a:spcBef>
                <a:spcPts val="0"/>
              </a:spcBef>
              <a:spcAft>
                <a:spcPts val="0"/>
              </a:spcAft>
              <a:buNone/>
            </a:pPr>
            <a:r>
              <a:rPr b="1" i="0" lang="en-US" sz="3800">
                <a:solidFill>
                  <a:srgbClr val="0A2540"/>
                </a:solidFill>
                <a:latin typeface="Calibri"/>
                <a:ea typeface="Calibri"/>
                <a:cs typeface="Calibri"/>
                <a:sym typeface="Calibri"/>
              </a:rPr>
              <a:t>References</a:t>
            </a:r>
            <a:endParaRPr b="1" i="0" sz="3800">
              <a:solidFill>
                <a:srgbClr val="0A2540"/>
              </a:solidFill>
              <a:latin typeface="Calibri"/>
              <a:ea typeface="Calibri"/>
              <a:cs typeface="Calibri"/>
              <a:sym typeface="Calibri"/>
            </a:endParaRPr>
          </a:p>
        </p:txBody>
      </p:sp>
      <p:sp>
        <p:nvSpPr>
          <p:cNvPr id="419" name="Google Shape;419;p29"/>
          <p:cNvSpPr txBox="1"/>
          <p:nvPr/>
        </p:nvSpPr>
        <p:spPr>
          <a:xfrm>
            <a:off x="457200" y="1965960"/>
            <a:ext cx="4023300" cy="2385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l">
              <a:spcBef>
                <a:spcPts val="0"/>
              </a:spcBef>
              <a:spcAft>
                <a:spcPts val="0"/>
              </a:spcAft>
              <a:buNone/>
            </a:pPr>
            <a:r>
              <a:rPr b="1" i="0" lang="en-US" sz="1550">
                <a:solidFill>
                  <a:srgbClr val="0A2540"/>
                </a:solidFill>
                <a:latin typeface="Calibri"/>
                <a:ea typeface="Calibri"/>
                <a:cs typeface="Calibri"/>
                <a:sym typeface="Calibri"/>
              </a:rPr>
              <a:t>Search Relevance Workbench</a:t>
            </a:r>
            <a:endParaRPr b="1" i="0" sz="1550">
              <a:solidFill>
                <a:srgbClr val="0A2540"/>
              </a:solidFill>
              <a:latin typeface="Calibri"/>
              <a:ea typeface="Calibri"/>
              <a:cs typeface="Calibri"/>
              <a:sym typeface="Calibri"/>
            </a:endParaRPr>
          </a:p>
        </p:txBody>
      </p:sp>
      <p:sp>
        <p:nvSpPr>
          <p:cNvPr id="420" name="Google Shape;420;p29"/>
          <p:cNvSpPr txBox="1"/>
          <p:nvPr/>
        </p:nvSpPr>
        <p:spPr>
          <a:xfrm>
            <a:off x="4572000" y="1965960"/>
            <a:ext cx="7223700" cy="2079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l">
              <a:spcBef>
                <a:spcPts val="0"/>
              </a:spcBef>
              <a:spcAft>
                <a:spcPts val="0"/>
              </a:spcAft>
              <a:buNone/>
            </a:pPr>
            <a:r>
              <a:rPr b="0" i="0" lang="en-US" sz="1350">
                <a:solidFill>
                  <a:srgbClr val="0369A1"/>
                </a:solidFill>
                <a:latin typeface="Calibri"/>
                <a:ea typeface="Calibri"/>
                <a:cs typeface="Calibri"/>
                <a:sym typeface="Calibri"/>
              </a:rPr>
              <a:t>docs.opensearch.org/latest/search-plugins/search-relevance/using-search-relevance-workbench/</a:t>
            </a:r>
            <a:endParaRPr b="0" i="0" sz="1350">
              <a:solidFill>
                <a:srgbClr val="0369A1"/>
              </a:solidFill>
              <a:latin typeface="Calibri"/>
              <a:ea typeface="Calibri"/>
              <a:cs typeface="Calibri"/>
              <a:sym typeface="Calibri"/>
            </a:endParaRPr>
          </a:p>
        </p:txBody>
      </p:sp>
      <p:sp>
        <p:nvSpPr>
          <p:cNvPr id="421" name="Google Shape;421;p29"/>
          <p:cNvSpPr txBox="1"/>
          <p:nvPr/>
        </p:nvSpPr>
        <p:spPr>
          <a:xfrm>
            <a:off x="457200" y="2441448"/>
            <a:ext cx="4023300" cy="2385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l">
              <a:spcBef>
                <a:spcPts val="0"/>
              </a:spcBef>
              <a:spcAft>
                <a:spcPts val="0"/>
              </a:spcAft>
              <a:buNone/>
            </a:pPr>
            <a:r>
              <a:rPr b="1" i="0" lang="en-US" sz="1550">
                <a:solidFill>
                  <a:srgbClr val="0A2540"/>
                </a:solidFill>
                <a:latin typeface="Calibri"/>
                <a:ea typeface="Calibri"/>
                <a:cs typeface="Calibri"/>
                <a:sym typeface="Calibri"/>
              </a:rPr>
              <a:t>Judgments</a:t>
            </a:r>
            <a:endParaRPr b="1" i="0" sz="1550">
              <a:solidFill>
                <a:srgbClr val="0A2540"/>
              </a:solidFill>
              <a:latin typeface="Calibri"/>
              <a:ea typeface="Calibri"/>
              <a:cs typeface="Calibri"/>
              <a:sym typeface="Calibri"/>
            </a:endParaRPr>
          </a:p>
        </p:txBody>
      </p:sp>
      <p:sp>
        <p:nvSpPr>
          <p:cNvPr id="422" name="Google Shape;422;p29"/>
          <p:cNvSpPr txBox="1"/>
          <p:nvPr/>
        </p:nvSpPr>
        <p:spPr>
          <a:xfrm>
            <a:off x="4572000" y="2441448"/>
            <a:ext cx="7223700" cy="2079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l">
              <a:spcBef>
                <a:spcPts val="0"/>
              </a:spcBef>
              <a:spcAft>
                <a:spcPts val="0"/>
              </a:spcAft>
              <a:buNone/>
            </a:pPr>
            <a:r>
              <a:rPr b="0" i="0" lang="en-US" sz="1350">
                <a:solidFill>
                  <a:srgbClr val="0369A1"/>
                </a:solidFill>
                <a:latin typeface="Calibri"/>
                <a:ea typeface="Calibri"/>
                <a:cs typeface="Calibri"/>
                <a:sym typeface="Calibri"/>
              </a:rPr>
              <a:t>docs.opensearch.org/latest/search-plugins/search-relevance/judgments/</a:t>
            </a:r>
            <a:endParaRPr b="0" i="0" sz="1350">
              <a:solidFill>
                <a:srgbClr val="0369A1"/>
              </a:solidFill>
              <a:latin typeface="Calibri"/>
              <a:ea typeface="Calibri"/>
              <a:cs typeface="Calibri"/>
              <a:sym typeface="Calibri"/>
            </a:endParaRPr>
          </a:p>
        </p:txBody>
      </p:sp>
      <p:sp>
        <p:nvSpPr>
          <p:cNvPr id="423" name="Google Shape;423;p29"/>
          <p:cNvSpPr txBox="1"/>
          <p:nvPr/>
        </p:nvSpPr>
        <p:spPr>
          <a:xfrm>
            <a:off x="457200" y="2916936"/>
            <a:ext cx="4023300" cy="2385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l">
              <a:spcBef>
                <a:spcPts val="0"/>
              </a:spcBef>
              <a:spcAft>
                <a:spcPts val="0"/>
              </a:spcAft>
              <a:buNone/>
            </a:pPr>
            <a:r>
              <a:rPr b="1" i="0" lang="en-US" sz="1550">
                <a:solidFill>
                  <a:srgbClr val="0A2540"/>
                </a:solidFill>
                <a:latin typeface="Calibri"/>
                <a:ea typeface="Calibri"/>
                <a:cs typeface="Calibri"/>
                <a:sym typeface="Calibri"/>
              </a:rPr>
              <a:t>Evaluating search quality</a:t>
            </a:r>
            <a:endParaRPr b="1" i="0" sz="1550">
              <a:solidFill>
                <a:srgbClr val="0A2540"/>
              </a:solidFill>
              <a:latin typeface="Calibri"/>
              <a:ea typeface="Calibri"/>
              <a:cs typeface="Calibri"/>
              <a:sym typeface="Calibri"/>
            </a:endParaRPr>
          </a:p>
        </p:txBody>
      </p:sp>
      <p:sp>
        <p:nvSpPr>
          <p:cNvPr id="424" name="Google Shape;424;p29"/>
          <p:cNvSpPr txBox="1"/>
          <p:nvPr/>
        </p:nvSpPr>
        <p:spPr>
          <a:xfrm>
            <a:off x="4572000" y="2916936"/>
            <a:ext cx="7223700" cy="2079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l">
              <a:spcBef>
                <a:spcPts val="0"/>
              </a:spcBef>
              <a:spcAft>
                <a:spcPts val="0"/>
              </a:spcAft>
              <a:buNone/>
            </a:pPr>
            <a:r>
              <a:rPr b="0" i="0" lang="en-US" sz="1350">
                <a:solidFill>
                  <a:srgbClr val="0369A1"/>
                </a:solidFill>
                <a:latin typeface="Calibri"/>
                <a:ea typeface="Calibri"/>
                <a:cs typeface="Calibri"/>
                <a:sym typeface="Calibri"/>
              </a:rPr>
              <a:t>docs.opensearch.org/latest/search-plugins/search-relevance/evaluate-search-quality/</a:t>
            </a:r>
            <a:endParaRPr b="0" i="0" sz="1350">
              <a:solidFill>
                <a:srgbClr val="0369A1"/>
              </a:solidFill>
              <a:latin typeface="Calibri"/>
              <a:ea typeface="Calibri"/>
              <a:cs typeface="Calibri"/>
              <a:sym typeface="Calibri"/>
            </a:endParaRPr>
          </a:p>
        </p:txBody>
      </p:sp>
      <p:sp>
        <p:nvSpPr>
          <p:cNvPr id="425" name="Google Shape;425;p29"/>
          <p:cNvSpPr txBox="1"/>
          <p:nvPr/>
        </p:nvSpPr>
        <p:spPr>
          <a:xfrm>
            <a:off x="457200" y="3392424"/>
            <a:ext cx="4023300" cy="2385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l">
              <a:spcBef>
                <a:spcPts val="0"/>
              </a:spcBef>
              <a:spcAft>
                <a:spcPts val="0"/>
              </a:spcAft>
              <a:buNone/>
            </a:pPr>
            <a:r>
              <a:rPr b="1" i="0" lang="en-US" sz="1550">
                <a:solidFill>
                  <a:srgbClr val="0A2540"/>
                </a:solidFill>
                <a:latin typeface="Calibri"/>
                <a:ea typeface="Calibri"/>
                <a:cs typeface="Calibri"/>
                <a:sym typeface="Calibri"/>
              </a:rPr>
              <a:t>Optimizing hybrid search</a:t>
            </a:r>
            <a:endParaRPr b="1" i="0" sz="1550">
              <a:solidFill>
                <a:srgbClr val="0A2540"/>
              </a:solidFill>
              <a:latin typeface="Calibri"/>
              <a:ea typeface="Calibri"/>
              <a:cs typeface="Calibri"/>
              <a:sym typeface="Calibri"/>
            </a:endParaRPr>
          </a:p>
        </p:txBody>
      </p:sp>
      <p:sp>
        <p:nvSpPr>
          <p:cNvPr id="426" name="Google Shape;426;p29"/>
          <p:cNvSpPr txBox="1"/>
          <p:nvPr/>
        </p:nvSpPr>
        <p:spPr>
          <a:xfrm>
            <a:off x="4572000" y="3392424"/>
            <a:ext cx="7223700" cy="2079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l">
              <a:spcBef>
                <a:spcPts val="0"/>
              </a:spcBef>
              <a:spcAft>
                <a:spcPts val="0"/>
              </a:spcAft>
              <a:buNone/>
            </a:pPr>
            <a:r>
              <a:rPr b="0" i="0" lang="en-US" sz="1350">
                <a:solidFill>
                  <a:srgbClr val="0369A1"/>
                </a:solidFill>
                <a:latin typeface="Calibri"/>
                <a:ea typeface="Calibri"/>
                <a:cs typeface="Calibri"/>
                <a:sym typeface="Calibri"/>
              </a:rPr>
              <a:t>docs.opensearch.org/latest/search-plugins/search-relevance/optimize-hybrid-search/</a:t>
            </a:r>
            <a:endParaRPr b="0" i="0" sz="1350">
              <a:solidFill>
                <a:srgbClr val="0369A1"/>
              </a:solidFill>
              <a:latin typeface="Calibri"/>
              <a:ea typeface="Calibri"/>
              <a:cs typeface="Calibri"/>
              <a:sym typeface="Calibri"/>
            </a:endParaRPr>
          </a:p>
        </p:txBody>
      </p:sp>
      <p:sp>
        <p:nvSpPr>
          <p:cNvPr id="427" name="Google Shape;427;p29"/>
          <p:cNvSpPr txBox="1"/>
          <p:nvPr/>
        </p:nvSpPr>
        <p:spPr>
          <a:xfrm>
            <a:off x="457200" y="3867912"/>
            <a:ext cx="4023300" cy="2385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l">
              <a:spcBef>
                <a:spcPts val="0"/>
              </a:spcBef>
              <a:spcAft>
                <a:spcPts val="0"/>
              </a:spcAft>
              <a:buNone/>
            </a:pPr>
            <a:r>
              <a:rPr b="1" i="0" lang="en-US" sz="1550">
                <a:solidFill>
                  <a:srgbClr val="0A2540"/>
                </a:solidFill>
                <a:latin typeface="Calibri"/>
                <a:ea typeface="Calibri"/>
                <a:cs typeface="Calibri"/>
                <a:sym typeface="Calibri"/>
              </a:rPr>
              <a:t>Exploring experiment results</a:t>
            </a:r>
            <a:endParaRPr b="1" i="0" sz="1550">
              <a:solidFill>
                <a:srgbClr val="0A2540"/>
              </a:solidFill>
              <a:latin typeface="Calibri"/>
              <a:ea typeface="Calibri"/>
              <a:cs typeface="Calibri"/>
              <a:sym typeface="Calibri"/>
            </a:endParaRPr>
          </a:p>
        </p:txBody>
      </p:sp>
      <p:sp>
        <p:nvSpPr>
          <p:cNvPr id="428" name="Google Shape;428;p29"/>
          <p:cNvSpPr txBox="1"/>
          <p:nvPr/>
        </p:nvSpPr>
        <p:spPr>
          <a:xfrm>
            <a:off x="4572000" y="3867912"/>
            <a:ext cx="7223700" cy="2079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l">
              <a:spcBef>
                <a:spcPts val="0"/>
              </a:spcBef>
              <a:spcAft>
                <a:spcPts val="0"/>
              </a:spcAft>
              <a:buNone/>
            </a:pPr>
            <a:r>
              <a:rPr b="0" i="0" lang="en-US" sz="1350">
                <a:solidFill>
                  <a:srgbClr val="0369A1"/>
                </a:solidFill>
                <a:latin typeface="Calibri"/>
                <a:ea typeface="Calibri"/>
                <a:cs typeface="Calibri"/>
                <a:sym typeface="Calibri"/>
              </a:rPr>
              <a:t>docs.opensearch.org/latest/search-plugins/search-relevance/explore-experiment-results/</a:t>
            </a:r>
            <a:endParaRPr b="0" i="0" sz="1350">
              <a:solidFill>
                <a:srgbClr val="0369A1"/>
              </a:solidFill>
              <a:latin typeface="Calibri"/>
              <a:ea typeface="Calibri"/>
              <a:cs typeface="Calibri"/>
              <a:sym typeface="Calibri"/>
            </a:endParaRPr>
          </a:p>
        </p:txBody>
      </p:sp>
      <p:sp>
        <p:nvSpPr>
          <p:cNvPr id="429" name="Google Shape;429;p29"/>
          <p:cNvSpPr txBox="1"/>
          <p:nvPr/>
        </p:nvSpPr>
        <p:spPr>
          <a:xfrm>
            <a:off x="457200" y="4343400"/>
            <a:ext cx="4023300" cy="2385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l">
              <a:spcBef>
                <a:spcPts val="0"/>
              </a:spcBef>
              <a:spcAft>
                <a:spcPts val="0"/>
              </a:spcAft>
              <a:buNone/>
            </a:pPr>
            <a:r>
              <a:rPr b="1" i="0" lang="en-US" sz="1550">
                <a:solidFill>
                  <a:srgbClr val="0A2540"/>
                </a:solidFill>
                <a:latin typeface="Calibri"/>
                <a:ea typeface="Calibri"/>
                <a:cs typeface="Calibri"/>
                <a:sym typeface="Calibri"/>
              </a:rPr>
              <a:t>Monitoring search quality</a:t>
            </a:r>
            <a:endParaRPr b="1" i="0" sz="1550">
              <a:solidFill>
                <a:srgbClr val="0A2540"/>
              </a:solidFill>
              <a:latin typeface="Calibri"/>
              <a:ea typeface="Calibri"/>
              <a:cs typeface="Calibri"/>
              <a:sym typeface="Calibri"/>
            </a:endParaRPr>
          </a:p>
        </p:txBody>
      </p:sp>
      <p:sp>
        <p:nvSpPr>
          <p:cNvPr id="430" name="Google Shape;430;p29"/>
          <p:cNvSpPr txBox="1"/>
          <p:nvPr/>
        </p:nvSpPr>
        <p:spPr>
          <a:xfrm>
            <a:off x="4572000" y="4343400"/>
            <a:ext cx="7223700" cy="2079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l">
              <a:spcBef>
                <a:spcPts val="0"/>
              </a:spcBef>
              <a:spcAft>
                <a:spcPts val="0"/>
              </a:spcAft>
              <a:buNone/>
            </a:pPr>
            <a:r>
              <a:rPr b="0" i="0" lang="en-US" sz="1350">
                <a:solidFill>
                  <a:srgbClr val="0369A1"/>
                </a:solidFill>
                <a:latin typeface="Calibri"/>
                <a:ea typeface="Calibri"/>
                <a:cs typeface="Calibri"/>
                <a:sym typeface="Calibri"/>
              </a:rPr>
              <a:t>docs.opensearch.org/latest/search-plugins/search-relevance/regularly-scheduled-experiments/</a:t>
            </a:r>
            <a:endParaRPr b="0" i="0" sz="1350">
              <a:solidFill>
                <a:srgbClr val="0369A1"/>
              </a:solidFill>
              <a:latin typeface="Calibri"/>
              <a:ea typeface="Calibri"/>
              <a:cs typeface="Calibri"/>
              <a:sym typeface="Calibri"/>
            </a:endParaRPr>
          </a:p>
        </p:txBody>
      </p:sp>
      <p:sp>
        <p:nvSpPr>
          <p:cNvPr id="431" name="Google Shape;431;p29"/>
          <p:cNvSpPr txBox="1"/>
          <p:nvPr/>
        </p:nvSpPr>
        <p:spPr>
          <a:xfrm>
            <a:off x="457200" y="4818888"/>
            <a:ext cx="4023300" cy="2385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l">
              <a:spcBef>
                <a:spcPts val="0"/>
              </a:spcBef>
              <a:spcAft>
                <a:spcPts val="0"/>
              </a:spcAft>
              <a:buNone/>
            </a:pPr>
            <a:r>
              <a:rPr b="1" i="0" lang="en-US" sz="1550">
                <a:solidFill>
                  <a:srgbClr val="0A2540"/>
                </a:solidFill>
                <a:latin typeface="Calibri"/>
                <a:ea typeface="Calibri"/>
                <a:cs typeface="Calibri"/>
                <a:sym typeface="Calibri"/>
              </a:rPr>
              <a:t>Relevance agent</a:t>
            </a:r>
            <a:endParaRPr b="1" i="0" sz="1550">
              <a:solidFill>
                <a:srgbClr val="0A2540"/>
              </a:solidFill>
              <a:latin typeface="Calibri"/>
              <a:ea typeface="Calibri"/>
              <a:cs typeface="Calibri"/>
              <a:sym typeface="Calibri"/>
            </a:endParaRPr>
          </a:p>
        </p:txBody>
      </p:sp>
      <p:sp>
        <p:nvSpPr>
          <p:cNvPr id="432" name="Google Shape;432;p29"/>
          <p:cNvSpPr txBox="1"/>
          <p:nvPr/>
        </p:nvSpPr>
        <p:spPr>
          <a:xfrm>
            <a:off x="4572000" y="4818888"/>
            <a:ext cx="7223700" cy="2079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l">
              <a:spcBef>
                <a:spcPts val="0"/>
              </a:spcBef>
              <a:spcAft>
                <a:spcPts val="0"/>
              </a:spcAft>
              <a:buNone/>
            </a:pPr>
            <a:r>
              <a:rPr b="0" i="0" lang="en-US" sz="1350">
                <a:solidFill>
                  <a:srgbClr val="0369A1"/>
                </a:solidFill>
                <a:latin typeface="Calibri"/>
                <a:ea typeface="Calibri"/>
                <a:cs typeface="Calibri"/>
                <a:sym typeface="Calibri"/>
              </a:rPr>
              <a:t>docs.opensearch.org/latest/search-plugins/search-relevance/relevance-agent/</a:t>
            </a:r>
            <a:endParaRPr b="0" i="0" sz="1350">
              <a:solidFill>
                <a:srgbClr val="0369A1"/>
              </a:solidFill>
              <a:latin typeface="Calibri"/>
              <a:ea typeface="Calibri"/>
              <a:cs typeface="Calibri"/>
              <a:sym typeface="Calibri"/>
            </a:endParaRPr>
          </a:p>
        </p:txBody>
      </p:sp>
      <p:sp>
        <p:nvSpPr>
          <p:cNvPr id="433" name="Google Shape;433;p29"/>
          <p:cNvSpPr txBox="1"/>
          <p:nvPr/>
        </p:nvSpPr>
        <p:spPr>
          <a:xfrm>
            <a:off x="457200" y="5294376"/>
            <a:ext cx="4023300" cy="2385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l">
              <a:spcBef>
                <a:spcPts val="0"/>
              </a:spcBef>
              <a:spcAft>
                <a:spcPts val="0"/>
              </a:spcAft>
              <a:buNone/>
            </a:pPr>
            <a:r>
              <a:rPr b="1" i="0" lang="en-US" sz="1550">
                <a:solidFill>
                  <a:srgbClr val="0A2540"/>
                </a:solidFill>
                <a:latin typeface="Calibri"/>
                <a:ea typeface="Calibri"/>
                <a:cs typeface="Calibri"/>
                <a:sym typeface="Calibri"/>
              </a:rPr>
              <a:t>LangGraph evaluator–optimizer workflows</a:t>
            </a:r>
            <a:endParaRPr b="1" i="0" sz="1550">
              <a:solidFill>
                <a:srgbClr val="0A2540"/>
              </a:solidFill>
              <a:latin typeface="Calibri"/>
              <a:ea typeface="Calibri"/>
              <a:cs typeface="Calibri"/>
              <a:sym typeface="Calibri"/>
            </a:endParaRPr>
          </a:p>
        </p:txBody>
      </p:sp>
      <p:sp>
        <p:nvSpPr>
          <p:cNvPr id="434" name="Google Shape;434;p29"/>
          <p:cNvSpPr txBox="1"/>
          <p:nvPr/>
        </p:nvSpPr>
        <p:spPr>
          <a:xfrm>
            <a:off x="4572000" y="5294376"/>
            <a:ext cx="7223700" cy="2079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l">
              <a:spcBef>
                <a:spcPts val="0"/>
              </a:spcBef>
              <a:spcAft>
                <a:spcPts val="0"/>
              </a:spcAft>
              <a:buNone/>
            </a:pPr>
            <a:r>
              <a:rPr b="0" i="0" lang="en-US" sz="1350">
                <a:solidFill>
                  <a:srgbClr val="0369A1"/>
                </a:solidFill>
                <a:latin typeface="Calibri"/>
                <a:ea typeface="Calibri"/>
                <a:cs typeface="Calibri"/>
                <a:sym typeface="Calibri"/>
              </a:rPr>
              <a:t>docs.langchain.com/oss/python/langgraph/workflows-agents</a:t>
            </a:r>
            <a:endParaRPr b="0" i="0" sz="1350">
              <a:solidFill>
                <a:srgbClr val="0369A1"/>
              </a:solidFill>
              <a:latin typeface="Calibri"/>
              <a:ea typeface="Calibri"/>
              <a:cs typeface="Calibri"/>
              <a:sym typeface="Calibri"/>
            </a:endParaRPr>
          </a:p>
        </p:txBody>
      </p:sp>
      <p:sp>
        <p:nvSpPr>
          <p:cNvPr id="435" name="Google Shape;435;p29"/>
          <p:cNvSpPr txBox="1"/>
          <p:nvPr/>
        </p:nvSpPr>
        <p:spPr>
          <a:xfrm>
            <a:off x="457200" y="5769864"/>
            <a:ext cx="4023300" cy="2385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l">
              <a:spcBef>
                <a:spcPts val="0"/>
              </a:spcBef>
              <a:spcAft>
                <a:spcPts val="0"/>
              </a:spcAft>
              <a:buNone/>
            </a:pPr>
            <a:r>
              <a:rPr b="1" i="0" lang="en-US" sz="1550">
                <a:solidFill>
                  <a:srgbClr val="0A2540"/>
                </a:solidFill>
                <a:latin typeface="Calibri"/>
                <a:ea typeface="Calibri"/>
                <a:cs typeface="Calibri"/>
                <a:sym typeface="Calibri"/>
              </a:rPr>
              <a:t>GitHub repository</a:t>
            </a:r>
            <a:endParaRPr b="1" i="0" sz="1550">
              <a:solidFill>
                <a:srgbClr val="0A2540"/>
              </a:solidFill>
              <a:latin typeface="Calibri"/>
              <a:ea typeface="Calibri"/>
              <a:cs typeface="Calibri"/>
              <a:sym typeface="Calibri"/>
            </a:endParaRPr>
          </a:p>
        </p:txBody>
      </p:sp>
      <p:sp>
        <p:nvSpPr>
          <p:cNvPr id="436" name="Google Shape;436;p29"/>
          <p:cNvSpPr txBox="1"/>
          <p:nvPr/>
        </p:nvSpPr>
        <p:spPr>
          <a:xfrm>
            <a:off x="4572000" y="5769864"/>
            <a:ext cx="7223700" cy="2079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l">
              <a:spcBef>
                <a:spcPts val="0"/>
              </a:spcBef>
              <a:spcAft>
                <a:spcPts val="0"/>
              </a:spcAft>
              <a:buNone/>
            </a:pPr>
            <a:r>
              <a:rPr lang="en-US" sz="1350">
                <a:solidFill>
                  <a:srgbClr val="0369A1"/>
                </a:solidFill>
                <a:latin typeface="Calibri"/>
                <a:ea typeface="Calibri"/>
                <a:cs typeface="Calibri"/>
                <a:sym typeface="Calibri"/>
              </a:rPr>
              <a:t>github.com/kmwtechnology/opensearch2026-agentic-search</a:t>
            </a:r>
            <a:endParaRPr b="0" i="0" sz="1350">
              <a:solidFill>
                <a:srgbClr val="0369A1"/>
              </a:solidFill>
              <a:latin typeface="Calibri"/>
              <a:ea typeface="Calibri"/>
              <a:cs typeface="Calibri"/>
              <a:sym typeface="Calibri"/>
            </a:endParaRPr>
          </a:p>
        </p:txBody>
      </p:sp>
      <p:pic>
        <p:nvPicPr>
          <p:cNvPr id="437" name="Google Shape;437;p29" title="KMWLogo_blk_blue.png"/>
          <p:cNvPicPr preferRelativeResize="0"/>
          <p:nvPr/>
        </p:nvPicPr>
        <p:blipFill>
          <a:blip r:embed="rId3">
            <a:alphaModFix/>
          </a:blip>
          <a:stretch>
            <a:fillRect/>
          </a:stretch>
        </p:blipFill>
        <p:spPr>
          <a:xfrm>
            <a:off x="10059924" y="314175"/>
            <a:ext cx="1644399" cy="645950"/>
          </a:xfrm>
          <a:prstGeom prst="rect">
            <a:avLst/>
          </a:prstGeom>
          <a:noFill/>
          <a:ln>
            <a:noFill/>
          </a:ln>
        </p:spPr>
      </p:pic>
      <p:sp>
        <p:nvSpPr>
          <p:cNvPr id="438" name="Google Shape;438;p29"/>
          <p:cNvSpPr txBox="1"/>
          <p:nvPr/>
        </p:nvSpPr>
        <p:spPr>
          <a:xfrm>
            <a:off x="1921297" y="6477000"/>
            <a:ext cx="10058400" cy="1617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r">
              <a:spcBef>
                <a:spcPts val="0"/>
              </a:spcBef>
              <a:spcAft>
                <a:spcPts val="0"/>
              </a:spcAft>
              <a:buNone/>
            </a:pPr>
            <a:r>
              <a:rPr b="0" i="0" lang="en-US" sz="1050">
                <a:solidFill>
                  <a:srgbClr val="94A3B8"/>
                </a:solidFill>
                <a:latin typeface="Calibri"/>
                <a:ea typeface="Calibri"/>
                <a:cs typeface="Calibri"/>
                <a:sym typeface="Calibri"/>
              </a:rPr>
              <a:t>OpenSearchCon North America · 2026 · Agentic Search: Reimagining Search from Ingestion to Relevancy</a:t>
            </a:r>
            <a:endParaRPr b="0" i="0" sz="1050">
              <a:solidFill>
                <a:srgbClr val="94A3B8"/>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