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b74e8e66d_2_4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1" name="Google Shape;141;g3fb74e8e66d_2_4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74e8e66d_2_6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fb74e8e66d_2_6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b74e8e66d_2_2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g3fb74e8e66d_2_22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b74e8e66d_2_13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fb74e8e66d_2_13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b74e8e66d_2_15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g3fb74e8e66d_2_15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b74e8e66d_2_17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g3fb74e8e66d_2_17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b74e8e66d_2_19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fb74e8e66d_2_1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4" name="Google Shape;30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b74e8e66d_68_0)">
  <p:cSld name="Generated (g3fb74e8e66d_68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647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609443" y="2284700"/>
            <a:ext cx="73152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 b="1" sz="1400">
              <a:solidFill>
                <a:srgbClr val="0EA5E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 txBox="1"/>
          <p:nvPr/>
        </p:nvSpPr>
        <p:spPr>
          <a:xfrm>
            <a:off x="609443" y="2665700"/>
            <a:ext cx="10972800" cy="68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2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Search</a:t>
            </a:r>
            <a:endParaRPr b="1" sz="442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609443" y="3475325"/>
            <a:ext cx="109728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Reimagining search from ingestion to relevancy</a:t>
            </a:r>
            <a:endParaRPr b="1" sz="3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609443" y="4237325"/>
            <a:ext cx="109728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One live LangGraph agent — adaptive retrieval, real ESCI-judged proof, and a catalog it fixes live.</a:t>
            </a:r>
            <a:endParaRPr b="0" sz="1600">
              <a:solidFill>
                <a:srgbClr val="7DD3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609443" y="5142200"/>
            <a:ext cx="109728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Kevin M. Butler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4"/>
          <p:cNvSpPr txBox="1"/>
          <p:nvPr/>
        </p:nvSpPr>
        <p:spPr>
          <a:xfrm>
            <a:off x="609443" y="5494625"/>
            <a:ext cx="73152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Senior Search and AI Engineer</a:t>
            </a:r>
            <a:endParaRPr b="0" sz="1400">
              <a:solidFill>
                <a:srgbClr val="B8C5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14" title="KMWLogo_wh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75" y="402350"/>
            <a:ext cx="3593551" cy="110152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 / 1</a:t>
            </a: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Fast, plausible, and wrong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results look fine. The answer is wrong.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3017520"/>
            <a:ext cx="1124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Weak retrieval is invisible</a:t>
            </a:r>
            <a:r>
              <a:rPr lang="en-US" sz="18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8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·  the generator writes fluently over it  ·  confidence is not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457200" y="4343400"/>
            <a:ext cx="11247120" cy="1737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QUESTION THIS TALK ANSWERS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731520" y="4864608"/>
            <a:ext cx="10698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How can a search system recognize weak retrieval</a:t>
            </a:r>
            <a:r>
              <a:rPr b="1" lang="en-US" sz="18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, change course, and fix data problems on the fly?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4171075" y="4025175"/>
            <a:ext cx="6003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5" title="KMWLogo_blk_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/>
        </p:nvSpPr>
        <p:spPr>
          <a:xfrm>
            <a:off x="457200" y="228600"/>
            <a:ext cx="13716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/ 1</a:t>
            </a: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9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571500"/>
            <a:ext cx="112776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TALK THESIS</a:t>
            </a:r>
            <a:endParaRPr b="1" i="0" sz="1200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457200" y="857250"/>
            <a:ext cx="112776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When does a search agent become genuinely agentic?</a:t>
            </a:r>
            <a:endParaRPr b="1" i="0" sz="30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6" name="Google Shape;116;p16"/>
          <p:cNvGrpSpPr/>
          <p:nvPr/>
        </p:nvGrpSpPr>
        <p:grpSpPr>
          <a:xfrm>
            <a:off x="457200" y="1476375"/>
            <a:ext cx="11277600" cy="1047900"/>
            <a:chOff x="0" y="0"/>
            <a:chExt cx="11277600" cy="1047900"/>
          </a:xfrm>
        </p:grpSpPr>
        <p:sp>
          <p:nvSpPr>
            <p:cNvPr id="117" name="Google Shape;117;p16"/>
            <p:cNvSpPr/>
            <p:nvPr/>
          </p:nvSpPr>
          <p:spPr>
            <a:xfrm>
              <a:off x="0" y="0"/>
              <a:ext cx="112776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6"/>
            <p:cNvSpPr txBox="1"/>
            <p:nvPr/>
          </p:nvSpPr>
          <p:spPr>
            <a:xfrm>
              <a:off x="266700" y="0"/>
              <a:ext cx="10744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“When it can improve results on the fly — and fix the catalog itself.”</a:t>
              </a:r>
              <a:endParaRPr b="1" sz="24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" name="Google Shape;119;p16"/>
          <p:cNvGrpSpPr/>
          <p:nvPr/>
        </p:nvGrpSpPr>
        <p:grpSpPr>
          <a:xfrm>
            <a:off x="457200" y="2714625"/>
            <a:ext cx="2133600" cy="1809600"/>
            <a:chOff x="0" y="0"/>
            <a:chExt cx="2133600" cy="1809600"/>
          </a:xfrm>
        </p:grpSpPr>
        <p:sp>
          <p:nvSpPr>
            <p:cNvPr id="120" name="Google Shape;120;p16"/>
            <p:cNvSpPr/>
            <p:nvPr/>
          </p:nvSpPr>
          <p:spPr>
            <a:xfrm>
              <a:off x="0" y="0"/>
              <a:ext cx="21336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6"/>
            <p:cNvSpPr txBox="1"/>
            <p:nvPr/>
          </p:nvSpPr>
          <p:spPr>
            <a:xfrm>
              <a:off x="0" y="0"/>
              <a:ext cx="21336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Classify intent</a:t>
              </a:r>
              <a:endParaRPr b="1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6"/>
          <p:cNvGrpSpPr/>
          <p:nvPr/>
        </p:nvGrpSpPr>
        <p:grpSpPr>
          <a:xfrm>
            <a:off x="2743200" y="2714625"/>
            <a:ext cx="2133600" cy="1809600"/>
            <a:chOff x="0" y="0"/>
            <a:chExt cx="2133600" cy="1809600"/>
          </a:xfrm>
        </p:grpSpPr>
        <p:sp>
          <p:nvSpPr>
            <p:cNvPr id="123" name="Google Shape;123;p16"/>
            <p:cNvSpPr/>
            <p:nvPr/>
          </p:nvSpPr>
          <p:spPr>
            <a:xfrm>
              <a:off x="0" y="0"/>
              <a:ext cx="21336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0" y="0"/>
              <a:ext cx="21336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Weight hybrid retrieval</a:t>
              </a:r>
              <a:endParaRPr b="1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6"/>
          <p:cNvGrpSpPr/>
          <p:nvPr/>
        </p:nvGrpSpPr>
        <p:grpSpPr>
          <a:xfrm>
            <a:off x="5029200" y="2714625"/>
            <a:ext cx="2133600" cy="1809600"/>
            <a:chOff x="0" y="0"/>
            <a:chExt cx="2133600" cy="1809600"/>
          </a:xfrm>
        </p:grpSpPr>
        <p:sp>
          <p:nvSpPr>
            <p:cNvPr id="126" name="Google Shape;126;p16"/>
            <p:cNvSpPr/>
            <p:nvPr/>
          </p:nvSpPr>
          <p:spPr>
            <a:xfrm>
              <a:off x="0" y="0"/>
              <a:ext cx="21336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0" y="0"/>
              <a:ext cx="21336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Retry once when unsure</a:t>
              </a:r>
              <a:endParaRPr b="1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16"/>
          <p:cNvGrpSpPr/>
          <p:nvPr/>
        </p:nvGrpSpPr>
        <p:grpSpPr>
          <a:xfrm>
            <a:off x="7315200" y="2714625"/>
            <a:ext cx="2133600" cy="1809600"/>
            <a:chOff x="0" y="0"/>
            <a:chExt cx="2133600" cy="1809600"/>
          </a:xfrm>
        </p:grpSpPr>
        <p:sp>
          <p:nvSpPr>
            <p:cNvPr id="129" name="Google Shape;129;p16"/>
            <p:cNvSpPr/>
            <p:nvPr/>
          </p:nvSpPr>
          <p:spPr>
            <a:xfrm>
              <a:off x="0" y="0"/>
              <a:ext cx="21336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0" y="0"/>
              <a:ext cx="21336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04</a:t>
              </a:r>
              <a:endParaRPr b="1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Verify the answer</a:t>
              </a:r>
              <a:endParaRPr b="1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1" name="Google Shape;131;p16"/>
          <p:cNvGrpSpPr/>
          <p:nvPr/>
        </p:nvGrpSpPr>
        <p:grpSpPr>
          <a:xfrm>
            <a:off x="9601200" y="2714625"/>
            <a:ext cx="2133600" cy="1809600"/>
            <a:chOff x="0" y="0"/>
            <a:chExt cx="2133600" cy="1809600"/>
          </a:xfrm>
        </p:grpSpPr>
        <p:sp>
          <p:nvSpPr>
            <p:cNvPr id="132" name="Google Shape;132;p16"/>
            <p:cNvSpPr/>
            <p:nvPr/>
          </p:nvSpPr>
          <p:spPr>
            <a:xfrm>
              <a:off x="0" y="0"/>
              <a:ext cx="21336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0" y="0"/>
              <a:ext cx="21336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05</a:t>
              </a:r>
              <a:endParaRPr b="1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Correct taxonomy live</a:t>
              </a:r>
              <a:endParaRPr b="1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4" name="Google Shape;134;p16"/>
          <p:cNvGrpSpPr/>
          <p:nvPr/>
        </p:nvGrpSpPr>
        <p:grpSpPr>
          <a:xfrm>
            <a:off x="457200" y="4762500"/>
            <a:ext cx="11277600" cy="1381200"/>
            <a:chOff x="0" y="0"/>
            <a:chExt cx="11277600" cy="1381200"/>
          </a:xfrm>
        </p:grpSpPr>
        <p:sp>
          <p:nvSpPr>
            <p:cNvPr id="135" name="Google Shape;135;p16"/>
            <p:cNvSpPr/>
            <p:nvPr/>
          </p:nvSpPr>
          <p:spPr>
            <a:xfrm>
              <a:off x="0" y="0"/>
              <a:ext cx="11277600" cy="1381200"/>
            </a:xfrm>
            <a:prstGeom prst="roundRect">
              <a:avLst>
                <a:gd fmla="val 5517" name="adj"/>
              </a:avLst>
            </a:prstGeom>
            <a:solidFill>
              <a:srgbClr val="0A25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 txBox="1"/>
            <p:nvPr/>
          </p:nvSpPr>
          <p:spPr>
            <a:xfrm>
              <a:off x="304800" y="0"/>
              <a:ext cx="10668000" cy="138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CORE PRINCIPLE</a:t>
              </a:r>
              <a:endParaRPr b="1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Judgments diagnose. They never steer.</a:t>
              </a:r>
              <a:endParaRPr b="1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7" name="Google Shape;137;p16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8" name="Google Shape;138;p16" title="KMWLogo_blk_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7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 / 1</a:t>
            </a: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9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457200" y="594360"/>
            <a:ext cx="11247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STRUCTURE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457200" y="960120"/>
            <a:ext cx="11247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n-US" sz="3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One live application, three demos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6" name="Google Shape;146;p17"/>
          <p:cNvGrpSpPr/>
          <p:nvPr/>
        </p:nvGrpSpPr>
        <p:grpSpPr>
          <a:xfrm>
            <a:off x="457200" y="1809750"/>
            <a:ext cx="3600600" cy="2952900"/>
            <a:chOff x="0" y="0"/>
            <a:chExt cx="3600600" cy="2952900"/>
          </a:xfrm>
        </p:grpSpPr>
        <p:sp>
          <p:nvSpPr>
            <p:cNvPr id="147" name="Google Shape;147;p17"/>
            <p:cNvSpPr/>
            <p:nvPr/>
          </p:nvSpPr>
          <p:spPr>
            <a:xfrm>
              <a:off x="0" y="0"/>
              <a:ext cx="3600600" cy="2952900"/>
            </a:xfrm>
            <a:prstGeom prst="roundRect">
              <a:avLst>
                <a:gd fmla="val 258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266700" y="266700"/>
              <a:ext cx="3067200" cy="24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DEMO 01</a:t>
              </a:r>
              <a:endParaRPr b="1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Adaptive Query Enhancements</a:t>
              </a:r>
              <a:endParaRPr b="1" sz="2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One conversation, context carried forward.</a:t>
              </a:r>
              <a:endParaRPr b="0" sz="14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7"/>
          <p:cNvGrpSpPr/>
          <p:nvPr/>
        </p:nvGrpSpPr>
        <p:grpSpPr>
          <a:xfrm>
            <a:off x="4295775" y="1809750"/>
            <a:ext cx="3600600" cy="2952900"/>
            <a:chOff x="0" y="0"/>
            <a:chExt cx="3600600" cy="2952900"/>
          </a:xfrm>
        </p:grpSpPr>
        <p:sp>
          <p:nvSpPr>
            <p:cNvPr id="150" name="Google Shape;150;p17"/>
            <p:cNvSpPr/>
            <p:nvPr/>
          </p:nvSpPr>
          <p:spPr>
            <a:xfrm>
              <a:off x="0" y="0"/>
              <a:ext cx="3600600" cy="2952900"/>
            </a:xfrm>
            <a:prstGeom prst="roundRect">
              <a:avLst>
                <a:gd fmla="val 258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7"/>
            <p:cNvSpPr txBox="1"/>
            <p:nvPr/>
          </p:nvSpPr>
          <p:spPr>
            <a:xfrm>
              <a:off x="266700" y="266700"/>
              <a:ext cx="3067200" cy="24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DEMO 02</a:t>
              </a:r>
              <a:endParaRPr b="1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Proving It With Real Judgments</a:t>
              </a:r>
              <a:endParaRPr b="1" sz="2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Scored against real academic judgments.</a:t>
              </a:r>
              <a:endParaRPr b="0" sz="14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8134350" y="1809750"/>
            <a:ext cx="3600600" cy="2952900"/>
            <a:chOff x="0" y="0"/>
            <a:chExt cx="3600600" cy="2952900"/>
          </a:xfrm>
        </p:grpSpPr>
        <p:sp>
          <p:nvSpPr>
            <p:cNvPr id="153" name="Google Shape;153;p17"/>
            <p:cNvSpPr/>
            <p:nvPr/>
          </p:nvSpPr>
          <p:spPr>
            <a:xfrm>
              <a:off x="0" y="0"/>
              <a:ext cx="3600600" cy="2952900"/>
            </a:xfrm>
            <a:prstGeom prst="roundRect">
              <a:avLst>
                <a:gd fmla="val 258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266700" y="266700"/>
              <a:ext cx="3067200" cy="24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DEMO 03</a:t>
              </a:r>
              <a:endParaRPr b="1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Classification &amp; Ingestion</a:t>
              </a:r>
              <a:endParaRPr b="1" sz="2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One bad tag, fixed live.</a:t>
              </a:r>
              <a:endParaRPr b="0" sz="14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p17"/>
          <p:cNvSpPr/>
          <p:nvPr/>
        </p:nvSpPr>
        <p:spPr>
          <a:xfrm>
            <a:off x="457200" y="5048250"/>
            <a:ext cx="11277600" cy="1143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762000" y="5238750"/>
            <a:ext cx="10668000" cy="53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SYSTEM CAPABILITY</a:t>
            </a:r>
            <a:endParaRPr b="1" sz="1100">
              <a:solidFill>
                <a:srgbClr val="0EA5E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Any query. One retry. One repair. Fixes the catalog, not just the query.</a:t>
            </a:r>
            <a:endParaRPr b="1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7" title="KMWLogo_blk_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457200" y="571500"/>
            <a:ext cx="1123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STACK</a:t>
            </a:r>
            <a:endParaRPr b="1" i="0" sz="1300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 txBox="1"/>
          <p:nvPr/>
        </p:nvSpPr>
        <p:spPr>
          <a:xfrm>
            <a:off x="457200" y="914400"/>
            <a:ext cx="1123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End-to-end local architecture</a:t>
            </a:r>
            <a:endParaRPr b="1" i="0" sz="36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6" name="Google Shape;166;p18"/>
          <p:cNvGrpSpPr/>
          <p:nvPr/>
        </p:nvGrpSpPr>
        <p:grpSpPr>
          <a:xfrm>
            <a:off x="457200" y="1714500"/>
            <a:ext cx="3600600" cy="1428900"/>
            <a:chOff x="0" y="0"/>
            <a:chExt cx="3600600" cy="1428900"/>
          </a:xfrm>
        </p:grpSpPr>
        <p:sp>
          <p:nvSpPr>
            <p:cNvPr id="167" name="Google Shape;167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INGEST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Lucille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Java ETL pipeline for document processing and transformation.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18"/>
          <p:cNvGrpSpPr/>
          <p:nvPr/>
        </p:nvGrpSpPr>
        <p:grpSpPr>
          <a:xfrm>
            <a:off x="4295775" y="1714500"/>
            <a:ext cx="3600600" cy="1428900"/>
            <a:chOff x="0" y="0"/>
            <a:chExt cx="3600600" cy="1428900"/>
          </a:xfrm>
        </p:grpSpPr>
        <p:sp>
          <p:nvSpPr>
            <p:cNvPr id="170" name="Google Shape;170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INDEX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OpenSearch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BM25 + vector search using HNSW indexing algorithms.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18"/>
          <p:cNvGrpSpPr/>
          <p:nvPr/>
        </p:nvGrpSpPr>
        <p:grpSpPr>
          <a:xfrm>
            <a:off x="8134350" y="1714500"/>
            <a:ext cx="3600600" cy="1428900"/>
            <a:chOff x="0" y="0"/>
            <a:chExt cx="3600600" cy="1428900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RETRIEVE &amp; RERANK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Hybrid Fusion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Multi-stage retrieval backed by local cross-encoder models.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457200" y="3333750"/>
            <a:ext cx="3600600" cy="1428900"/>
            <a:chOff x="0" y="0"/>
            <a:chExt cx="3600600" cy="1428900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REASON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LangGraph + LangChain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Orchestration powered by Gemini 2.5 Flash / Flash-Lite models.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4295775" y="3333750"/>
            <a:ext cx="3600600" cy="1428900"/>
            <a:chOff x="0" y="0"/>
            <a:chExt cx="3600600" cy="1428900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SERVE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FastAPI + WebSocket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Real-time execution APIs with Postgres state checkpoints.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8"/>
          <p:cNvGrpSpPr/>
          <p:nvPr/>
        </p:nvGrpSpPr>
        <p:grpSpPr>
          <a:xfrm>
            <a:off x="8134350" y="3333750"/>
            <a:ext cx="3600600" cy="1428900"/>
            <a:chOff x="0" y="0"/>
            <a:chExt cx="3600600" cy="1428900"/>
          </a:xfrm>
        </p:grpSpPr>
        <p:sp>
          <p:nvSpPr>
            <p:cNvPr id="182" name="Google Shape;182;p18"/>
            <p:cNvSpPr/>
            <p:nvPr/>
          </p:nvSpPr>
          <p:spPr>
            <a:xfrm>
              <a:off x="0" y="0"/>
              <a:ext cx="36006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8"/>
            <p:cNvSpPr txBox="1"/>
            <p:nvPr/>
          </p:nvSpPr>
          <p:spPr>
            <a:xfrm>
              <a:off x="228600" y="152400"/>
              <a:ext cx="3143400" cy="1124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UI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i="0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React + Vite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5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Interactive user dashboard for real-time query visibility.</a:t>
              </a:r>
              <a:endParaRPr b="1" i="0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4" name="Google Shape;184;p18"/>
          <p:cNvSpPr/>
          <p:nvPr/>
        </p:nvSpPr>
        <p:spPr>
          <a:xfrm>
            <a:off x="457200" y="5143500"/>
            <a:ext cx="11277600" cy="952500"/>
          </a:xfrm>
          <a:prstGeom prst="roundRect">
            <a:avLst>
              <a:gd fmla="val 8000" name="adj"/>
            </a:avLst>
          </a:prstGeom>
          <a:solidFill>
            <a:srgbClr val="0A254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762000" y="5286375"/>
            <a:ext cx="10668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DEPLOYMENT ENVIRONMENT</a:t>
            </a:r>
            <a:endParaRPr b="1" i="0" sz="1200">
              <a:solidFill>
                <a:srgbClr val="0EA5E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local. Docker Compose</a:t>
            </a:r>
            <a:endParaRPr b="1" i="0" sz="1200">
              <a:solidFill>
                <a:srgbClr val="0EA5E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/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8" title="KMWLogo_blk_blu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9"/>
          <p:cNvSpPr/>
          <p:nvPr/>
        </p:nvSpPr>
        <p:spPr>
          <a:xfrm>
            <a:off x="0" y="0"/>
            <a:ext cx="1647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609443" y="2284700"/>
            <a:ext cx="73152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 b="1" sz="1400">
              <a:solidFill>
                <a:srgbClr val="0EA5E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609443" y="2665700"/>
            <a:ext cx="10972800" cy="68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2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 b="1" sz="442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609443" y="3475325"/>
            <a:ext cx="109728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Reimagining search from ingestion to relevancy</a:t>
            </a:r>
            <a:endParaRPr b="1" sz="3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"/>
          <p:cNvSpPr txBox="1"/>
          <p:nvPr/>
        </p:nvSpPr>
        <p:spPr>
          <a:xfrm>
            <a:off x="609443" y="4237325"/>
            <a:ext cx="109728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One live LangGraph agent — adaptive retrieval, real ESCI-judged proof, and a catalog it fixes live.</a:t>
            </a:r>
            <a:endParaRPr b="0" sz="1600">
              <a:solidFill>
                <a:srgbClr val="7DD3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609443" y="5142200"/>
            <a:ext cx="109728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Kevin M. Butler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609443" y="5494625"/>
            <a:ext cx="73152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Senior Search and AI Engineer</a:t>
            </a:r>
            <a:endParaRPr b="0" sz="1400">
              <a:solidFill>
                <a:srgbClr val="B8C5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 txBox="1"/>
          <p:nvPr/>
        </p:nvSpPr>
        <p:spPr>
          <a:xfrm>
            <a:off x="7772400" y="6334125"/>
            <a:ext cx="41148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7B8C9F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 b="0" sz="1000">
              <a:solidFill>
                <a:srgbClr val="7B8C9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p19" title="KMWLogo_wh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75" y="402350"/>
            <a:ext cx="3593551" cy="110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0"/>
          <p:cNvSpPr txBox="1"/>
          <p:nvPr/>
        </p:nvSpPr>
        <p:spPr>
          <a:xfrm>
            <a:off x="457200" y="571500"/>
            <a:ext cx="11239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1 RECAP</a:t>
            </a:r>
            <a:endParaRPr b="1" sz="1200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914400"/>
            <a:ext cx="11239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Adaptive Query Enhancements</a:t>
            </a:r>
            <a:endParaRPr b="1" sz="3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20"/>
          <p:cNvGrpSpPr/>
          <p:nvPr/>
        </p:nvGrpSpPr>
        <p:grpSpPr>
          <a:xfrm>
            <a:off x="457200" y="1714500"/>
            <a:ext cx="3600600" cy="3143400"/>
            <a:chOff x="0" y="0"/>
            <a:chExt cx="3600600" cy="3143400"/>
          </a:xfrm>
        </p:grpSpPr>
        <p:sp>
          <p:nvSpPr>
            <p:cNvPr id="209" name="Google Shape;209;p20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0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TURN 01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“blue running shoes”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α 0.25</a:t>
              </a:r>
              <a:r>
                <a:rPr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· Lexical priority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Filters applied: color, feature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20"/>
          <p:cNvGrpSpPr/>
          <p:nvPr/>
        </p:nvGrpSpPr>
        <p:grpSpPr>
          <a:xfrm>
            <a:off x="4295775" y="1714500"/>
            <a:ext cx="3600600" cy="3143400"/>
            <a:chOff x="0" y="0"/>
            <a:chExt cx="3600600" cy="3143400"/>
          </a:xfrm>
        </p:grpSpPr>
        <p:sp>
          <p:nvSpPr>
            <p:cNvPr id="212" name="Google Shape;212;p20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0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TURN 02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“only size 10”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α 0.35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Narrowed the same 10 results without re-searching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20"/>
          <p:cNvGrpSpPr/>
          <p:nvPr/>
        </p:nvGrpSpPr>
        <p:grpSpPr>
          <a:xfrm>
            <a:off x="8134350" y="1714500"/>
            <a:ext cx="3600600" cy="3143400"/>
            <a:chOff x="0" y="0"/>
            <a:chExt cx="3600600" cy="3143400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TURN 03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“what about trail running?”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α 0.70</a:t>
              </a:r>
              <a:r>
                <a:rPr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· Semantic priority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Rewritten to carry both previous filters forward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457200" y="5143500"/>
            <a:ext cx="11277600" cy="952500"/>
            <a:chOff x="0" y="0"/>
            <a:chExt cx="11277600" cy="952500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1277600" cy="952500"/>
            </a:xfrm>
            <a:prstGeom prst="roundRect">
              <a:avLst>
                <a:gd fmla="val 8000" name="adj"/>
              </a:avLst>
            </a:prstGeom>
            <a:solidFill>
              <a:srgbClr val="0A25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304800" y="190500"/>
              <a:ext cx="1066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KEY TAKEAWAY</a:t>
              </a:r>
              <a:endParaRPr b="1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Alpha climbed as questions got less literal — nobody set that per query.</a:t>
              </a:r>
              <a:endPara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20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/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0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20" title="KMWLogo_blk_blu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"/>
          <p:cNvSpPr txBox="1"/>
          <p:nvPr/>
        </p:nvSpPr>
        <p:spPr>
          <a:xfrm>
            <a:off x="457200" y="571500"/>
            <a:ext cx="11239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10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2 RECAP</a:t>
            </a:r>
            <a:endParaRPr b="1" sz="1110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 txBox="1"/>
          <p:nvPr/>
        </p:nvSpPr>
        <p:spPr>
          <a:xfrm>
            <a:off x="457200" y="914400"/>
            <a:ext cx="11239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Proving It With Real Judgments</a:t>
            </a:r>
            <a:endParaRPr b="1" sz="3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29" name="Google Shape;229;p21"/>
          <p:cNvGrpSpPr/>
          <p:nvPr/>
        </p:nvGrpSpPr>
        <p:grpSpPr>
          <a:xfrm>
            <a:off x="457200" y="1714500"/>
            <a:ext cx="3600600" cy="3143400"/>
            <a:chOff x="0" y="0"/>
            <a:chExt cx="3600600" cy="3143400"/>
          </a:xfrm>
        </p:grpSpPr>
        <p:sp>
          <p:nvSpPr>
            <p:cNvPr id="230" name="Google Shape;230;p21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1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QUERY SETUP</a:t>
              </a:r>
              <a:endParaRPr b="1" i="0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22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“sewing machine”</a:t>
              </a:r>
              <a:endParaRPr b="1" i="0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i="0" lang="en-US" sz="1300">
                  <a:solidFill>
                    <a:srgbClr val="0284C7"/>
                  </a:solidFill>
                  <a:latin typeface="Calibri"/>
                  <a:ea typeface="Calibri"/>
                  <a:cs typeface="Calibri"/>
                  <a:sym typeface="Calibri"/>
                </a:rPr>
                <a:t>has_ground_truth</a:t>
              </a:r>
              <a:r>
                <a:rPr b="0" i="0" lang="en-US" sz="13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 → true</a:t>
              </a:r>
              <a:endParaRPr b="1" i="0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Scored directly against real ESCI ground truth, not internal metrics.</a:t>
              </a:r>
              <a:endParaRPr b="1" i="0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>
            <a:off x="4295775" y="1714500"/>
            <a:ext cx="3600600" cy="3143400"/>
            <a:chOff x="0" y="0"/>
            <a:chExt cx="3600600" cy="3143400"/>
          </a:xfrm>
        </p:grpSpPr>
        <p:sp>
          <p:nvSpPr>
            <p:cNvPr id="233" name="Google Shape;233;p21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1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NDCG@10 PROGRESSION</a:t>
              </a:r>
              <a:endParaRPr b="1" i="0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0" i="0" lang="en-US" sz="13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Stock BM25: </a:t>
              </a:r>
              <a:r>
                <a:rPr b="1" i="0" lang="en-US" sz="135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0.81</a:t>
              </a:r>
              <a:endParaRPr b="1" i="0" sz="13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i="0" lang="en-US" sz="13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Optimized BM25: </a:t>
              </a:r>
              <a:r>
                <a:rPr b="1" i="0" lang="en-US" sz="135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0.91</a:t>
              </a:r>
              <a:endParaRPr b="1" i="0" sz="13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135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Hybrid Search: 0.95</a:t>
              </a:r>
              <a:endParaRPr b="1" i="0" sz="13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i="0" lang="en-US" sz="13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Reranked: </a:t>
              </a:r>
              <a:r>
                <a:rPr b="1" i="0" lang="en-US" sz="135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0.92</a:t>
              </a:r>
              <a:endParaRPr b="1" i="0" sz="13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5" name="Google Shape;235;p21"/>
          <p:cNvGrpSpPr/>
          <p:nvPr/>
        </p:nvGrpSpPr>
        <p:grpSpPr>
          <a:xfrm>
            <a:off x="8134350" y="1714500"/>
            <a:ext cx="3600600" cy="3143400"/>
            <a:chOff x="0" y="0"/>
            <a:chExt cx="3600600" cy="3143400"/>
          </a:xfrm>
        </p:grpSpPr>
        <p:sp>
          <p:nvSpPr>
            <p:cNvPr id="236" name="Google Shape;236;p21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1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BENCHMARK COMPARISON</a:t>
              </a:r>
              <a:endParaRPr b="1" i="0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22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+0.14 Max Gain</a:t>
              </a:r>
              <a:endParaRPr b="1" i="0" sz="12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i="0" lang="en-US" sz="135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Hybrid 0.95</a:t>
              </a:r>
              <a:r>
                <a:rPr b="0" i="0" lang="en-US" sz="13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vs Stock 0.81</a:t>
              </a:r>
              <a:endParaRPr b="1" i="0" sz="13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i="0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Significant relevance increase across all pipeline stages over standard default search.</a:t>
              </a:r>
              <a:endParaRPr b="1" i="0" sz="13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8" name="Google Shape;238;p21"/>
          <p:cNvGrpSpPr/>
          <p:nvPr/>
        </p:nvGrpSpPr>
        <p:grpSpPr>
          <a:xfrm>
            <a:off x="457200" y="5143500"/>
            <a:ext cx="11277600" cy="952500"/>
            <a:chOff x="0" y="0"/>
            <a:chExt cx="11277600" cy="952500"/>
          </a:xfrm>
        </p:grpSpPr>
        <p:sp>
          <p:nvSpPr>
            <p:cNvPr id="239" name="Google Shape;239;p21"/>
            <p:cNvSpPr/>
            <p:nvPr/>
          </p:nvSpPr>
          <p:spPr>
            <a:xfrm>
              <a:off x="0" y="0"/>
              <a:ext cx="11277600" cy="952500"/>
            </a:xfrm>
            <a:prstGeom prst="roundRect">
              <a:avLst>
                <a:gd fmla="val 8000" name="adj"/>
              </a:avLst>
            </a:prstGeom>
            <a:solidFill>
              <a:srgbClr val="0A25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21"/>
            <p:cNvSpPr txBox="1"/>
            <p:nvPr/>
          </p:nvSpPr>
          <p:spPr>
            <a:xfrm>
              <a:off x="304800" y="190500"/>
              <a:ext cx="1066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KEY TAKEAWAY</a:t>
              </a:r>
              <a:endParaRPr b="1" sz="111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203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Every optimized stage beat the stock baseline — graded by Amazon's own relevance judgments.</a:t>
              </a:r>
              <a:endParaRPr sz="1295"/>
            </a:p>
          </p:txBody>
        </p:sp>
      </p:grpSp>
      <p:sp>
        <p:nvSpPr>
          <p:cNvPr id="241" name="Google Shape;241;p21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/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1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p21" title="KMWLogo_blk_blu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2"/>
          <p:cNvSpPr txBox="1"/>
          <p:nvPr/>
        </p:nvSpPr>
        <p:spPr>
          <a:xfrm>
            <a:off x="457200" y="571500"/>
            <a:ext cx="11239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44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3 RECAP</a:t>
            </a:r>
            <a:endParaRPr b="1" sz="944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2"/>
          <p:cNvSpPr txBox="1"/>
          <p:nvPr/>
        </p:nvSpPr>
        <p:spPr>
          <a:xfrm>
            <a:off x="457200" y="914400"/>
            <a:ext cx="11239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Classification &amp; Ingestion</a:t>
            </a:r>
            <a:endParaRPr b="1" sz="3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22"/>
          <p:cNvGrpSpPr/>
          <p:nvPr/>
        </p:nvGrpSpPr>
        <p:grpSpPr>
          <a:xfrm>
            <a:off x="457200" y="1714500"/>
            <a:ext cx="3600600" cy="3143400"/>
            <a:chOff x="0" y="0"/>
            <a:chExt cx="3600600" cy="3143400"/>
          </a:xfrm>
        </p:grpSpPr>
        <p:sp>
          <p:nvSpPr>
            <p:cNvPr id="251" name="Google Shape;251;p22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2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PHASE 1: THE DISPUTE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“show me tan boots”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Filter resolves to </a:t>
              </a: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yellow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, passes quality gate anyway.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User Feedback: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“that’s not tan, that’s tagged yellow which is wrong”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3" name="Google Shape;253;p22"/>
          <p:cNvGrpSpPr/>
          <p:nvPr/>
        </p:nvGrpSpPr>
        <p:grpSpPr>
          <a:xfrm>
            <a:off x="4295775" y="1714500"/>
            <a:ext cx="3600600" cy="3143400"/>
            <a:chOff x="0" y="0"/>
            <a:chExt cx="3600600" cy="3143400"/>
          </a:xfrm>
        </p:grpSpPr>
        <p:sp>
          <p:nvSpPr>
            <p:cNvPr id="254" name="Google Shape;254;p22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2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PHASE 2: LIVE RE-INDEX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Lucille Pipeline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Correction verified dynamically.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Action: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Triggered real Lucille re-index across </a:t>
              </a: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9,618 products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without manual query tuning.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6" name="Google Shape;256;p22"/>
          <p:cNvGrpSpPr/>
          <p:nvPr/>
        </p:nvGrpSpPr>
        <p:grpSpPr>
          <a:xfrm>
            <a:off x="8134350" y="1714500"/>
            <a:ext cx="3600600" cy="3143400"/>
            <a:chOff x="0" y="0"/>
            <a:chExt cx="3600600" cy="3143400"/>
          </a:xfrm>
        </p:grpSpPr>
        <p:sp>
          <p:nvSpPr>
            <p:cNvPr id="257" name="Google Shape;257;p22"/>
            <p:cNvSpPr/>
            <p:nvPr/>
          </p:nvSpPr>
          <p:spPr>
            <a:xfrm>
              <a:off x="0" y="0"/>
              <a:ext cx="3600600" cy="3143400"/>
            </a:xfrm>
            <a:prstGeom prst="roundRect">
              <a:avLst>
                <a:gd fmla="val 24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2"/>
            <p:cNvSpPr txBox="1"/>
            <p:nvPr/>
          </p:nvSpPr>
          <p:spPr>
            <a:xfrm>
              <a:off x="228600" y="228600"/>
              <a:ext cx="31434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PHASE 3: PERMANENT FIX</a:t>
              </a:r>
              <a:endParaRPr b="1" sz="11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2540"/>
                  </a:solidFill>
                  <a:latin typeface="Calibri"/>
                  <a:ea typeface="Calibri"/>
                  <a:cs typeface="Calibri"/>
                  <a:sym typeface="Calibri"/>
                </a:rPr>
                <a:t>“show me tan boots”</a:t>
              </a:r>
              <a:endParaRPr b="1" sz="16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New Session: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Filter now correctly reads </a:t>
              </a:r>
              <a:r>
                <a:rPr b="1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brown</a:t>
              </a: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— permanently updated in the catalog.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44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Resolved systemic catalog error at the source.</a:t>
              </a:r>
              <a:endParaRPr b="0" sz="944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9" name="Google Shape;259;p22"/>
          <p:cNvGrpSpPr/>
          <p:nvPr/>
        </p:nvGrpSpPr>
        <p:grpSpPr>
          <a:xfrm>
            <a:off x="457200" y="5143500"/>
            <a:ext cx="11277600" cy="952500"/>
            <a:chOff x="0" y="0"/>
            <a:chExt cx="11277600" cy="952500"/>
          </a:xfrm>
        </p:grpSpPr>
        <p:sp>
          <p:nvSpPr>
            <p:cNvPr id="260" name="Google Shape;260;p22"/>
            <p:cNvSpPr/>
            <p:nvPr/>
          </p:nvSpPr>
          <p:spPr>
            <a:xfrm>
              <a:off x="0" y="0"/>
              <a:ext cx="11277600" cy="952500"/>
            </a:xfrm>
            <a:prstGeom prst="roundRect">
              <a:avLst>
                <a:gd fmla="val 8000" name="adj"/>
              </a:avLst>
            </a:prstGeom>
            <a:solidFill>
              <a:srgbClr val="0A25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2"/>
            <p:cNvSpPr txBox="1"/>
            <p:nvPr/>
          </p:nvSpPr>
          <p:spPr>
            <a:xfrm>
              <a:off x="304800" y="190500"/>
              <a:ext cx="1066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44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KEY TAKEAWAY</a:t>
              </a:r>
              <a:endParaRPr b="1" sz="944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73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 confidently wrong result that passed every automated check — fixed by the catalog changing, not the query.</a:t>
              </a:r>
              <a:endParaRPr b="1" sz="944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2" name="Google Shape;262;p22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/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2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4" name="Google Shape;264;p22" title="KMWLogo_blk_blu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3"/>
          <p:cNvSpPr txBox="1"/>
          <p:nvPr/>
        </p:nvSpPr>
        <p:spPr>
          <a:xfrm>
            <a:off x="457200" y="914400"/>
            <a:ext cx="11239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One live application, three demos, one thesis</a:t>
            </a:r>
            <a:endParaRPr b="1" sz="3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0" name="Google Shape;270;p23"/>
          <p:cNvGrpSpPr/>
          <p:nvPr/>
        </p:nvGrpSpPr>
        <p:grpSpPr>
          <a:xfrm>
            <a:off x="457200" y="1714500"/>
            <a:ext cx="3600600" cy="1476300"/>
            <a:chOff x="0" y="0"/>
            <a:chExt cx="3600600" cy="1476300"/>
          </a:xfrm>
        </p:grpSpPr>
        <p:sp>
          <p:nvSpPr>
            <p:cNvPr id="271" name="Google Shape;271;p23"/>
            <p:cNvSpPr/>
            <p:nvPr/>
          </p:nvSpPr>
          <p:spPr>
            <a:xfrm>
              <a:off x="0" y="0"/>
              <a:ext cx="3600600" cy="1476300"/>
            </a:xfrm>
            <a:prstGeom prst="roundRect">
              <a:avLst>
                <a:gd fmla="val 516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23"/>
            <p:cNvSpPr txBox="1"/>
            <p:nvPr/>
          </p:nvSpPr>
          <p:spPr>
            <a:xfrm>
              <a:off x="190500" y="171450"/>
              <a:ext cx="3219600" cy="11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i="0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45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Hybrid retrieval, reranking, one bounded retry — never an unconstrained loop</a:t>
              </a:r>
              <a:endParaRPr b="1" i="0" sz="14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23"/>
          <p:cNvGrpSpPr/>
          <p:nvPr/>
        </p:nvGrpSpPr>
        <p:grpSpPr>
          <a:xfrm>
            <a:off x="4295775" y="1714500"/>
            <a:ext cx="3600600" cy="1476300"/>
            <a:chOff x="0" y="0"/>
            <a:chExt cx="3600600" cy="1476300"/>
          </a:xfrm>
        </p:grpSpPr>
        <p:sp>
          <p:nvSpPr>
            <p:cNvPr id="274" name="Google Shape;274;p23"/>
            <p:cNvSpPr/>
            <p:nvPr/>
          </p:nvSpPr>
          <p:spPr>
            <a:xfrm>
              <a:off x="0" y="0"/>
              <a:ext cx="3600600" cy="1476300"/>
            </a:xfrm>
            <a:prstGeom prst="roundRect">
              <a:avLst>
                <a:gd fmla="val 516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3"/>
            <p:cNvSpPr txBox="1"/>
            <p:nvPr/>
          </p:nvSpPr>
          <p:spPr>
            <a:xfrm>
              <a:off x="190500" y="171450"/>
              <a:ext cx="3219600" cy="11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i="0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45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Judgments diagnose when they exist; a confidence proxy carries every other query</a:t>
              </a:r>
              <a:endParaRPr b="1" i="0" sz="14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23"/>
          <p:cNvGrpSpPr/>
          <p:nvPr/>
        </p:nvGrpSpPr>
        <p:grpSpPr>
          <a:xfrm>
            <a:off x="8134350" y="1714500"/>
            <a:ext cx="3600600" cy="1476300"/>
            <a:chOff x="0" y="0"/>
            <a:chExt cx="3600600" cy="1476300"/>
          </a:xfrm>
        </p:grpSpPr>
        <p:sp>
          <p:nvSpPr>
            <p:cNvPr id="277" name="Google Shape;277;p23"/>
            <p:cNvSpPr/>
            <p:nvPr/>
          </p:nvSpPr>
          <p:spPr>
            <a:xfrm>
              <a:off x="0" y="0"/>
              <a:ext cx="3600600" cy="1476300"/>
            </a:xfrm>
            <a:prstGeom prst="roundRect">
              <a:avLst>
                <a:gd fmla="val 516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3"/>
            <p:cNvSpPr txBox="1"/>
            <p:nvPr/>
          </p:nvSpPr>
          <p:spPr>
            <a:xfrm>
              <a:off x="190500" y="171450"/>
              <a:ext cx="3219600" cy="11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i="0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45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The centerpiece: an agent that fixes the catalog, not just the answer</a:t>
              </a:r>
              <a:endParaRPr b="1" i="0" sz="14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23"/>
          <p:cNvGrpSpPr/>
          <p:nvPr/>
        </p:nvGrpSpPr>
        <p:grpSpPr>
          <a:xfrm>
            <a:off x="457200" y="3381375"/>
            <a:ext cx="11277600" cy="1476300"/>
            <a:chOff x="0" y="0"/>
            <a:chExt cx="11277600" cy="1476300"/>
          </a:xfrm>
        </p:grpSpPr>
        <p:sp>
          <p:nvSpPr>
            <p:cNvPr id="280" name="Google Shape;280;p23"/>
            <p:cNvSpPr/>
            <p:nvPr/>
          </p:nvSpPr>
          <p:spPr>
            <a:xfrm>
              <a:off x="0" y="0"/>
              <a:ext cx="11277600" cy="1476300"/>
            </a:xfrm>
            <a:prstGeom prst="roundRect">
              <a:avLst>
                <a:gd fmla="val 516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3"/>
            <p:cNvSpPr txBox="1"/>
            <p:nvPr/>
          </p:nvSpPr>
          <p:spPr>
            <a:xfrm>
              <a:off x="228600" y="171450"/>
              <a:ext cx="10820400" cy="11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00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04</a:t>
              </a:r>
              <a:endParaRPr b="1" i="0" sz="200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45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Every decision — intent, α, retry, repair — visible in the observability panel</a:t>
              </a:r>
              <a:endParaRPr b="1" i="0" sz="1450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" name="Google Shape;282;p23"/>
          <p:cNvGrpSpPr/>
          <p:nvPr/>
        </p:nvGrpSpPr>
        <p:grpSpPr>
          <a:xfrm>
            <a:off x="457200" y="5143500"/>
            <a:ext cx="11277600" cy="952500"/>
            <a:chOff x="0" y="0"/>
            <a:chExt cx="11277600" cy="952500"/>
          </a:xfrm>
        </p:grpSpPr>
        <p:sp>
          <p:nvSpPr>
            <p:cNvPr id="283" name="Google Shape;283;p23"/>
            <p:cNvSpPr/>
            <p:nvPr/>
          </p:nvSpPr>
          <p:spPr>
            <a:xfrm>
              <a:off x="0" y="0"/>
              <a:ext cx="11277600" cy="952500"/>
            </a:xfrm>
            <a:prstGeom prst="roundRect">
              <a:avLst>
                <a:gd fmla="val 8000" name="adj"/>
              </a:avLst>
            </a:prstGeom>
            <a:solidFill>
              <a:srgbClr val="0A25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3"/>
            <p:cNvSpPr txBox="1"/>
            <p:nvPr/>
          </p:nvSpPr>
          <p:spPr>
            <a:xfrm>
              <a:off x="304800" y="152400"/>
              <a:ext cx="10668000" cy="64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8">
                  <a:solidFill>
                    <a:srgbClr val="0EA5E9"/>
                  </a:solidFill>
                  <a:latin typeface="Calibri"/>
                  <a:ea typeface="Calibri"/>
                  <a:cs typeface="Calibri"/>
                  <a:sym typeface="Calibri"/>
                </a:rPr>
                <a:t>KEY TAKEAWAY</a:t>
              </a:r>
              <a:endParaRPr b="1" i="0" sz="1018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i="0" lang="en-US" sz="166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Genuinely agentic isn't more autonomy. It's a system that knows when to stop, retry once, or admit the catalog is wrong.</a:t>
              </a:r>
              <a:endParaRPr b="1" i="0" sz="1018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5" name="Google Shape;285;p23"/>
          <p:cNvSpPr txBox="1"/>
          <p:nvPr/>
        </p:nvSpPr>
        <p:spPr>
          <a:xfrm>
            <a:off x="457200" y="533400"/>
            <a:ext cx="11239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CLOSING — TAKEAWAYS</a:t>
            </a:r>
            <a:endParaRPr b="1" i="0" sz="1200">
              <a:solidFill>
                <a:srgbClr val="0369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3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 </a:t>
            </a: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/ </a:t>
            </a: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3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8" name="Google Shape;288;p23" title="KMWLogo_blk_blu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 txBox="1"/>
          <p:nvPr/>
        </p:nvSpPr>
        <p:spPr>
          <a:xfrm>
            <a:off x="640080" y="1952915"/>
            <a:ext cx="11247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2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609455" y="2390878"/>
            <a:ext cx="112470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00"/>
              <a:buFont typeface="Arial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24" title="KMWLogo_wh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75" y="361525"/>
            <a:ext cx="3593551" cy="1101525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4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4"/>
          <p:cNvSpPr txBox="1"/>
          <p:nvPr/>
        </p:nvSpPr>
        <p:spPr>
          <a:xfrm>
            <a:off x="609443" y="3475325"/>
            <a:ext cx="109728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Reimagining search from ingestion to relevancy</a:t>
            </a:r>
            <a:endParaRPr b="1" sz="3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09443" y="4237325"/>
            <a:ext cx="109728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One live LangGraph agent — adaptive retrieval, real ESCI-judged proof, and a catalog it fixes live.</a:t>
            </a:r>
            <a:endParaRPr b="0" sz="1600">
              <a:solidFill>
                <a:srgbClr val="7DD3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4"/>
          <p:cNvSpPr txBox="1"/>
          <p:nvPr/>
        </p:nvSpPr>
        <p:spPr>
          <a:xfrm>
            <a:off x="609443" y="5142200"/>
            <a:ext cx="109728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Kevin M. Butler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4"/>
          <p:cNvSpPr txBox="1"/>
          <p:nvPr/>
        </p:nvSpPr>
        <p:spPr>
          <a:xfrm>
            <a:off x="609443" y="5494625"/>
            <a:ext cx="73152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Senior Search and AI Engineer</a:t>
            </a:r>
            <a:endParaRPr b="0" sz="1400">
              <a:solidFill>
                <a:srgbClr val="B8C5D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5"/>
          <p:cNvSpPr txBox="1"/>
          <p:nvPr/>
        </p:nvSpPr>
        <p:spPr>
          <a:xfrm>
            <a:off x="365760" y="228600"/>
            <a:ext cx="1371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 </a:t>
            </a: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/ </a:t>
            </a: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9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5"/>
          <p:cNvSpPr txBox="1"/>
          <p:nvPr/>
        </p:nvSpPr>
        <p:spPr>
          <a:xfrm>
            <a:off x="1921298" y="6513375"/>
            <a:ext cx="1005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5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196596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Search Relevance Workbench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5"/>
          <p:cNvSpPr txBox="1"/>
          <p:nvPr/>
        </p:nvSpPr>
        <p:spPr>
          <a:xfrm>
            <a:off x="4572000" y="1965960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docs.opensearch.org/latest/search-plugins/search-relevance/using-search-relevance-workbench/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5"/>
          <p:cNvSpPr txBox="1"/>
          <p:nvPr/>
        </p:nvSpPr>
        <p:spPr>
          <a:xfrm>
            <a:off x="457200" y="244144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Judgments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0" y="2441448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docs.opensearch.org/latest/search-plugins/search-relevance/judgments/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5"/>
          <p:cNvSpPr txBox="1"/>
          <p:nvPr/>
        </p:nvSpPr>
        <p:spPr>
          <a:xfrm>
            <a:off x="457200" y="2916936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Evaluating search quality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0" y="2916936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docs.opensearch.org/latest/search-plugins/search-relevance/evaluate-search-quality/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5"/>
          <p:cNvSpPr txBox="1"/>
          <p:nvPr/>
        </p:nvSpPr>
        <p:spPr>
          <a:xfrm>
            <a:off x="457200" y="3392424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Optimizing hybrid search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5"/>
          <p:cNvSpPr txBox="1"/>
          <p:nvPr/>
        </p:nvSpPr>
        <p:spPr>
          <a:xfrm>
            <a:off x="4572000" y="3392424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docs.opensearch.org/latest/search-plugins/search-relevance/optimize-hybrid-search/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5"/>
          <p:cNvSpPr txBox="1"/>
          <p:nvPr/>
        </p:nvSpPr>
        <p:spPr>
          <a:xfrm>
            <a:off x="457200" y="3867912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Exploring experiment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4572000" y="3867912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docs.opensearch.org/latest/search-plugins/search-relevance/explore-experiment-results/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5"/>
          <p:cNvSpPr txBox="1"/>
          <p:nvPr/>
        </p:nvSpPr>
        <p:spPr>
          <a:xfrm>
            <a:off x="457200" y="43434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Monitoring search quality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5"/>
          <p:cNvSpPr txBox="1"/>
          <p:nvPr/>
        </p:nvSpPr>
        <p:spPr>
          <a:xfrm>
            <a:off x="4572000" y="4343400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docs.opensearch.org/latest/search-plugins/search-relevance/regularly-scheduled-experiments/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25"/>
          <p:cNvSpPr txBox="1"/>
          <p:nvPr/>
        </p:nvSpPr>
        <p:spPr>
          <a:xfrm>
            <a:off x="457200" y="481888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Relevance agent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5"/>
          <p:cNvSpPr txBox="1"/>
          <p:nvPr/>
        </p:nvSpPr>
        <p:spPr>
          <a:xfrm>
            <a:off x="4572000" y="4818888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docs.opensearch.org/latest/search-plugins/search-relevance/relevance-agent/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457200" y="5294375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LangGraph evaluator–optimizer workflows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25"/>
          <p:cNvSpPr txBox="1"/>
          <p:nvPr/>
        </p:nvSpPr>
        <p:spPr>
          <a:xfrm>
            <a:off x="4572000" y="5294375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docs.langchain.com/oss/python/langgraph/workflows-agents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25"/>
          <p:cNvSpPr txBox="1"/>
          <p:nvPr/>
        </p:nvSpPr>
        <p:spPr>
          <a:xfrm>
            <a:off x="457200" y="5769863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GitHub repository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5"/>
          <p:cNvSpPr txBox="1"/>
          <p:nvPr/>
        </p:nvSpPr>
        <p:spPr>
          <a:xfrm>
            <a:off x="4572000" y="5769863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github.com/kmwtechnology/opensearch2026-agentic-search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8" name="Google Shape;328;p25" title="KMWLogo_blk_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9924" y="314175"/>
            <a:ext cx="1644399" cy="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