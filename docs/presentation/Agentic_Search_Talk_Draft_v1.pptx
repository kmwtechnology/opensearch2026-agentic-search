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SzPts val="1100"/>
              <a:buNone/>
            </a:pPr>
            <a:r>
              <a:rPr lang="en-US"/>
              <a:t>Title</a:t>
            </a:r>
            <a:endParaRPr/>
          </a:p>
          <a:p>
            <a:pPr indent="0" lvl="0" marL="0" rtl="0" algn="l">
              <a:lnSpc>
                <a:spcPct val="115000"/>
              </a:lnSpc>
              <a:spcBef>
                <a:spcPts val="1200"/>
              </a:spcBef>
              <a:spcAft>
                <a:spcPts val="1200"/>
              </a:spcAft>
              <a:buSzPts val="1100"/>
              <a:buNone/>
            </a:pPr>
            <a:r>
              <a:rPr lang="en-US"/>
              <a:t>I'm Kevin Butler, a search engineer at KMW Technology — we do search relevancy consulting. This isn't a product pitch: it's a live demonstration of how we solve real search-relevance problems using modern agentic tooling built on top of OpenSearch. Everything you'll see today is running live, against a real e-commerce catalog, not canned screenshots. By the end, you'll have watched one LangGraph agent classify intent, retry its own retrieval, get graded against real relevance judgments, and fix a wrong catalog tag live — all in the same running application.</a:t>
            </a:r>
            <a:endParaRPr/>
          </a:p>
        </p:txBody>
      </p:sp>
      <p:sp>
        <p:nvSpPr>
          <p:cNvPr id="83" name="Google Shape;83;p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fb9ea3d9b1_28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fb9ea3d9b1_28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This slide outlines the four core service offerings from KMW: enterprise search and AI applications, search audits and optimization, relevancy engineering, and performance and scaling tuning. You can use these points to highlight how specialized engineering transforms enterprise search capabilities and direct the audience to kmwllc.com.</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US"/>
              <a:t>The Problem / ESCI dataset</a:t>
            </a:r>
            <a:endParaRPr/>
          </a:p>
          <a:p>
            <a:pPr indent="0" lvl="0" marL="0" rtl="0" algn="l">
              <a:spcBef>
                <a:spcPts val="1200"/>
              </a:spcBef>
              <a:spcAft>
                <a:spcPts val="0"/>
              </a:spcAft>
              <a:buNone/>
            </a:pPr>
            <a:r>
              <a:rPr lang="en-US"/>
              <a:t>The core problem with modern RAG-style search: weak retrieval is invisible. When the generator is fluent, it writes right over bad retrieval — the answer reads confidently even when the underlying documents are wrong. Confidence is not evidence. That's the question this whole talk answers: how can a search system recognize when its own retrieval is weak, change course, and — when the root cause is bad catalog data — fix that data on the fly, instead of just serving a better-sounding wrong answer?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benchmark all of this against Amazon's ESCI dataset — Amazon's Shopping Queries Dataset — roughly 1.8 million real shopper queries paired with human relevance judgments. The four categories are Explicit (an exact query match), Substitute (a functional alternative), Complement (an item that pairs well or is an accessory), and Irrelevant (an unrelated result). We use ESCI because it's real shopper intent, not synthetic queries, and it ships with graded judgments we can score against — that's what Demo 2 uses directly.</a:t>
            </a:r>
            <a:endParaRPr/>
          </a:p>
        </p:txBody>
      </p:sp>
      <p:sp>
        <p:nvSpPr>
          <p:cNvPr id="132" name="Google Shape;132;p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b9ea3d9b1_0_7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g3fb9ea3d9b1_0_7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US"/>
              <a:t>Cast of Characters</a:t>
            </a:r>
            <a:endParaRPr/>
          </a:p>
          <a:p>
            <a:pPr indent="0" lvl="0" marL="0" rtl="0" algn="l">
              <a:spcBef>
                <a:spcPts val="1200"/>
              </a:spcBef>
              <a:spcAft>
                <a:spcPts val="0"/>
              </a:spcAft>
              <a:buNone/>
            </a:pPr>
            <a:r>
              <a:rPr lang="en-US"/>
              <a:t>Before we get into the pipeline, four names you'll hear repeatedly. The Lucille indexing pipeline is the Java ETL that processes and transforms documents before they ever reach the search index — it's not OpenSearch itself, it's what feeds it. OpenSearch is where documents actually live, giving us both BM25 lexical keyword matching and vector-based semantic retrieval in the same index. The LangGraph agent is the orchestration layer — it runs the continuous reasoning loop: classify intent, retrieve, rerank, verify. And Gemini is the foundation model the agent calls into for intent classification, generation, and quality judgment — it's hosted on Google Cloud in this build, though the same LangGraph orchestration would run unchanged against a model running locally. Four modular roles, working in tandem, is what makes the self-correcting behavior in the rest of the talk possible.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fb9ea3d9b1_0_22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4" name="Google Shape;184;g3fb9ea3d9b1_0_22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Full Toolset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the reference slide for the full stack, top to bottom — I'll move through it quickly now, and it's here if anyone wants to come back to it during Q&amp;A. The bottom half is the baseline relevancy work most search teams already have: type-ahead and autocomplete, spellcheck and phonetic matching, synonym expansion, field boosts. None of that goes away — the agent doesn't replace it, it sits on top of it. The top half is the agentic layer this talk is actually about: intent classification and alpha weighting, cross-encoder reranking with a bounded quality-gate retry, taxonomy growth and schema correction, and an LLM judge doing continuous ESCI-based evaluation. The thesis in one line: a high-quality baseline retrieval stack, plus an agentic feedback loop that keeps correcting both the query and the catalog underneath it.</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b9ea3d9b1_0_5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3" name="Google Shape;203;g3fb9ea3d9b1_0_50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Talk Thesis / The Agentic Loop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 when does a search agent actually earn the word "agentic"? Our answer: when it can improve results on the fly, and fix the catalog itself. That happens through a loop, not a straight line: classify intent, retrieve, rerank, run a quality check, and — if that check fails — retry exactly once with adjusted parameters before moving on to answer and verify. That "retry once" is deliberate and bounded — this is not an open-ended agent loop that can spin forever; it gets one shot to do better, then it has to commit. Everything in the rest of this talk is really just zooming into different points on this loop.</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fb74e8e66d_2_49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Structure</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US"/>
              <a:t>Three demos, one live application, no slide-to-slide fakery. Demo 1 is a single conversation where context carries forward turn to turn. Demo 2 takes one of those queries and scores it against real academic relevance judgments, not an internal metric we made up. Demo 3 is the centerpiece — a bad tag in the catalog, disputed by a user, fixed live, in front of you. The common thread: any query gets at most one retry and, when the catalog itself is wrong, one repair — this system enriches the catalog, not just the individual query.</a:t>
            </a:r>
            <a:endParaRPr/>
          </a:p>
        </p:txBody>
      </p:sp>
      <p:sp>
        <p:nvSpPr>
          <p:cNvPr id="240" name="Google Shape;240;g3fb74e8e66d_2_49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fb74e8e66d_2_69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0" name="Google Shape;260;g3fb74e8e66d_2_69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The Stack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End to end, this is one Docker Compose stack running entirely on my laptop — nothing here is calling out to a hosted backend except the model calls themselves. Lucille ingests and transforms documents; OpenSearch indexes them with both BM25 and HNSW vector search; a hybrid fusion layer retrieves and reranks with a local cross-encoder; LangGraph and LangChain orchestrate the reasoning, calling out to Gemini 2.5 Flash and Flash-Lite — that's the one piece that's cloud-hosted, on GCP, purely as a convenience; the same graph would run against a local model with no code changes. FastAPI and WebSocket serve it in real time with Postgres checkpointing state, and a React/Vite frontend gives us live visibility into what the agent is doing. All local, all live.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fb74e8e66d_2_22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Demo section divider</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US"/>
              <a:t>That's the architecture — now let's see it work. Three demos, starting with adaptive query enhancement.</a:t>
            </a:r>
            <a:endParaRPr/>
          </a:p>
        </p:txBody>
      </p:sp>
      <p:sp>
        <p:nvSpPr>
          <p:cNvPr id="290" name="Google Shape;290;g3fb74e8e66d_2_22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fb74e8e66d_2_135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3" name="Google Shape;303;g3fb74e8e66d_2_13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Demo 1 Recap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Three turns, one conversation, no re-typing filters. Turn one, "blue running shoes," comes back with alpha weighted toward lexical matching — 0.25 — because the query is literal, and both a color and a feature filter get applied automatically. Turn two, "only size 10," narrows the same ten results without re-searching at all — that's state, not a new query. Turn three, "what about trail running?" is where it gets interesting: alpha jumps to 0.70, semantic priority, because the question is no longer literal — and the rewrite carries both prior filters forward. Nobody set alpha per query; it climbed on its own as the questions got less literal. Under the hood, before hybrid search ever runs, the retriever node resolves that pronoun and comparative against conversation history — "what about trail running" plus the last two turns becomes "blue trail running shoes, size</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fb74e8e66d_2_15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0" name="Google Shape;330;g3fb74e8e66d_2_15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Demo 2 Recap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the one grounded entirely in real data, not vibes. "Sewing machine" is a query that has ground truth in the ESCI dataset, so instead of trusting our own internal confidence scores, we can score every stage of our pipeline against Amazon's own human relevance judgments using NDCG at 10. Stock BM25 starts at 0.81. Just optimizing BM25 gets us to 0.91. Hybrid search — combining lexical and vector retrieval — hits 0.95, the high point. Reranking alone, without the hybrid step, gets 0.92. The headline: hybrid beats stock by 0.14 NDCG points, and every optimization stage beat the baseline — graded by an external, academic ground truth, not a number we invented.</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3fb74e8e66d_2_17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1" name="Google Shape;351;g3fb74e8e66d_2_17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Demo 3 Recap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the centerpiece, so I'm going to slow down here. Phase one: a user searches "show me tan boots." The filter resolves to "yellow" — the record literally reads product_color_primary: yellow — and it passes the quality gate anyway, because a wrong-but-mapped tag looks perfectly confident to every automated check. The user pushes back: "that's not tan, that's tagged yellow, which is wrong." Phase two: that correction signal gets verified, and it triggers a real Lucille indexing pipeline re-index — not a mock, not a canned animation — across all 9,618 products, reclassifying the color_primary field, with no manual query tuning involved. Phase three: same query, new session, and the filter now correctly reads "brown" — permanently, in the catalog itself, not just for this one session. The takeaway: this was a confidently wrong result that passed every automated check we had, and what fixed it wasn't a smarter query — it was the catalog changing underneath the query.</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g3fb9ea3d9b1_0_129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2" name="Google Shape;372;g3fb9ea3d9b1_0_129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Demo 3 Extension (optional)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Time permitting, here's the other side of the same mechanism — not correcting a wrong value, but growing a missing one. "Waterproof hiking boots" expects a direct waterproof filter, but that attribute doesn't exist in the schema yet — is_waterproof is undefined, so the system falls back to unstructured text matching. The Lucille indexing pipeline extracts that attribute straight out of specs and product descriptions and bulk-augments all 9,618 products with the new derived field. Run the same query again in a new session, and it now matches is_waterproof: true directly, as a real structured filter. So the same loop that fixes a wrong tag can also grow the taxonomy to support filter dimensions that didn't exist before — agentic search isn't just correcting errors, it's continuously evolving the schema.</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g3fb74e8e66d_2_19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2" name="Google Shape;392;g3fb74e8e66d_2_19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Closing / Takeaways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Pulling it together: hybrid retrieval, reranking, and one bounded retry — never an unconstrained loop that could spin forever. Judgments diagnose relevance when ground truth exists; a confidence proxy carries every other query. The centerpiece is an agent that enriches the catalog, not just the answer in front of you. And every one of those decisions — intent, alpha, retry, repair — is visible in the observability panel; nothing is a black box. If there's one sentence to take away: agentic search doesn't replace relevancy tuning — it's the layer that knows when your retrieval, your reranker, or your catalog itself is the thing that needs enrichment.</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g3fb9ea3d9b1_0_20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6" name="Google Shape;416;g3fb9ea3d9b1_0_20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What's Next / Q&amp;A Runway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few honest directions this could go next, and good territory for questions. First, extending the correction loop beyond simple fields — nested schemas, compatibility matrices, multi-value attributes. Second, letting alpha tuning itself become evaluator-driven and adaptive in real time, rather than following the fixed heuristics you saw today. Third, scaling attribute growth past color and material into other filtering dimensions entirely. The common thread across all three: moving from reactive query fixes toward continuous, proactive catalog evolution.</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Thank You</a:t>
            </a:r>
            <a:endParaRPr/>
          </a:p>
          <a:p>
            <a:pPr indent="0" lvl="0" marL="0" rtl="0" algn="l">
              <a:lnSpc>
                <a:spcPct val="100000"/>
              </a:lnSpc>
              <a:spcBef>
                <a:spcPts val="0"/>
              </a:spcBef>
              <a:spcAft>
                <a:spcPts val="0"/>
              </a:spcAft>
              <a:buSzPts val="1100"/>
              <a:buNone/>
            </a:pPr>
            <a:r>
              <a:rPr lang="en-US"/>
              <a:t>That's the talk — one live agent, three demos, and a catalog that fixes itself in front of you. Happy to take questions, and the GitHub repo and further reading are on the next slide if you want to dig in afterward.</a:t>
            </a:r>
            <a:endParaRPr/>
          </a:p>
          <a:p>
            <a:pPr indent="0" lvl="0" marL="0" rtl="0" algn="l">
              <a:lnSpc>
                <a:spcPct val="100000"/>
              </a:lnSpc>
              <a:spcBef>
                <a:spcPts val="0"/>
              </a:spcBef>
              <a:spcAft>
                <a:spcPts val="0"/>
              </a:spcAft>
              <a:buSzPts val="1100"/>
              <a:buNone/>
            </a:pPr>
            <a:r>
              <a:t/>
            </a:r>
            <a:endParaRPr/>
          </a:p>
        </p:txBody>
      </p:sp>
      <p:sp>
        <p:nvSpPr>
          <p:cNvPr id="436" name="Google Shape;436;p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Sources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US"/>
              <a:t>These are the OpenSearch docs on the Search Relevance Workbench and judgments-based evaluation that this whole benchmarking approach is built on, plus the LangGraph evaluator-optimizer pattern the agent loop follows, and the GitHub repo for everything you saw today, code included.</a:t>
            </a:r>
            <a:endParaRPr/>
          </a:p>
          <a:p>
            <a:pPr indent="0" lvl="0" marL="0" rtl="0" algn="l">
              <a:lnSpc>
                <a:spcPct val="100000"/>
              </a:lnSpc>
              <a:spcBef>
                <a:spcPts val="0"/>
              </a:spcBef>
              <a:spcAft>
                <a:spcPts val="0"/>
              </a:spcAft>
              <a:buSzPts val="1100"/>
              <a:buNone/>
            </a:pPr>
            <a:r>
              <a:t/>
            </a:r>
            <a:endParaRPr/>
          </a:p>
        </p:txBody>
      </p:sp>
      <p:sp>
        <p:nvSpPr>
          <p:cNvPr id="450" name="Google Shape;450;p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3fb74e8e66d_68_0)">
  <p:cSld name="Generated (g3fb74e8e66d_68_0)">
    <p:spTree>
      <p:nvGrpSpPr>
        <p:cNvPr id="80" name="Shape 8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png"/><Relationship Id="rId5" Type="http://schemas.openxmlformats.org/officeDocument/2006/relationships/image" Target="../media/image17.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40"/>
        </a:solidFill>
      </p:bgPr>
    </p:bg>
    <p:spTree>
      <p:nvGrpSpPr>
        <p:cNvPr id="84" name="Shape 84"/>
        <p:cNvGrpSpPr/>
        <p:nvPr/>
      </p:nvGrpSpPr>
      <p:grpSpPr>
        <a:xfrm>
          <a:off x="0" y="0"/>
          <a:ext cx="0" cy="0"/>
          <a:chOff x="0" y="0"/>
          <a:chExt cx="0" cy="0"/>
        </a:xfrm>
      </p:grpSpPr>
      <p:sp>
        <p:nvSpPr>
          <p:cNvPr id="85" name="Google Shape;85;p14"/>
          <p:cNvSpPr/>
          <p:nvPr/>
        </p:nvSpPr>
        <p:spPr>
          <a:xfrm>
            <a:off x="0" y="0"/>
            <a:ext cx="164700" cy="6858000"/>
          </a:xfrm>
          <a:prstGeom prst="rect">
            <a:avLst/>
          </a:prstGeom>
          <a:solidFill>
            <a:srgbClr val="0EA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6" name="Google Shape;86;p14"/>
          <p:cNvSpPr txBox="1"/>
          <p:nvPr/>
        </p:nvSpPr>
        <p:spPr>
          <a:xfrm>
            <a:off x="609443" y="2000250"/>
            <a:ext cx="80964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1800">
                <a:solidFill>
                  <a:srgbClr val="0EA5E9"/>
                </a:solidFill>
                <a:latin typeface="Calibri"/>
                <a:ea typeface="Calibri"/>
                <a:cs typeface="Calibri"/>
                <a:sym typeface="Calibri"/>
              </a:rPr>
              <a:t>OPENSEARCHCON NORTH AMERICA 2026</a:t>
            </a:r>
            <a:endParaRPr b="1" i="0" sz="1800">
              <a:solidFill>
                <a:srgbClr val="0EA5E9"/>
              </a:solidFill>
              <a:latin typeface="Calibri"/>
              <a:ea typeface="Calibri"/>
              <a:cs typeface="Calibri"/>
              <a:sym typeface="Calibri"/>
            </a:endParaRPr>
          </a:p>
        </p:txBody>
      </p:sp>
      <p:sp>
        <p:nvSpPr>
          <p:cNvPr id="87" name="Google Shape;87;p14"/>
          <p:cNvSpPr txBox="1"/>
          <p:nvPr/>
        </p:nvSpPr>
        <p:spPr>
          <a:xfrm>
            <a:off x="609443" y="2381250"/>
            <a:ext cx="10972800" cy="825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5365">
                <a:solidFill>
                  <a:srgbClr val="FFFFFF"/>
                </a:solidFill>
                <a:latin typeface="Calibri"/>
                <a:ea typeface="Calibri"/>
                <a:cs typeface="Calibri"/>
                <a:sym typeface="Calibri"/>
              </a:rPr>
              <a:t>Agentic Search</a:t>
            </a:r>
            <a:endParaRPr b="1" i="0" sz="5365">
              <a:solidFill>
                <a:srgbClr val="FFFFFF"/>
              </a:solidFill>
              <a:latin typeface="Calibri"/>
              <a:ea typeface="Calibri"/>
              <a:cs typeface="Calibri"/>
              <a:sym typeface="Calibri"/>
            </a:endParaRPr>
          </a:p>
        </p:txBody>
      </p:sp>
      <p:sp>
        <p:nvSpPr>
          <p:cNvPr id="88" name="Google Shape;88;p14"/>
          <p:cNvSpPr txBox="1"/>
          <p:nvPr/>
        </p:nvSpPr>
        <p:spPr>
          <a:xfrm>
            <a:off x="609443" y="3381375"/>
            <a:ext cx="10972800" cy="5850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3800">
                <a:solidFill>
                  <a:srgbClr val="FFFFFF"/>
                </a:solidFill>
                <a:latin typeface="Calibri"/>
                <a:ea typeface="Calibri"/>
                <a:cs typeface="Calibri"/>
                <a:sym typeface="Calibri"/>
              </a:rPr>
              <a:t>Reimagining search from ingestion to relevancy</a:t>
            </a:r>
            <a:endParaRPr b="1" i="0" sz="3800">
              <a:solidFill>
                <a:srgbClr val="FFFFFF"/>
              </a:solidFill>
              <a:latin typeface="Calibri"/>
              <a:ea typeface="Calibri"/>
              <a:cs typeface="Calibri"/>
              <a:sym typeface="Calibri"/>
            </a:endParaRPr>
          </a:p>
        </p:txBody>
      </p:sp>
      <p:sp>
        <p:nvSpPr>
          <p:cNvPr id="89" name="Google Shape;89;p14"/>
          <p:cNvSpPr txBox="1"/>
          <p:nvPr/>
        </p:nvSpPr>
        <p:spPr>
          <a:xfrm>
            <a:off x="609443" y="4191000"/>
            <a:ext cx="10972800" cy="3078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2000">
                <a:solidFill>
                  <a:srgbClr val="7DD3FC"/>
                </a:solidFill>
                <a:latin typeface="Calibri"/>
                <a:ea typeface="Calibri"/>
                <a:cs typeface="Calibri"/>
                <a:sym typeface="Calibri"/>
              </a:rPr>
              <a:t>One live LangGraph agent — adaptive retrieval, real ESCI-judged proof, and a catalog it enriches live.</a:t>
            </a:r>
            <a:endParaRPr b="0" i="0" sz="2000">
              <a:solidFill>
                <a:srgbClr val="7DD3FC"/>
              </a:solidFill>
              <a:latin typeface="Calibri"/>
              <a:ea typeface="Calibri"/>
              <a:cs typeface="Calibri"/>
              <a:sym typeface="Calibri"/>
            </a:endParaRPr>
          </a:p>
        </p:txBody>
      </p:sp>
      <p:sp>
        <p:nvSpPr>
          <p:cNvPr id="90" name="Google Shape;90;p14"/>
          <p:cNvSpPr txBox="1"/>
          <p:nvPr/>
        </p:nvSpPr>
        <p:spPr>
          <a:xfrm>
            <a:off x="609443" y="5000625"/>
            <a:ext cx="10972800" cy="369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400">
                <a:solidFill>
                  <a:srgbClr val="FFFFFF"/>
                </a:solidFill>
                <a:latin typeface="Calibri"/>
                <a:ea typeface="Calibri"/>
                <a:cs typeface="Calibri"/>
                <a:sym typeface="Calibri"/>
              </a:rPr>
              <a:t>Kevin M. Butler</a:t>
            </a:r>
            <a:endParaRPr b="1" i="0" sz="2400">
              <a:solidFill>
                <a:srgbClr val="FFFFFF"/>
              </a:solidFill>
              <a:latin typeface="Calibri"/>
              <a:ea typeface="Calibri"/>
              <a:cs typeface="Calibri"/>
              <a:sym typeface="Calibri"/>
            </a:endParaRPr>
          </a:p>
        </p:txBody>
      </p:sp>
      <p:sp>
        <p:nvSpPr>
          <p:cNvPr id="91" name="Google Shape;91;p14"/>
          <p:cNvSpPr txBox="1"/>
          <p:nvPr/>
        </p:nvSpPr>
        <p:spPr>
          <a:xfrm>
            <a:off x="609443" y="5448300"/>
            <a:ext cx="80964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800">
                <a:solidFill>
                  <a:srgbClr val="B8C5D1"/>
                </a:solidFill>
                <a:latin typeface="Calibri"/>
                <a:ea typeface="Calibri"/>
                <a:cs typeface="Calibri"/>
                <a:sym typeface="Calibri"/>
              </a:rPr>
              <a:t>Senior Search and AI Engineer</a:t>
            </a:r>
            <a:endParaRPr b="0" i="0" sz="1800">
              <a:solidFill>
                <a:srgbClr val="B8C5D1"/>
              </a:solidFill>
              <a:latin typeface="Calibri"/>
              <a:ea typeface="Calibri"/>
              <a:cs typeface="Calibri"/>
              <a:sym typeface="Calibri"/>
            </a:endParaRPr>
          </a:p>
        </p:txBody>
      </p:sp>
      <p:pic>
        <p:nvPicPr>
          <p:cNvPr id="92" name="Google Shape;92;p14" title="KMWLogo_white.png"/>
          <p:cNvPicPr preferRelativeResize="0"/>
          <p:nvPr/>
        </p:nvPicPr>
        <p:blipFill>
          <a:blip r:embed="rId3">
            <a:alphaModFix/>
          </a:blip>
          <a:stretch>
            <a:fillRect/>
          </a:stretch>
        </p:blipFill>
        <p:spPr>
          <a:xfrm>
            <a:off x="640075" y="402350"/>
            <a:ext cx="3593551" cy="1101525"/>
          </a:xfrm>
          <a:prstGeom prst="rect">
            <a:avLst/>
          </a:prstGeom>
          <a:noFill/>
          <a:ln>
            <a:noFill/>
          </a:ln>
        </p:spPr>
      </p:pic>
      <p:sp>
        <p:nvSpPr>
          <p:cNvPr id="93" name="Google Shape;93;p14"/>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7" name="Shape 97"/>
        <p:cNvGrpSpPr/>
        <p:nvPr/>
      </p:nvGrpSpPr>
      <p:grpSpPr>
        <a:xfrm>
          <a:off x="0" y="0"/>
          <a:ext cx="0" cy="0"/>
          <a:chOff x="0" y="0"/>
          <a:chExt cx="0" cy="0"/>
        </a:xfrm>
      </p:grpSpPr>
      <p:grpSp>
        <p:nvGrpSpPr>
          <p:cNvPr id="98" name="Google Shape;98;p15"/>
          <p:cNvGrpSpPr/>
          <p:nvPr/>
        </p:nvGrpSpPr>
        <p:grpSpPr>
          <a:xfrm>
            <a:off x="457200" y="457200"/>
            <a:ext cx="9048900" cy="743100"/>
            <a:chOff x="0" y="0"/>
            <a:chExt cx="9048900" cy="743100"/>
          </a:xfrm>
        </p:grpSpPr>
        <p:sp>
          <p:nvSpPr>
            <p:cNvPr id="99" name="Google Shape;99;p15"/>
            <p:cNvSpPr txBox="1"/>
            <p:nvPr/>
          </p:nvSpPr>
          <p:spPr>
            <a:xfrm>
              <a:off x="0" y="0"/>
              <a:ext cx="9048900" cy="285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a:solidFill>
                    <a:srgbClr val="0369A1"/>
                  </a:solidFill>
                  <a:latin typeface="Calibri"/>
                  <a:ea typeface="Calibri"/>
                  <a:cs typeface="Calibri"/>
                  <a:sym typeface="Calibri"/>
                </a:rPr>
                <a:t>KMW SERVICE OFFERINGS</a:t>
              </a:r>
              <a:endParaRPr b="1" i="0" sz="1500">
                <a:solidFill>
                  <a:srgbClr val="0369A1"/>
                </a:solidFill>
                <a:latin typeface="Calibri"/>
                <a:ea typeface="Calibri"/>
                <a:cs typeface="Calibri"/>
                <a:sym typeface="Calibri"/>
              </a:endParaRPr>
            </a:p>
          </p:txBody>
        </p:sp>
        <p:sp>
          <p:nvSpPr>
            <p:cNvPr id="100" name="Google Shape;100;p15"/>
            <p:cNvSpPr txBox="1"/>
            <p:nvPr/>
          </p:nvSpPr>
          <p:spPr>
            <a:xfrm>
              <a:off x="0" y="266700"/>
              <a:ext cx="9048900" cy="476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060">
                  <a:solidFill>
                    <a:srgbClr val="0A2540"/>
                  </a:solidFill>
                  <a:latin typeface="Calibri"/>
                  <a:ea typeface="Calibri"/>
                  <a:cs typeface="Calibri"/>
                  <a:sym typeface="Calibri"/>
                </a:rPr>
                <a:t>Search &amp; AI Professional Services</a:t>
              </a:r>
              <a:endParaRPr b="1" i="0" sz="3060">
                <a:solidFill>
                  <a:srgbClr val="0A2540"/>
                </a:solidFill>
                <a:latin typeface="Calibri"/>
                <a:ea typeface="Calibri"/>
                <a:cs typeface="Calibri"/>
                <a:sym typeface="Calibri"/>
              </a:endParaRPr>
            </a:p>
          </p:txBody>
        </p:sp>
      </p:grpSp>
      <p:pic>
        <p:nvPicPr>
          <p:cNvPr id="101" name="Google Shape;101;p15"/>
          <p:cNvPicPr preferRelativeResize="0"/>
          <p:nvPr/>
        </p:nvPicPr>
        <p:blipFill rotWithShape="1">
          <a:blip r:embed="rId4">
            <a:alphaModFix/>
          </a:blip>
          <a:srcRect b="0" l="0" r="0" t="0"/>
          <a:stretch/>
        </p:blipFill>
        <p:spPr>
          <a:xfrm>
            <a:off x="10059924" y="314173"/>
            <a:ext cx="1644300" cy="645900"/>
          </a:xfrm>
          <a:prstGeom prst="rect">
            <a:avLst/>
          </a:prstGeom>
          <a:noFill/>
          <a:ln>
            <a:noFill/>
          </a:ln>
        </p:spPr>
      </p:pic>
      <p:grpSp>
        <p:nvGrpSpPr>
          <p:cNvPr id="102" name="Google Shape;102;p15"/>
          <p:cNvGrpSpPr/>
          <p:nvPr/>
        </p:nvGrpSpPr>
        <p:grpSpPr>
          <a:xfrm>
            <a:off x="457200" y="1428750"/>
            <a:ext cx="5448300" cy="1714500"/>
            <a:chOff x="0" y="0"/>
            <a:chExt cx="5448300" cy="1714500"/>
          </a:xfrm>
        </p:grpSpPr>
        <p:sp>
          <p:nvSpPr>
            <p:cNvPr id="103" name="Google Shape;103;p15"/>
            <p:cNvSpPr/>
            <p:nvPr/>
          </p:nvSpPr>
          <p:spPr>
            <a:xfrm>
              <a:off x="0" y="0"/>
              <a:ext cx="5448300" cy="1714500"/>
            </a:xfrm>
            <a:prstGeom prst="roundRect">
              <a:avLst>
                <a:gd fmla="val 444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4" name="Google Shape;104;p15"/>
            <p:cNvSpPr txBox="1"/>
            <p:nvPr/>
          </p:nvSpPr>
          <p:spPr>
            <a:xfrm>
              <a:off x="228600" y="152400"/>
              <a:ext cx="4991100" cy="1409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01 / APPLICATIONS</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2000">
                  <a:solidFill>
                    <a:srgbClr val="0A2540"/>
                  </a:solidFill>
                  <a:latin typeface="Calibri"/>
                  <a:ea typeface="Calibri"/>
                  <a:cs typeface="Calibri"/>
                  <a:sym typeface="Calibri"/>
                </a:rPr>
                <a:t>Enterprise Search &amp; AI Applications</a:t>
              </a:r>
              <a:endParaRPr b="1" i="0" sz="1300">
                <a:solidFill>
                  <a:srgbClr val="0EA5E9"/>
                </a:solidFill>
                <a:latin typeface="Calibri"/>
                <a:ea typeface="Calibri"/>
                <a:cs typeface="Calibri"/>
                <a:sym typeface="Calibri"/>
              </a:endParaRPr>
            </a:p>
            <a:p>
              <a:pPr indent="0" lvl="0" marL="0" rtl="0" algn="l">
                <a:spcBef>
                  <a:spcPts val="600"/>
                </a:spcBef>
                <a:spcAft>
                  <a:spcPts val="0"/>
                </a:spcAft>
                <a:buNone/>
              </a:pPr>
              <a:r>
                <a:rPr b="0" i="0" lang="en-US" sz="1400">
                  <a:solidFill>
                    <a:srgbClr val="475569"/>
                  </a:solidFill>
                  <a:latin typeface="Calibri"/>
                  <a:ea typeface="Calibri"/>
                  <a:cs typeface="Calibri"/>
                  <a:sym typeface="Calibri"/>
                </a:rPr>
                <a:t>Custom AI-powered search architectures, intelligent agent integration, and modern retrieval systems built for enterprise scale.</a:t>
              </a:r>
              <a:endParaRPr b="1" i="0" sz="1300">
                <a:solidFill>
                  <a:srgbClr val="0EA5E9"/>
                </a:solidFill>
                <a:latin typeface="Calibri"/>
                <a:ea typeface="Calibri"/>
                <a:cs typeface="Calibri"/>
                <a:sym typeface="Calibri"/>
              </a:endParaRPr>
            </a:p>
          </p:txBody>
        </p:sp>
      </p:grpSp>
      <p:grpSp>
        <p:nvGrpSpPr>
          <p:cNvPr id="105" name="Google Shape;105;p15"/>
          <p:cNvGrpSpPr/>
          <p:nvPr/>
        </p:nvGrpSpPr>
        <p:grpSpPr>
          <a:xfrm>
            <a:off x="6286500" y="1428750"/>
            <a:ext cx="5448300" cy="1714500"/>
            <a:chOff x="0" y="0"/>
            <a:chExt cx="5448300" cy="1714500"/>
          </a:xfrm>
        </p:grpSpPr>
        <p:sp>
          <p:nvSpPr>
            <p:cNvPr id="106" name="Google Shape;106;p15"/>
            <p:cNvSpPr/>
            <p:nvPr/>
          </p:nvSpPr>
          <p:spPr>
            <a:xfrm>
              <a:off x="0" y="0"/>
              <a:ext cx="5448300" cy="1714500"/>
            </a:xfrm>
            <a:prstGeom prst="roundRect">
              <a:avLst>
                <a:gd fmla="val 444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7" name="Google Shape;107;p15"/>
            <p:cNvSpPr txBox="1"/>
            <p:nvPr/>
          </p:nvSpPr>
          <p:spPr>
            <a:xfrm>
              <a:off x="228600" y="152400"/>
              <a:ext cx="4991100" cy="1409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02 / AUDITS &amp; OPTIMIZATION</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2000">
                  <a:solidFill>
                    <a:srgbClr val="0A2540"/>
                  </a:solidFill>
                  <a:latin typeface="Calibri"/>
                  <a:ea typeface="Calibri"/>
                  <a:cs typeface="Calibri"/>
                  <a:sym typeface="Calibri"/>
                </a:rPr>
                <a:t>Search Audits</a:t>
              </a:r>
              <a:endParaRPr b="1" i="0" sz="1300">
                <a:solidFill>
                  <a:srgbClr val="0EA5E9"/>
                </a:solidFill>
                <a:latin typeface="Calibri"/>
                <a:ea typeface="Calibri"/>
                <a:cs typeface="Calibri"/>
                <a:sym typeface="Calibri"/>
              </a:endParaRPr>
            </a:p>
            <a:p>
              <a:pPr indent="0" lvl="0" marL="0" rtl="0" algn="l">
                <a:spcBef>
                  <a:spcPts val="600"/>
                </a:spcBef>
                <a:spcAft>
                  <a:spcPts val="0"/>
                </a:spcAft>
                <a:buNone/>
              </a:pPr>
              <a:r>
                <a:rPr b="0" i="0" lang="en-US" sz="1400">
                  <a:solidFill>
                    <a:srgbClr val="475569"/>
                  </a:solidFill>
                  <a:latin typeface="Calibri"/>
                  <a:ea typeface="Calibri"/>
                  <a:cs typeface="Calibri"/>
                  <a:sym typeface="Calibri"/>
                </a:rPr>
                <a:t>Comprehensive cluster health analysis, configuration reviews, and targeted intervention to fix and optimize existing clusters.</a:t>
              </a:r>
              <a:endParaRPr b="1" i="0" sz="1300">
                <a:solidFill>
                  <a:srgbClr val="0EA5E9"/>
                </a:solidFill>
                <a:latin typeface="Calibri"/>
                <a:ea typeface="Calibri"/>
                <a:cs typeface="Calibri"/>
                <a:sym typeface="Calibri"/>
              </a:endParaRPr>
            </a:p>
          </p:txBody>
        </p:sp>
      </p:grpSp>
      <p:grpSp>
        <p:nvGrpSpPr>
          <p:cNvPr id="108" name="Google Shape;108;p15"/>
          <p:cNvGrpSpPr/>
          <p:nvPr/>
        </p:nvGrpSpPr>
        <p:grpSpPr>
          <a:xfrm>
            <a:off x="457200" y="3333750"/>
            <a:ext cx="5448300" cy="1714500"/>
            <a:chOff x="0" y="0"/>
            <a:chExt cx="5448300" cy="1714500"/>
          </a:xfrm>
        </p:grpSpPr>
        <p:sp>
          <p:nvSpPr>
            <p:cNvPr id="109" name="Google Shape;109;p15"/>
            <p:cNvSpPr/>
            <p:nvPr/>
          </p:nvSpPr>
          <p:spPr>
            <a:xfrm>
              <a:off x="0" y="0"/>
              <a:ext cx="5448300" cy="1714500"/>
            </a:xfrm>
            <a:prstGeom prst="roundRect">
              <a:avLst>
                <a:gd fmla="val 444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0" name="Google Shape;110;p15"/>
            <p:cNvSpPr txBox="1"/>
            <p:nvPr/>
          </p:nvSpPr>
          <p:spPr>
            <a:xfrm>
              <a:off x="228600" y="152400"/>
              <a:ext cx="4991100" cy="1409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03 / RELEVANCY ENGINEERING</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2000">
                  <a:solidFill>
                    <a:srgbClr val="0A2540"/>
                  </a:solidFill>
                  <a:latin typeface="Calibri"/>
                  <a:ea typeface="Calibri"/>
                  <a:cs typeface="Calibri"/>
                  <a:sym typeface="Calibri"/>
                </a:rPr>
                <a:t>Search Relevancy</a:t>
              </a:r>
              <a:endParaRPr b="1" i="0" sz="1300">
                <a:solidFill>
                  <a:srgbClr val="0EA5E9"/>
                </a:solidFill>
                <a:latin typeface="Calibri"/>
                <a:ea typeface="Calibri"/>
                <a:cs typeface="Calibri"/>
                <a:sym typeface="Calibri"/>
              </a:endParaRPr>
            </a:p>
            <a:p>
              <a:pPr indent="0" lvl="0" marL="0" rtl="0" algn="l">
                <a:spcBef>
                  <a:spcPts val="600"/>
                </a:spcBef>
                <a:spcAft>
                  <a:spcPts val="0"/>
                </a:spcAft>
                <a:buNone/>
              </a:pPr>
              <a:r>
                <a:rPr b="0" i="0" lang="en-US" sz="1400">
                  <a:solidFill>
                    <a:srgbClr val="475569"/>
                  </a:solidFill>
                  <a:latin typeface="Calibri"/>
                  <a:ea typeface="Calibri"/>
                  <a:cs typeface="Calibri"/>
                  <a:sym typeface="Calibri"/>
                </a:rPr>
                <a:t>Test-driven relevancy tuning, hybrid search optimization, vector/lexical balancing, and continuous evaluation frameworks.</a:t>
              </a:r>
              <a:endParaRPr b="1" i="0" sz="1300">
                <a:solidFill>
                  <a:srgbClr val="0EA5E9"/>
                </a:solidFill>
                <a:latin typeface="Calibri"/>
                <a:ea typeface="Calibri"/>
                <a:cs typeface="Calibri"/>
                <a:sym typeface="Calibri"/>
              </a:endParaRPr>
            </a:p>
          </p:txBody>
        </p:sp>
      </p:grpSp>
      <p:grpSp>
        <p:nvGrpSpPr>
          <p:cNvPr id="111" name="Google Shape;111;p15"/>
          <p:cNvGrpSpPr/>
          <p:nvPr/>
        </p:nvGrpSpPr>
        <p:grpSpPr>
          <a:xfrm>
            <a:off x="6286500" y="3333750"/>
            <a:ext cx="5448300" cy="1714500"/>
            <a:chOff x="0" y="0"/>
            <a:chExt cx="5448300" cy="1714500"/>
          </a:xfrm>
        </p:grpSpPr>
        <p:sp>
          <p:nvSpPr>
            <p:cNvPr id="112" name="Google Shape;112;p15"/>
            <p:cNvSpPr/>
            <p:nvPr/>
          </p:nvSpPr>
          <p:spPr>
            <a:xfrm>
              <a:off x="0" y="0"/>
              <a:ext cx="5448300" cy="1714500"/>
            </a:xfrm>
            <a:prstGeom prst="roundRect">
              <a:avLst>
                <a:gd fmla="val 444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3" name="Google Shape;113;p15"/>
            <p:cNvSpPr txBox="1"/>
            <p:nvPr/>
          </p:nvSpPr>
          <p:spPr>
            <a:xfrm>
              <a:off x="228600" y="152400"/>
              <a:ext cx="4991100" cy="1409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04 / PERFORMANCE &amp; SCALING</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2000">
                  <a:solidFill>
                    <a:srgbClr val="0A2540"/>
                  </a:solidFill>
                  <a:latin typeface="Calibri"/>
                  <a:ea typeface="Calibri"/>
                  <a:cs typeface="Calibri"/>
                  <a:sym typeface="Calibri"/>
                </a:rPr>
                <a:t>Search Performance Tuning</a:t>
              </a:r>
              <a:endParaRPr b="1" i="0" sz="1300">
                <a:solidFill>
                  <a:srgbClr val="0EA5E9"/>
                </a:solidFill>
                <a:latin typeface="Calibri"/>
                <a:ea typeface="Calibri"/>
                <a:cs typeface="Calibri"/>
                <a:sym typeface="Calibri"/>
              </a:endParaRPr>
            </a:p>
            <a:p>
              <a:pPr indent="0" lvl="0" marL="0" rtl="0" algn="l">
                <a:spcBef>
                  <a:spcPts val="600"/>
                </a:spcBef>
                <a:spcAft>
                  <a:spcPts val="0"/>
                </a:spcAft>
                <a:buNone/>
              </a:pPr>
              <a:r>
                <a:rPr b="0" i="0" lang="en-US" sz="1400">
                  <a:solidFill>
                    <a:srgbClr val="475569"/>
                  </a:solidFill>
                  <a:latin typeface="Calibri"/>
                  <a:ea typeface="Calibri"/>
                  <a:cs typeface="Calibri"/>
                  <a:sym typeface="Calibri"/>
                </a:rPr>
                <a:t>Latency reduction, query optimization, indexing pipeline throughput enhancement, and scalable capacity planning.</a:t>
              </a:r>
              <a:endParaRPr b="1" i="0" sz="1300">
                <a:solidFill>
                  <a:srgbClr val="0EA5E9"/>
                </a:solidFill>
                <a:latin typeface="Calibri"/>
                <a:ea typeface="Calibri"/>
                <a:cs typeface="Calibri"/>
                <a:sym typeface="Calibri"/>
              </a:endParaRPr>
            </a:p>
          </p:txBody>
        </p:sp>
      </p:grpSp>
      <p:grpSp>
        <p:nvGrpSpPr>
          <p:cNvPr id="114" name="Google Shape;114;p15"/>
          <p:cNvGrpSpPr/>
          <p:nvPr/>
        </p:nvGrpSpPr>
        <p:grpSpPr>
          <a:xfrm>
            <a:off x="457200" y="5238750"/>
            <a:ext cx="11277600" cy="952500"/>
            <a:chOff x="0" y="0"/>
            <a:chExt cx="11277600" cy="952500"/>
          </a:xfrm>
        </p:grpSpPr>
        <p:sp>
          <p:nvSpPr>
            <p:cNvPr id="115" name="Google Shape;115;p15"/>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6" name="Google Shape;116;p15"/>
            <p:cNvSpPr txBox="1"/>
            <p:nvPr/>
          </p:nvSpPr>
          <p:spPr>
            <a:xfrm>
              <a:off x="304800" y="133350"/>
              <a:ext cx="10668000" cy="6858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PARTNER WITH US</a:t>
              </a:r>
              <a:endParaRPr b="1" i="0" sz="1300">
                <a:solidFill>
                  <a:srgbClr val="0EA5E9"/>
                </a:solidFill>
                <a:latin typeface="Calibri"/>
                <a:ea typeface="Calibri"/>
                <a:cs typeface="Calibri"/>
                <a:sym typeface="Calibri"/>
              </a:endParaRPr>
            </a:p>
            <a:p>
              <a:pPr indent="0" lvl="0" marL="0" rtl="0" algn="l">
                <a:spcBef>
                  <a:spcPts val="300"/>
                </a:spcBef>
                <a:spcAft>
                  <a:spcPts val="0"/>
                </a:spcAft>
                <a:buNone/>
              </a:pPr>
              <a:r>
                <a:rPr b="0" i="0" lang="en-US" sz="1750">
                  <a:solidFill>
                    <a:srgbClr val="FFFFFF"/>
                  </a:solidFill>
                  <a:latin typeface="Calibri"/>
                  <a:ea typeface="Calibri"/>
                  <a:cs typeface="Calibri"/>
                  <a:sym typeface="Calibri"/>
                </a:rPr>
                <a:t>Transform your search capabilities with specialized engineering. Visit </a:t>
              </a:r>
              <a:r>
                <a:rPr b="1" i="0" lang="en-US" sz="1750">
                  <a:solidFill>
                    <a:srgbClr val="7DD3FC"/>
                  </a:solidFill>
                  <a:latin typeface="Calibri"/>
                  <a:ea typeface="Calibri"/>
                  <a:cs typeface="Calibri"/>
                  <a:sym typeface="Calibri"/>
                </a:rPr>
                <a:t>kmwllc.com</a:t>
              </a:r>
              <a:r>
                <a:rPr b="0" i="0" lang="en-US" sz="1750">
                  <a:solidFill>
                    <a:srgbClr val="FFFFFF"/>
                  </a:solidFill>
                  <a:latin typeface="Calibri"/>
                  <a:ea typeface="Calibri"/>
                  <a:cs typeface="Calibri"/>
                  <a:sym typeface="Calibri"/>
                </a:rPr>
                <a:t> to learn more.</a:t>
              </a:r>
              <a:endParaRPr b="1" i="0" sz="1300">
                <a:solidFill>
                  <a:srgbClr val="0EA5E9"/>
                </a:solidFill>
                <a:latin typeface="Calibri"/>
                <a:ea typeface="Calibri"/>
                <a:cs typeface="Calibri"/>
                <a:sym typeface="Calibri"/>
              </a:endParaRPr>
            </a:p>
          </p:txBody>
        </p:sp>
      </p:grpSp>
      <p:sp>
        <p:nvSpPr>
          <p:cNvPr id="117" name="Google Shape;117;p15"/>
          <p:cNvSpPr txBox="1"/>
          <p:nvPr/>
        </p:nvSpPr>
        <p:spPr>
          <a:xfrm>
            <a:off x="1921297" y="6513376"/>
            <a:ext cx="10058400" cy="190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KMW Technology · Search &amp; AI Professional Services · kmwllc.com</a:t>
            </a:r>
            <a:endParaRPr b="0" i="0" sz="1100">
              <a:solidFill>
                <a:srgbClr val="94A3B8"/>
              </a:solidFill>
              <a:latin typeface="Calibri"/>
              <a:ea typeface="Calibri"/>
              <a:cs typeface="Calibri"/>
              <a:sym typeface="Calibri"/>
            </a:endParaRPr>
          </a:p>
        </p:txBody>
      </p:sp>
      <p:grpSp>
        <p:nvGrpSpPr>
          <p:cNvPr id="118" name="Google Shape;118;p15"/>
          <p:cNvGrpSpPr/>
          <p:nvPr/>
        </p:nvGrpSpPr>
        <p:grpSpPr>
          <a:xfrm>
            <a:off x="5295900" y="1600200"/>
            <a:ext cx="457200" cy="489331"/>
            <a:chOff x="0" y="0"/>
            <a:chExt cx="457200" cy="489331"/>
          </a:xfrm>
        </p:grpSpPr>
        <p:sp>
          <p:nvSpPr>
            <p:cNvPr id="119" name="Google Shape;119;p15"/>
            <p:cNvSpPr/>
            <p:nvPr/>
          </p:nvSpPr>
          <p:spPr>
            <a:xfrm>
              <a:off x="0" y="0"/>
              <a:ext cx="457200" cy="457200"/>
            </a:xfrm>
            <a:prstGeom prst="roundRect">
              <a:avLst>
                <a:gd fmla="val 20833" name="adj"/>
              </a:avLst>
            </a:prstGeom>
            <a:solidFill>
              <a:srgbClr val="E0F2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0" name="Google Shape;120;p15"/>
            <p:cNvSpPr txBox="1"/>
            <p:nvPr/>
          </p:nvSpPr>
          <p:spPr>
            <a:xfrm>
              <a:off x="0" y="32131"/>
              <a:ext cx="4572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2200">
                  <a:solidFill>
                    <a:srgbClr val="0284C7"/>
                  </a:solidFill>
                  <a:latin typeface="Material Icons"/>
                  <a:ea typeface="Material Icons"/>
                  <a:cs typeface="Material Icons"/>
                  <a:sym typeface="Material Icons"/>
                </a:rPr>
                <a:t>smart_toy</a:t>
              </a:r>
              <a:endParaRPr sz="2200">
                <a:solidFill>
                  <a:srgbClr val="0284C7"/>
                </a:solidFill>
                <a:latin typeface="Material Icons"/>
                <a:ea typeface="Material Icons"/>
                <a:cs typeface="Material Icons"/>
                <a:sym typeface="Material Icons"/>
              </a:endParaRPr>
            </a:p>
          </p:txBody>
        </p:sp>
      </p:grpSp>
      <p:grpSp>
        <p:nvGrpSpPr>
          <p:cNvPr id="121" name="Google Shape;121;p15"/>
          <p:cNvGrpSpPr/>
          <p:nvPr/>
        </p:nvGrpSpPr>
        <p:grpSpPr>
          <a:xfrm>
            <a:off x="11125200" y="1600200"/>
            <a:ext cx="457200" cy="489331"/>
            <a:chOff x="0" y="0"/>
            <a:chExt cx="457200" cy="489331"/>
          </a:xfrm>
        </p:grpSpPr>
        <p:sp>
          <p:nvSpPr>
            <p:cNvPr id="122" name="Google Shape;122;p15"/>
            <p:cNvSpPr/>
            <p:nvPr/>
          </p:nvSpPr>
          <p:spPr>
            <a:xfrm>
              <a:off x="0" y="0"/>
              <a:ext cx="457200" cy="457200"/>
            </a:xfrm>
            <a:prstGeom prst="roundRect">
              <a:avLst>
                <a:gd fmla="val 20833" name="adj"/>
              </a:avLst>
            </a:prstGeom>
            <a:solidFill>
              <a:srgbClr val="E0F2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3" name="Google Shape;123;p15"/>
            <p:cNvSpPr txBox="1"/>
            <p:nvPr/>
          </p:nvSpPr>
          <p:spPr>
            <a:xfrm>
              <a:off x="0" y="32131"/>
              <a:ext cx="4572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2200">
                  <a:solidFill>
                    <a:srgbClr val="0284C7"/>
                  </a:solidFill>
                  <a:latin typeface="Material Icons"/>
                  <a:ea typeface="Material Icons"/>
                  <a:cs typeface="Material Icons"/>
                  <a:sym typeface="Material Icons"/>
                </a:rPr>
                <a:t>analytics</a:t>
              </a:r>
              <a:endParaRPr sz="2200">
                <a:solidFill>
                  <a:srgbClr val="0284C7"/>
                </a:solidFill>
                <a:latin typeface="Material Icons"/>
                <a:ea typeface="Material Icons"/>
                <a:cs typeface="Material Icons"/>
                <a:sym typeface="Material Icons"/>
              </a:endParaRPr>
            </a:p>
          </p:txBody>
        </p:sp>
      </p:grpSp>
      <p:grpSp>
        <p:nvGrpSpPr>
          <p:cNvPr id="124" name="Google Shape;124;p15"/>
          <p:cNvGrpSpPr/>
          <p:nvPr/>
        </p:nvGrpSpPr>
        <p:grpSpPr>
          <a:xfrm>
            <a:off x="5295900" y="3505200"/>
            <a:ext cx="457200" cy="489331"/>
            <a:chOff x="0" y="0"/>
            <a:chExt cx="457200" cy="489331"/>
          </a:xfrm>
        </p:grpSpPr>
        <p:sp>
          <p:nvSpPr>
            <p:cNvPr id="125" name="Google Shape;125;p15"/>
            <p:cNvSpPr/>
            <p:nvPr/>
          </p:nvSpPr>
          <p:spPr>
            <a:xfrm>
              <a:off x="0" y="0"/>
              <a:ext cx="457200" cy="457200"/>
            </a:xfrm>
            <a:prstGeom prst="roundRect">
              <a:avLst>
                <a:gd fmla="val 20833" name="adj"/>
              </a:avLst>
            </a:prstGeom>
            <a:solidFill>
              <a:srgbClr val="E0F2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6" name="Google Shape;126;p15"/>
            <p:cNvSpPr txBox="1"/>
            <p:nvPr/>
          </p:nvSpPr>
          <p:spPr>
            <a:xfrm>
              <a:off x="0" y="32131"/>
              <a:ext cx="4572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2200">
                  <a:solidFill>
                    <a:srgbClr val="0284C7"/>
                  </a:solidFill>
                  <a:latin typeface="Material Icons"/>
                  <a:ea typeface="Material Icons"/>
                  <a:cs typeface="Material Icons"/>
                  <a:sym typeface="Material Icons"/>
                </a:rPr>
                <a:t>tune</a:t>
              </a:r>
              <a:endParaRPr sz="2200">
                <a:solidFill>
                  <a:srgbClr val="0284C7"/>
                </a:solidFill>
                <a:latin typeface="Material Icons"/>
                <a:ea typeface="Material Icons"/>
                <a:cs typeface="Material Icons"/>
                <a:sym typeface="Material Icons"/>
              </a:endParaRPr>
            </a:p>
          </p:txBody>
        </p:sp>
      </p:grpSp>
      <p:grpSp>
        <p:nvGrpSpPr>
          <p:cNvPr id="127" name="Google Shape;127;p15"/>
          <p:cNvGrpSpPr/>
          <p:nvPr/>
        </p:nvGrpSpPr>
        <p:grpSpPr>
          <a:xfrm>
            <a:off x="11125200" y="3505200"/>
            <a:ext cx="457200" cy="489331"/>
            <a:chOff x="0" y="0"/>
            <a:chExt cx="457200" cy="489331"/>
          </a:xfrm>
        </p:grpSpPr>
        <p:sp>
          <p:nvSpPr>
            <p:cNvPr id="128" name="Google Shape;128;p15"/>
            <p:cNvSpPr/>
            <p:nvPr/>
          </p:nvSpPr>
          <p:spPr>
            <a:xfrm>
              <a:off x="0" y="0"/>
              <a:ext cx="457200" cy="457200"/>
            </a:xfrm>
            <a:prstGeom prst="roundRect">
              <a:avLst>
                <a:gd fmla="val 20833" name="adj"/>
              </a:avLst>
            </a:prstGeom>
            <a:solidFill>
              <a:srgbClr val="E0F2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9" name="Google Shape;129;p15"/>
            <p:cNvSpPr txBox="1"/>
            <p:nvPr/>
          </p:nvSpPr>
          <p:spPr>
            <a:xfrm>
              <a:off x="0" y="32131"/>
              <a:ext cx="4572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2200">
                  <a:solidFill>
                    <a:srgbClr val="0284C7"/>
                  </a:solidFill>
                  <a:latin typeface="Material Icons"/>
                  <a:ea typeface="Material Icons"/>
                  <a:cs typeface="Material Icons"/>
                  <a:sym typeface="Material Icons"/>
                </a:rPr>
                <a:t>speed</a:t>
              </a:r>
              <a:endParaRPr sz="2200">
                <a:solidFill>
                  <a:srgbClr val="0284C7"/>
                </a:solidFill>
                <a:latin typeface="Material Icons"/>
                <a:ea typeface="Material Icons"/>
                <a:cs typeface="Material Icons"/>
                <a:sym typeface="Material Icons"/>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16"/>
          <p:cNvSpPr txBox="1"/>
          <p:nvPr/>
        </p:nvSpPr>
        <p:spPr>
          <a:xfrm>
            <a:off x="365760" y="2286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2 / 11</a:t>
            </a:r>
            <a:endParaRPr b="0" i="0" sz="1100" u="none" strike="noStrike">
              <a:solidFill>
                <a:srgbClr val="94A3B8"/>
              </a:solidFill>
              <a:latin typeface="Calibri"/>
              <a:ea typeface="Calibri"/>
              <a:cs typeface="Calibri"/>
              <a:sym typeface="Calibri"/>
            </a:endParaRPr>
          </a:p>
        </p:txBody>
      </p:sp>
      <p:sp>
        <p:nvSpPr>
          <p:cNvPr id="135" name="Google Shape;135;p16"/>
          <p:cNvSpPr txBox="1"/>
          <p:nvPr/>
        </p:nvSpPr>
        <p:spPr>
          <a:xfrm>
            <a:off x="457200" y="552450"/>
            <a:ext cx="11247000" cy="19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295" u="none" strike="noStrike">
                <a:solidFill>
                  <a:srgbClr val="0369A1"/>
                </a:solidFill>
                <a:latin typeface="Calibri"/>
                <a:ea typeface="Calibri"/>
                <a:cs typeface="Calibri"/>
                <a:sym typeface="Calibri"/>
              </a:rPr>
              <a:t>THE PROBLEM</a:t>
            </a:r>
            <a:endParaRPr b="1" i="0" sz="1295" u="none" strike="noStrike">
              <a:solidFill>
                <a:srgbClr val="0369A1"/>
              </a:solidFill>
              <a:latin typeface="Calibri"/>
              <a:ea typeface="Calibri"/>
              <a:cs typeface="Calibri"/>
              <a:sym typeface="Calibri"/>
            </a:endParaRPr>
          </a:p>
        </p:txBody>
      </p:sp>
      <p:sp>
        <p:nvSpPr>
          <p:cNvPr id="136" name="Google Shape;136;p16"/>
          <p:cNvSpPr txBox="1"/>
          <p:nvPr/>
        </p:nvSpPr>
        <p:spPr>
          <a:xfrm>
            <a:off x="457200" y="857250"/>
            <a:ext cx="11247000" cy="554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600" u="none" strike="noStrike">
                <a:solidFill>
                  <a:srgbClr val="0A2540"/>
                </a:solidFill>
                <a:latin typeface="Calibri"/>
                <a:ea typeface="Calibri"/>
                <a:cs typeface="Calibri"/>
                <a:sym typeface="Calibri"/>
              </a:rPr>
              <a:t>Fast, plausible, and wrong</a:t>
            </a:r>
            <a:endParaRPr b="1" i="0" sz="3600" u="none" strike="noStrike">
              <a:solidFill>
                <a:srgbClr val="0A2540"/>
              </a:solidFill>
              <a:latin typeface="Calibri"/>
              <a:ea typeface="Calibri"/>
              <a:cs typeface="Calibri"/>
              <a:sym typeface="Calibri"/>
            </a:endParaRPr>
          </a:p>
        </p:txBody>
      </p:sp>
      <p:sp>
        <p:nvSpPr>
          <p:cNvPr id="137" name="Google Shape;137;p16"/>
          <p:cNvSpPr txBox="1"/>
          <p:nvPr/>
        </p:nvSpPr>
        <p:spPr>
          <a:xfrm>
            <a:off x="457200" y="1485900"/>
            <a:ext cx="11247000" cy="492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200" u="none" strike="noStrike">
                <a:solidFill>
                  <a:srgbClr val="0A2540"/>
                </a:solidFill>
                <a:latin typeface="Calibri"/>
                <a:ea typeface="Calibri"/>
                <a:cs typeface="Calibri"/>
                <a:sym typeface="Calibri"/>
              </a:rPr>
              <a:t>The results look fine. The answer is wrong.</a:t>
            </a:r>
            <a:endParaRPr b="1" i="0" sz="3200" u="none" strike="noStrike">
              <a:solidFill>
                <a:srgbClr val="0A2540"/>
              </a:solidFill>
              <a:latin typeface="Calibri"/>
              <a:ea typeface="Calibri"/>
              <a:cs typeface="Calibri"/>
              <a:sym typeface="Calibri"/>
            </a:endParaRPr>
          </a:p>
        </p:txBody>
      </p:sp>
      <p:sp>
        <p:nvSpPr>
          <p:cNvPr id="138" name="Google Shape;138;p16"/>
          <p:cNvSpPr txBox="1"/>
          <p:nvPr/>
        </p:nvSpPr>
        <p:spPr>
          <a:xfrm>
            <a:off x="457200" y="2076450"/>
            <a:ext cx="11247000" cy="277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800" u="none" strike="noStrike">
                <a:solidFill>
                  <a:srgbClr val="475569"/>
                </a:solidFill>
                <a:latin typeface="Calibri"/>
                <a:ea typeface="Calibri"/>
                <a:cs typeface="Calibri"/>
                <a:sym typeface="Calibri"/>
              </a:rPr>
              <a:t>Weak retrieval is invisible · the generator writes fluently over it · confidence is not evidence</a:t>
            </a:r>
            <a:endParaRPr b="0" i="0" sz="1800" u="none" strike="noStrike">
              <a:solidFill>
                <a:srgbClr val="475569"/>
              </a:solidFill>
              <a:latin typeface="Calibri"/>
              <a:ea typeface="Calibri"/>
              <a:cs typeface="Calibri"/>
              <a:sym typeface="Calibri"/>
            </a:endParaRPr>
          </a:p>
        </p:txBody>
      </p:sp>
      <p:grpSp>
        <p:nvGrpSpPr>
          <p:cNvPr id="139" name="Google Shape;139;p16"/>
          <p:cNvGrpSpPr/>
          <p:nvPr/>
        </p:nvGrpSpPr>
        <p:grpSpPr>
          <a:xfrm>
            <a:off x="457200" y="2619375"/>
            <a:ext cx="5429400" cy="3619500"/>
            <a:chOff x="0" y="0"/>
            <a:chExt cx="5429400" cy="3619500"/>
          </a:xfrm>
        </p:grpSpPr>
        <p:sp>
          <p:nvSpPr>
            <p:cNvPr id="140" name="Google Shape;140;p16"/>
            <p:cNvSpPr/>
            <p:nvPr/>
          </p:nvSpPr>
          <p:spPr>
            <a:xfrm>
              <a:off x="0" y="0"/>
              <a:ext cx="5429400" cy="3619500"/>
            </a:xfrm>
            <a:prstGeom prst="roundRect">
              <a:avLst>
                <a:gd fmla="val 2105"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16"/>
            <p:cNvSpPr txBox="1"/>
            <p:nvPr/>
          </p:nvSpPr>
          <p:spPr>
            <a:xfrm>
              <a:off x="266700" y="228600"/>
              <a:ext cx="4896000" cy="3086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THE QUESTION THIS TALK ANSWERS</a:t>
              </a:r>
              <a:endParaRPr b="1" i="0" sz="1300" u="none" strike="noStrike">
                <a:solidFill>
                  <a:srgbClr val="0EA5E9"/>
                </a:solidFill>
                <a:latin typeface="Calibri"/>
                <a:ea typeface="Calibri"/>
                <a:cs typeface="Calibri"/>
                <a:sym typeface="Calibri"/>
              </a:endParaRPr>
            </a:p>
            <a:p>
              <a:pPr indent="0" lvl="0" marL="0" rtl="0" algn="l">
                <a:spcBef>
                  <a:spcPts val="1200"/>
                </a:spcBef>
                <a:spcAft>
                  <a:spcPts val="900"/>
                </a:spcAft>
                <a:buNone/>
              </a:pPr>
              <a:r>
                <a:rPr b="1" i="0" lang="en-US" sz="2500" u="none" strike="noStrike">
                  <a:solidFill>
                    <a:srgbClr val="FFFFFF"/>
                  </a:solidFill>
                  <a:latin typeface="Calibri"/>
                  <a:ea typeface="Calibri"/>
                  <a:cs typeface="Calibri"/>
                  <a:sym typeface="Calibri"/>
                </a:rPr>
                <a:t>How can a search system recognize weak retrieval, change course, and fix data problems on the fly?</a:t>
              </a:r>
              <a:endParaRPr b="1" i="0" sz="1300" u="none" strike="noStrike">
                <a:solidFill>
                  <a:srgbClr val="0EA5E9"/>
                </a:solidFill>
                <a:latin typeface="Calibri"/>
                <a:ea typeface="Calibri"/>
                <a:cs typeface="Calibri"/>
                <a:sym typeface="Calibri"/>
              </a:endParaRPr>
            </a:p>
          </p:txBody>
        </p:sp>
      </p:grpSp>
      <p:grpSp>
        <p:nvGrpSpPr>
          <p:cNvPr id="142" name="Google Shape;142;p16"/>
          <p:cNvGrpSpPr/>
          <p:nvPr/>
        </p:nvGrpSpPr>
        <p:grpSpPr>
          <a:xfrm>
            <a:off x="6076950" y="2619375"/>
            <a:ext cx="5658000" cy="3619500"/>
            <a:chOff x="0" y="0"/>
            <a:chExt cx="5658000" cy="3619500"/>
          </a:xfrm>
        </p:grpSpPr>
        <p:sp>
          <p:nvSpPr>
            <p:cNvPr id="143" name="Google Shape;143;p16"/>
            <p:cNvSpPr/>
            <p:nvPr/>
          </p:nvSpPr>
          <p:spPr>
            <a:xfrm>
              <a:off x="0" y="0"/>
              <a:ext cx="5658000" cy="3619500"/>
            </a:xfrm>
            <a:prstGeom prst="roundRect">
              <a:avLst>
                <a:gd fmla="val 2105"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6"/>
            <p:cNvSpPr txBox="1"/>
            <p:nvPr/>
          </p:nvSpPr>
          <p:spPr>
            <a:xfrm>
              <a:off x="266700" y="190500"/>
              <a:ext cx="5124600" cy="1143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369A1"/>
                  </a:solidFill>
                  <a:latin typeface="Calibri"/>
                  <a:ea typeface="Calibri"/>
                  <a:cs typeface="Calibri"/>
                  <a:sym typeface="Calibri"/>
                </a:rPr>
                <a:t>OUR BENCHMARK DATASET</a:t>
              </a:r>
              <a:endParaRPr b="1" i="0" sz="1300" u="none" strike="noStrike">
                <a:solidFill>
                  <a:srgbClr val="0369A1"/>
                </a:solidFill>
                <a:latin typeface="Calibri"/>
                <a:ea typeface="Calibri"/>
                <a:cs typeface="Calibri"/>
                <a:sym typeface="Calibri"/>
              </a:endParaRPr>
            </a:p>
            <a:p>
              <a:pPr indent="0" lvl="0" marL="0" rtl="0" algn="l">
                <a:spcBef>
                  <a:spcPts val="300"/>
                </a:spcBef>
                <a:spcAft>
                  <a:spcPts val="0"/>
                </a:spcAft>
                <a:buNone/>
              </a:pPr>
              <a:r>
                <a:rPr b="1" i="0" lang="en-US" sz="2300" u="none" strike="noStrike">
                  <a:solidFill>
                    <a:srgbClr val="0A2540"/>
                  </a:solidFill>
                  <a:latin typeface="Calibri"/>
                  <a:ea typeface="Calibri"/>
                  <a:cs typeface="Calibri"/>
                  <a:sym typeface="Calibri"/>
                </a:rPr>
                <a:t>Amazon's ESCI Dataset</a:t>
              </a:r>
              <a:endParaRPr b="1" i="0" sz="1300" u="none" strike="noStrike">
                <a:solidFill>
                  <a:srgbClr val="0369A1"/>
                </a:solidFill>
                <a:latin typeface="Calibri"/>
                <a:ea typeface="Calibri"/>
                <a:cs typeface="Calibri"/>
                <a:sym typeface="Calibri"/>
              </a:endParaRPr>
            </a:p>
            <a:p>
              <a:pPr indent="0" lvl="0" marL="0" rtl="0" algn="l">
                <a:spcBef>
                  <a:spcPts val="300"/>
                </a:spcBef>
                <a:spcAft>
                  <a:spcPts val="300"/>
                </a:spcAft>
                <a:buNone/>
              </a:pPr>
              <a:r>
                <a:rPr b="0" i="0" lang="en-US" sz="1350" u="none" strike="noStrike">
                  <a:solidFill>
                    <a:srgbClr val="475569"/>
                  </a:solidFill>
                  <a:latin typeface="Calibri"/>
                  <a:ea typeface="Calibri"/>
                  <a:cs typeface="Calibri"/>
                  <a:sym typeface="Calibri"/>
                </a:rPr>
                <a:t>~10,000 Amazon product catalog items with ~1.8M real search queries and human relevance judgments — benchmarking real shopper intent.</a:t>
              </a:r>
              <a:endParaRPr b="1" i="0" sz="1300" u="none" strike="noStrike">
                <a:solidFill>
                  <a:srgbClr val="0369A1"/>
                </a:solidFill>
                <a:latin typeface="Calibri"/>
                <a:ea typeface="Calibri"/>
                <a:cs typeface="Calibri"/>
                <a:sym typeface="Calibri"/>
              </a:endParaRPr>
            </a:p>
          </p:txBody>
        </p:sp>
        <p:grpSp>
          <p:nvGrpSpPr>
            <p:cNvPr id="145" name="Google Shape;145;p16"/>
            <p:cNvGrpSpPr/>
            <p:nvPr/>
          </p:nvGrpSpPr>
          <p:grpSpPr>
            <a:xfrm>
              <a:off x="266700" y="1428750"/>
              <a:ext cx="2428800" cy="876300"/>
              <a:chOff x="0" y="0"/>
              <a:chExt cx="2428800" cy="876300"/>
            </a:xfrm>
          </p:grpSpPr>
          <p:sp>
            <p:nvSpPr>
              <p:cNvPr id="146" name="Google Shape;146;p16"/>
              <p:cNvSpPr/>
              <p:nvPr/>
            </p:nvSpPr>
            <p:spPr>
              <a:xfrm>
                <a:off x="0" y="0"/>
                <a:ext cx="24288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7" name="Google Shape;147;p16"/>
              <p:cNvSpPr txBox="1"/>
              <p:nvPr/>
            </p:nvSpPr>
            <p:spPr>
              <a:xfrm>
                <a:off x="152400" y="95250"/>
                <a:ext cx="2124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500" u="none" strike="noStrike">
                    <a:solidFill>
                      <a:srgbClr val="0EA5E9"/>
                    </a:solidFill>
                    <a:latin typeface="Calibri"/>
                    <a:ea typeface="Calibri"/>
                    <a:cs typeface="Calibri"/>
                    <a:sym typeface="Calibri"/>
                  </a:rPr>
                  <a:t>E </a:t>
                </a:r>
                <a:r>
                  <a:rPr b="1" i="0" lang="en-US" sz="1350" u="none" strike="noStrike">
                    <a:solidFill>
                      <a:srgbClr val="0A2540"/>
                    </a:solidFill>
                    <a:latin typeface="Calibri"/>
                    <a:ea typeface="Calibri"/>
                    <a:cs typeface="Calibri"/>
                    <a:sym typeface="Calibri"/>
                  </a:rPr>
                  <a:t>· Explicit</a:t>
                </a:r>
                <a:endParaRPr b="1" i="0" sz="1500" u="none" strike="noStrike">
                  <a:solidFill>
                    <a:srgbClr val="0EA5E9"/>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Exact query match</a:t>
                </a:r>
                <a:endParaRPr b="1" i="0" sz="1150" u="none" strike="noStrike">
                  <a:solidFill>
                    <a:srgbClr val="0EA5E9"/>
                  </a:solidFill>
                  <a:latin typeface="Calibri"/>
                  <a:ea typeface="Calibri"/>
                  <a:cs typeface="Calibri"/>
                  <a:sym typeface="Calibri"/>
                </a:endParaRPr>
              </a:p>
            </p:txBody>
          </p:sp>
        </p:grpSp>
        <p:grpSp>
          <p:nvGrpSpPr>
            <p:cNvPr id="148" name="Google Shape;148;p16"/>
            <p:cNvGrpSpPr/>
            <p:nvPr/>
          </p:nvGrpSpPr>
          <p:grpSpPr>
            <a:xfrm>
              <a:off x="2847975" y="1428750"/>
              <a:ext cx="2543100" cy="876300"/>
              <a:chOff x="0" y="0"/>
              <a:chExt cx="2543100" cy="876300"/>
            </a:xfrm>
          </p:grpSpPr>
          <p:sp>
            <p:nvSpPr>
              <p:cNvPr id="149" name="Google Shape;149;p16"/>
              <p:cNvSpPr/>
              <p:nvPr/>
            </p:nvSpPr>
            <p:spPr>
              <a:xfrm>
                <a:off x="0" y="0"/>
                <a:ext cx="25431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0" name="Google Shape;150;p16"/>
              <p:cNvSpPr txBox="1"/>
              <p:nvPr/>
            </p:nvSpPr>
            <p:spPr>
              <a:xfrm>
                <a:off x="152400" y="95250"/>
                <a:ext cx="22383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500" u="none" strike="noStrike">
                    <a:solidFill>
                      <a:srgbClr val="0EA5E9"/>
                    </a:solidFill>
                    <a:latin typeface="Calibri"/>
                    <a:ea typeface="Calibri"/>
                    <a:cs typeface="Calibri"/>
                    <a:sym typeface="Calibri"/>
                  </a:rPr>
                  <a:t>S </a:t>
                </a:r>
                <a:r>
                  <a:rPr b="1" i="0" lang="en-US" sz="1350" u="none" strike="noStrike">
                    <a:solidFill>
                      <a:srgbClr val="0A2540"/>
                    </a:solidFill>
                    <a:latin typeface="Calibri"/>
                    <a:ea typeface="Calibri"/>
                    <a:cs typeface="Calibri"/>
                    <a:sym typeface="Calibri"/>
                  </a:rPr>
                  <a:t>· Substitute</a:t>
                </a:r>
                <a:endParaRPr b="1" i="0" sz="1500" u="none" strike="noStrike">
                  <a:solidFill>
                    <a:srgbClr val="0EA5E9"/>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Functional alternative</a:t>
                </a:r>
                <a:endParaRPr b="1" i="0" sz="1150" u="none" strike="noStrike">
                  <a:solidFill>
                    <a:srgbClr val="0EA5E9"/>
                  </a:solidFill>
                  <a:latin typeface="Calibri"/>
                  <a:ea typeface="Calibri"/>
                  <a:cs typeface="Calibri"/>
                  <a:sym typeface="Calibri"/>
                </a:endParaRPr>
              </a:p>
            </p:txBody>
          </p:sp>
        </p:grpSp>
        <p:grpSp>
          <p:nvGrpSpPr>
            <p:cNvPr id="151" name="Google Shape;151;p16"/>
            <p:cNvGrpSpPr/>
            <p:nvPr/>
          </p:nvGrpSpPr>
          <p:grpSpPr>
            <a:xfrm>
              <a:off x="266700" y="2419350"/>
              <a:ext cx="2428800" cy="876300"/>
              <a:chOff x="0" y="0"/>
              <a:chExt cx="2428800" cy="876300"/>
            </a:xfrm>
          </p:grpSpPr>
          <p:sp>
            <p:nvSpPr>
              <p:cNvPr id="152" name="Google Shape;152;p16"/>
              <p:cNvSpPr/>
              <p:nvPr/>
            </p:nvSpPr>
            <p:spPr>
              <a:xfrm>
                <a:off x="0" y="0"/>
                <a:ext cx="24288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3" name="Google Shape;153;p16"/>
              <p:cNvSpPr txBox="1"/>
              <p:nvPr/>
            </p:nvSpPr>
            <p:spPr>
              <a:xfrm>
                <a:off x="152400" y="95250"/>
                <a:ext cx="2124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500" u="none" strike="noStrike">
                    <a:solidFill>
                      <a:srgbClr val="0EA5E9"/>
                    </a:solidFill>
                    <a:latin typeface="Calibri"/>
                    <a:ea typeface="Calibri"/>
                    <a:cs typeface="Calibri"/>
                    <a:sym typeface="Calibri"/>
                  </a:rPr>
                  <a:t>C </a:t>
                </a:r>
                <a:r>
                  <a:rPr b="1" i="0" lang="en-US" sz="1350" u="none" strike="noStrike">
                    <a:solidFill>
                      <a:srgbClr val="0A2540"/>
                    </a:solidFill>
                    <a:latin typeface="Calibri"/>
                    <a:ea typeface="Calibri"/>
                    <a:cs typeface="Calibri"/>
                    <a:sym typeface="Calibri"/>
                  </a:rPr>
                  <a:t>· Complement</a:t>
                </a:r>
                <a:endParaRPr b="1" i="0" sz="1500" u="none" strike="noStrike">
                  <a:solidFill>
                    <a:srgbClr val="0EA5E9"/>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Pairs with item / accessory</a:t>
                </a:r>
                <a:endParaRPr b="1" i="0" sz="1150" u="none" strike="noStrike">
                  <a:solidFill>
                    <a:srgbClr val="0EA5E9"/>
                  </a:solidFill>
                  <a:latin typeface="Calibri"/>
                  <a:ea typeface="Calibri"/>
                  <a:cs typeface="Calibri"/>
                  <a:sym typeface="Calibri"/>
                </a:endParaRPr>
              </a:p>
            </p:txBody>
          </p:sp>
        </p:grpSp>
        <p:grpSp>
          <p:nvGrpSpPr>
            <p:cNvPr id="154" name="Google Shape;154;p16"/>
            <p:cNvGrpSpPr/>
            <p:nvPr/>
          </p:nvGrpSpPr>
          <p:grpSpPr>
            <a:xfrm>
              <a:off x="2847975" y="2419350"/>
              <a:ext cx="2543100" cy="876300"/>
              <a:chOff x="0" y="0"/>
              <a:chExt cx="2543100" cy="876300"/>
            </a:xfrm>
          </p:grpSpPr>
          <p:sp>
            <p:nvSpPr>
              <p:cNvPr id="155" name="Google Shape;155;p16"/>
              <p:cNvSpPr/>
              <p:nvPr/>
            </p:nvSpPr>
            <p:spPr>
              <a:xfrm>
                <a:off x="0" y="0"/>
                <a:ext cx="2543100" cy="876300"/>
              </a:xfrm>
              <a:prstGeom prst="roundRect">
                <a:avLst>
                  <a:gd fmla="val 652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6" name="Google Shape;156;p16"/>
              <p:cNvSpPr txBox="1"/>
              <p:nvPr/>
            </p:nvSpPr>
            <p:spPr>
              <a:xfrm>
                <a:off x="152400" y="95250"/>
                <a:ext cx="2238300" cy="647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u="none" strike="noStrike">
                    <a:solidFill>
                      <a:srgbClr val="EF4444"/>
                    </a:solidFill>
                    <a:latin typeface="Calibri"/>
                    <a:ea typeface="Calibri"/>
                    <a:cs typeface="Calibri"/>
                    <a:sym typeface="Calibri"/>
                  </a:rPr>
                  <a:t>I </a:t>
                </a:r>
                <a:r>
                  <a:rPr b="1" i="0" lang="en-US" sz="1350" u="none" strike="noStrike">
                    <a:solidFill>
                      <a:srgbClr val="0A2540"/>
                    </a:solidFill>
                    <a:latin typeface="Calibri"/>
                    <a:ea typeface="Calibri"/>
                    <a:cs typeface="Calibri"/>
                    <a:sym typeface="Calibri"/>
                  </a:rPr>
                  <a:t>· Irrelevant</a:t>
                </a:r>
                <a:endParaRPr b="1" i="0" sz="1500" u="none" strike="noStrike">
                  <a:solidFill>
                    <a:srgbClr val="EF4444"/>
                  </a:solidFill>
                  <a:latin typeface="Calibri"/>
                  <a:ea typeface="Calibri"/>
                  <a:cs typeface="Calibri"/>
                  <a:sym typeface="Calibri"/>
                </a:endParaRPr>
              </a:p>
              <a:p>
                <a:pPr indent="0" lvl="0" marL="0" rtl="0" algn="l">
                  <a:spcBef>
                    <a:spcPts val="150"/>
                  </a:spcBef>
                  <a:spcAft>
                    <a:spcPts val="0"/>
                  </a:spcAft>
                  <a:buNone/>
                </a:pPr>
                <a:r>
                  <a:rPr b="0" i="0" lang="en-US" sz="1150" u="none" strike="noStrike">
                    <a:solidFill>
                      <a:srgbClr val="64748B"/>
                    </a:solidFill>
                    <a:latin typeface="Calibri"/>
                    <a:ea typeface="Calibri"/>
                    <a:cs typeface="Calibri"/>
                    <a:sym typeface="Calibri"/>
                  </a:rPr>
                  <a:t>Unrelated search result</a:t>
                </a:r>
                <a:endParaRPr b="1" i="0" sz="1150" u="none" strike="noStrike">
                  <a:solidFill>
                    <a:srgbClr val="EF4444"/>
                  </a:solidFill>
                  <a:latin typeface="Calibri"/>
                  <a:ea typeface="Calibri"/>
                  <a:cs typeface="Calibri"/>
                  <a:sym typeface="Calibri"/>
                </a:endParaRPr>
              </a:p>
            </p:txBody>
          </p:sp>
        </p:grpSp>
      </p:grpSp>
      <p:pic>
        <p:nvPicPr>
          <p:cNvPr id="157" name="Google Shape;157;p16" title="KMWLogo_blk_blue.png"/>
          <p:cNvPicPr preferRelativeResize="0"/>
          <p:nvPr/>
        </p:nvPicPr>
        <p:blipFill>
          <a:blip r:embed="rId3">
            <a:alphaModFix/>
          </a:blip>
          <a:stretch>
            <a:fillRect/>
          </a:stretch>
        </p:blipFill>
        <p:spPr>
          <a:xfrm>
            <a:off x="10059924" y="314175"/>
            <a:ext cx="1644399" cy="645950"/>
          </a:xfrm>
          <a:prstGeom prst="rect">
            <a:avLst/>
          </a:prstGeom>
          <a:noFill/>
          <a:ln>
            <a:noFill/>
          </a:ln>
        </p:spPr>
      </p:pic>
      <p:sp>
        <p:nvSpPr>
          <p:cNvPr id="158" name="Google Shape;158;p16"/>
          <p:cNvSpPr txBox="1"/>
          <p:nvPr/>
        </p:nvSpPr>
        <p:spPr>
          <a:xfrm>
            <a:off x="1921297" y="6513376"/>
            <a:ext cx="10058400" cy="1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050" u="none" strike="noStrike">
                <a:solidFill>
                  <a:srgbClr val="94A3B8"/>
                </a:solidFill>
                <a:latin typeface="Calibri"/>
                <a:ea typeface="Calibri"/>
                <a:cs typeface="Calibri"/>
                <a:sym typeface="Calibri"/>
              </a:rPr>
              <a:t>OpenSearchCon North America · 2026 · Agentic Search: Reimagining Search from Ingestion to Relevancy</a:t>
            </a:r>
            <a:endParaRPr b="0" i="0" sz="1050" u="none" strike="noStrike">
              <a:solidFill>
                <a:srgbClr val="94A3B8"/>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62" name="Shape 162"/>
        <p:cNvGrpSpPr/>
        <p:nvPr/>
      </p:nvGrpSpPr>
      <p:grpSpPr>
        <a:xfrm>
          <a:off x="0" y="0"/>
          <a:ext cx="0" cy="0"/>
          <a:chOff x="0" y="0"/>
          <a:chExt cx="0" cy="0"/>
        </a:xfrm>
      </p:grpSpPr>
      <p:sp>
        <p:nvSpPr>
          <p:cNvPr id="163" name="Google Shape;163;p17"/>
          <p:cNvSpPr txBox="1"/>
          <p:nvPr/>
        </p:nvSpPr>
        <p:spPr>
          <a:xfrm>
            <a:off x="457200" y="552450"/>
            <a:ext cx="11239500" cy="209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95" u="none" strike="noStrike">
                <a:solidFill>
                  <a:srgbClr val="0369A1"/>
                </a:solidFill>
                <a:latin typeface="Calibri"/>
                <a:ea typeface="Calibri"/>
                <a:cs typeface="Calibri"/>
                <a:sym typeface="Calibri"/>
              </a:rPr>
              <a:t>CAST OF CHARACTERS</a:t>
            </a:r>
            <a:endParaRPr b="1" i="0" sz="1295" u="none" strike="noStrike">
              <a:solidFill>
                <a:srgbClr val="0369A1"/>
              </a:solidFill>
              <a:latin typeface="Calibri"/>
              <a:ea typeface="Calibri"/>
              <a:cs typeface="Calibri"/>
              <a:sym typeface="Calibri"/>
            </a:endParaRPr>
          </a:p>
        </p:txBody>
      </p:sp>
      <p:sp>
        <p:nvSpPr>
          <p:cNvPr id="164" name="Google Shape;164;p17"/>
          <p:cNvSpPr txBox="1"/>
          <p:nvPr/>
        </p:nvSpPr>
        <p:spPr>
          <a:xfrm>
            <a:off x="457200" y="838200"/>
            <a:ext cx="11239500" cy="571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515" u="none" strike="noStrike">
                <a:solidFill>
                  <a:srgbClr val="0A2540"/>
                </a:solidFill>
                <a:latin typeface="Calibri"/>
                <a:ea typeface="Calibri"/>
                <a:cs typeface="Calibri"/>
                <a:sym typeface="Calibri"/>
              </a:rPr>
              <a:t>The core components powering agentic search</a:t>
            </a:r>
            <a:endParaRPr b="1" i="0" sz="3515" u="none" strike="noStrike">
              <a:solidFill>
                <a:srgbClr val="0A2540"/>
              </a:solidFill>
              <a:latin typeface="Calibri"/>
              <a:ea typeface="Calibri"/>
              <a:cs typeface="Calibri"/>
              <a:sym typeface="Calibri"/>
            </a:endParaRPr>
          </a:p>
        </p:txBody>
      </p:sp>
      <p:grpSp>
        <p:nvGrpSpPr>
          <p:cNvPr id="165" name="Google Shape;165;p17"/>
          <p:cNvGrpSpPr/>
          <p:nvPr/>
        </p:nvGrpSpPr>
        <p:grpSpPr>
          <a:xfrm>
            <a:off x="452438" y="1662113"/>
            <a:ext cx="5496000" cy="1533600"/>
            <a:chOff x="-4762" y="-4762"/>
            <a:chExt cx="5496000" cy="1533600"/>
          </a:xfrm>
        </p:grpSpPr>
        <p:pic>
          <p:nvPicPr>
            <p:cNvPr id="166" name="Google Shape;166;p17"/>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67" name="Google Shape;167;p17"/>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INGESTION PIPELINE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Lucille</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lang="en-US" sz="1450">
                  <a:solidFill>
                    <a:srgbClr val="475569"/>
                  </a:solidFill>
                  <a:latin typeface="Calibri"/>
                  <a:ea typeface="Calibri"/>
                  <a:cs typeface="Calibri"/>
                  <a:sym typeface="Calibri"/>
                </a:rPr>
                <a:t>Open </a:t>
              </a:r>
              <a:r>
                <a:rPr lang="en-US" sz="1450">
                  <a:solidFill>
                    <a:srgbClr val="475569"/>
                  </a:solidFill>
                  <a:latin typeface="Calibri"/>
                  <a:ea typeface="Calibri"/>
                  <a:cs typeface="Calibri"/>
                  <a:sym typeface="Calibri"/>
                </a:rPr>
                <a:t>source</a:t>
              </a:r>
              <a:r>
                <a:rPr lang="en-US" sz="1450">
                  <a:solidFill>
                    <a:srgbClr val="475569"/>
                  </a:solidFill>
                  <a:latin typeface="Calibri"/>
                  <a:ea typeface="Calibri"/>
                  <a:cs typeface="Calibri"/>
                  <a:sym typeface="Calibri"/>
                </a:rPr>
                <a:t> </a:t>
              </a:r>
              <a:r>
                <a:rPr b="0" i="0" lang="en-US" sz="1450" u="none" strike="noStrike">
                  <a:solidFill>
                    <a:srgbClr val="475569"/>
                  </a:solidFill>
                  <a:latin typeface="Calibri"/>
                  <a:ea typeface="Calibri"/>
                  <a:cs typeface="Calibri"/>
                  <a:sym typeface="Calibri"/>
                </a:rPr>
                <a:t>Java ETL indexing pipeline that processes and transforms documents before they hit the search index.</a:t>
              </a:r>
              <a:endParaRPr b="1" i="0" sz="1250" u="none" strike="noStrike">
                <a:solidFill>
                  <a:srgbClr val="0EA5E9"/>
                </a:solidFill>
                <a:latin typeface="Calibri"/>
                <a:ea typeface="Calibri"/>
                <a:cs typeface="Calibri"/>
                <a:sym typeface="Calibri"/>
              </a:endParaRPr>
            </a:p>
          </p:txBody>
        </p:sp>
      </p:grpSp>
      <p:grpSp>
        <p:nvGrpSpPr>
          <p:cNvPr id="168" name="Google Shape;168;p17"/>
          <p:cNvGrpSpPr/>
          <p:nvPr/>
        </p:nvGrpSpPr>
        <p:grpSpPr>
          <a:xfrm>
            <a:off x="6243638" y="1662113"/>
            <a:ext cx="5496000" cy="1533600"/>
            <a:chOff x="-4762" y="-4762"/>
            <a:chExt cx="5496000" cy="1533600"/>
          </a:xfrm>
        </p:grpSpPr>
        <p:pic>
          <p:nvPicPr>
            <p:cNvPr id="169" name="Google Shape;169;p17"/>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70" name="Google Shape;170;p17"/>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SEARCH ENGINE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OpenSearch</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Where documents live; provides BM25 lexical keyword matching and vector-based semantic retrieval.</a:t>
              </a:r>
              <a:endParaRPr b="1" i="0" sz="1250" u="none" strike="noStrike">
                <a:solidFill>
                  <a:srgbClr val="0EA5E9"/>
                </a:solidFill>
                <a:latin typeface="Calibri"/>
                <a:ea typeface="Calibri"/>
                <a:cs typeface="Calibri"/>
                <a:sym typeface="Calibri"/>
              </a:endParaRPr>
            </a:p>
          </p:txBody>
        </p:sp>
      </p:grpSp>
      <p:grpSp>
        <p:nvGrpSpPr>
          <p:cNvPr id="171" name="Google Shape;171;p17"/>
          <p:cNvGrpSpPr/>
          <p:nvPr/>
        </p:nvGrpSpPr>
        <p:grpSpPr>
          <a:xfrm>
            <a:off x="452438" y="3376613"/>
            <a:ext cx="5496000" cy="1533600"/>
            <a:chOff x="-4762" y="-4762"/>
            <a:chExt cx="5496000" cy="1533600"/>
          </a:xfrm>
        </p:grpSpPr>
        <p:pic>
          <p:nvPicPr>
            <p:cNvPr id="172" name="Google Shape;172;p17"/>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73" name="Google Shape;173;p17"/>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ORCHESTRATION ENGINE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LangGraph Agent</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Orchestrates the continuous reasoning loop: intent classification, retrieval, reranking, and verification.</a:t>
              </a:r>
              <a:endParaRPr b="1" i="0" sz="1250" u="none" strike="noStrike">
                <a:solidFill>
                  <a:srgbClr val="0EA5E9"/>
                </a:solidFill>
                <a:latin typeface="Calibri"/>
                <a:ea typeface="Calibri"/>
                <a:cs typeface="Calibri"/>
                <a:sym typeface="Calibri"/>
              </a:endParaRPr>
            </a:p>
          </p:txBody>
        </p:sp>
      </p:grpSp>
      <p:grpSp>
        <p:nvGrpSpPr>
          <p:cNvPr id="174" name="Google Shape;174;p17"/>
          <p:cNvGrpSpPr/>
          <p:nvPr/>
        </p:nvGrpSpPr>
        <p:grpSpPr>
          <a:xfrm>
            <a:off x="6243638" y="3376613"/>
            <a:ext cx="5496000" cy="1533600"/>
            <a:chOff x="-4762" y="-4762"/>
            <a:chExt cx="5496000" cy="1533600"/>
          </a:xfrm>
        </p:grpSpPr>
        <p:pic>
          <p:nvPicPr>
            <p:cNvPr id="175" name="Google Shape;175;p17"/>
            <p:cNvPicPr preferRelativeResize="0"/>
            <p:nvPr/>
          </p:nvPicPr>
          <p:blipFill rotWithShape="1">
            <a:blip r:embed="rId4">
              <a:alphaModFix/>
            </a:blip>
            <a:srcRect b="0" l="0" r="0" t="0"/>
            <a:stretch/>
          </p:blipFill>
          <p:spPr>
            <a:xfrm>
              <a:off x="-4762" y="-4762"/>
              <a:ext cx="5496000" cy="1533600"/>
            </a:xfrm>
            <a:prstGeom prst="rect">
              <a:avLst/>
            </a:prstGeom>
            <a:noFill/>
            <a:ln>
              <a:noFill/>
            </a:ln>
          </p:spPr>
        </p:pic>
        <p:sp>
          <p:nvSpPr>
            <p:cNvPr id="176" name="Google Shape;176;p17"/>
            <p:cNvSpPr txBox="1"/>
            <p:nvPr/>
          </p:nvSpPr>
          <p:spPr>
            <a:xfrm>
              <a:off x="228600" y="152400"/>
              <a:ext cx="5029200" cy="1238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FOUNDATION MODEL</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200" u="none" strike="noStrike">
                  <a:solidFill>
                    <a:srgbClr val="0A2540"/>
                  </a:solidFill>
                  <a:latin typeface="Calibri"/>
                  <a:ea typeface="Calibri"/>
                  <a:cs typeface="Calibri"/>
                  <a:sym typeface="Calibri"/>
                </a:rPr>
                <a:t>Gemini</a:t>
              </a:r>
              <a:endParaRPr b="1" i="0" sz="1250" u="none" strike="noStrike">
                <a:solidFill>
                  <a:srgbClr val="0EA5E9"/>
                </a:solidFill>
                <a:latin typeface="Calibri"/>
                <a:ea typeface="Calibri"/>
                <a:cs typeface="Calibri"/>
                <a:sym typeface="Calibri"/>
              </a:endParaRPr>
            </a:p>
            <a:p>
              <a:pPr indent="0" lvl="0" marL="0" rtl="0" algn="l">
                <a:spcBef>
                  <a:spcPts val="500"/>
                </a:spcBef>
                <a:spcAft>
                  <a:spcPts val="0"/>
                </a:spcAft>
                <a:buNone/>
              </a:pPr>
              <a:r>
                <a:rPr b="0" i="0" lang="en-US" sz="1450" u="none" strike="noStrike">
                  <a:solidFill>
                    <a:srgbClr val="475569"/>
                  </a:solidFill>
                  <a:latin typeface="Calibri"/>
                  <a:ea typeface="Calibri"/>
                  <a:cs typeface="Calibri"/>
                  <a:sym typeface="Calibri"/>
                </a:rPr>
                <a:t>The LLM invoked by the agent for intent classification, result generation, and quality judgment.</a:t>
              </a:r>
              <a:endParaRPr b="1" i="0" sz="1250" u="none" strike="noStrike">
                <a:solidFill>
                  <a:srgbClr val="0EA5E9"/>
                </a:solidFill>
                <a:latin typeface="Calibri"/>
                <a:ea typeface="Calibri"/>
                <a:cs typeface="Calibri"/>
                <a:sym typeface="Calibri"/>
              </a:endParaRPr>
            </a:p>
          </p:txBody>
        </p:sp>
      </p:grpSp>
      <p:grpSp>
        <p:nvGrpSpPr>
          <p:cNvPr id="177" name="Google Shape;177;p17"/>
          <p:cNvGrpSpPr/>
          <p:nvPr/>
        </p:nvGrpSpPr>
        <p:grpSpPr>
          <a:xfrm>
            <a:off x="457200" y="5095875"/>
            <a:ext cx="11277600" cy="1143000"/>
            <a:chOff x="0" y="0"/>
            <a:chExt cx="11277600" cy="1143000"/>
          </a:xfrm>
        </p:grpSpPr>
        <p:pic>
          <p:nvPicPr>
            <p:cNvPr id="178" name="Google Shape;178;p17"/>
            <p:cNvPicPr preferRelativeResize="0"/>
            <p:nvPr/>
          </p:nvPicPr>
          <p:blipFill rotWithShape="1">
            <a:blip r:embed="rId5">
              <a:alphaModFix/>
            </a:blip>
            <a:srcRect b="0" l="0" r="0" t="0"/>
            <a:stretch/>
          </p:blipFill>
          <p:spPr>
            <a:xfrm>
              <a:off x="0" y="0"/>
              <a:ext cx="11277600" cy="1143000"/>
            </a:xfrm>
            <a:prstGeom prst="rect">
              <a:avLst/>
            </a:prstGeom>
            <a:noFill/>
            <a:ln>
              <a:noFill/>
            </a:ln>
          </p:spPr>
        </p:pic>
        <p:sp>
          <p:nvSpPr>
            <p:cNvPr id="179" name="Google Shape;179;p17"/>
            <p:cNvSpPr txBox="1"/>
            <p:nvPr/>
          </p:nvSpPr>
          <p:spPr>
            <a:xfrm>
              <a:off x="304800" y="171450"/>
              <a:ext cx="10668000" cy="800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50" u="none" strike="noStrike">
                  <a:solidFill>
                    <a:srgbClr val="0EA5E9"/>
                  </a:solidFill>
                  <a:latin typeface="Calibri"/>
                  <a:ea typeface="Calibri"/>
                  <a:cs typeface="Calibri"/>
                  <a:sym typeface="Calibri"/>
                </a:rPr>
                <a:t>SYSTEM ARCHITECTURE</a:t>
              </a:r>
              <a:endParaRPr b="1" i="0" sz="125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2300" u="none" strike="noStrike">
                  <a:solidFill>
                    <a:srgbClr val="FFFFFF"/>
                  </a:solidFill>
                  <a:latin typeface="Calibri"/>
                  <a:ea typeface="Calibri"/>
                  <a:cs typeface="Calibri"/>
                  <a:sym typeface="Calibri"/>
                </a:rPr>
                <a:t>Modular roles working in tandem to deliver self-correcting relevance.</a:t>
              </a:r>
              <a:endParaRPr b="1" i="0" sz="1250" u="none" strike="noStrike">
                <a:solidFill>
                  <a:srgbClr val="0EA5E9"/>
                </a:solidFill>
                <a:latin typeface="Calibri"/>
                <a:ea typeface="Calibri"/>
                <a:cs typeface="Calibri"/>
                <a:sym typeface="Calibri"/>
              </a:endParaRPr>
            </a:p>
          </p:txBody>
        </p:sp>
      </p:grpSp>
      <p:pic>
        <p:nvPicPr>
          <p:cNvPr id="180" name="Google Shape;180;p17"/>
          <p:cNvPicPr preferRelativeResize="0"/>
          <p:nvPr/>
        </p:nvPicPr>
        <p:blipFill rotWithShape="1">
          <a:blip r:embed="rId6">
            <a:alphaModFix/>
          </a:blip>
          <a:srcRect b="0" l="0" r="0" t="0"/>
          <a:stretch/>
        </p:blipFill>
        <p:spPr>
          <a:xfrm>
            <a:off x="10059924" y="314175"/>
            <a:ext cx="1644300" cy="645900"/>
          </a:xfrm>
          <a:prstGeom prst="rect">
            <a:avLst/>
          </a:prstGeom>
          <a:noFill/>
          <a:ln>
            <a:noFill/>
          </a:ln>
        </p:spPr>
      </p:pic>
      <p:sp>
        <p:nvSpPr>
          <p:cNvPr id="181" name="Google Shape;181;p17"/>
          <p:cNvSpPr txBox="1"/>
          <p:nvPr/>
        </p:nvSpPr>
        <p:spPr>
          <a:xfrm>
            <a:off x="1921297" y="6513376"/>
            <a:ext cx="10058400" cy="149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971" u="none" strike="noStrike">
                <a:solidFill>
                  <a:srgbClr val="94A3B8"/>
                </a:solidFill>
                <a:latin typeface="Calibri"/>
                <a:ea typeface="Calibri"/>
                <a:cs typeface="Calibri"/>
                <a:sym typeface="Calibri"/>
              </a:rPr>
              <a:t>OpenSearchCon North America · 2026 · Agentic Search: Reimagining Search from Ingestion to Relevancy</a:t>
            </a:r>
            <a:endParaRPr b="0" i="0" sz="971" u="none" strike="noStrike">
              <a:solidFill>
                <a:srgbClr val="94A3B8"/>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18"/>
          <p:cNvSpPr/>
          <p:nvPr/>
        </p:nvSpPr>
        <p:spPr>
          <a:xfrm>
            <a:off x="0" y="0"/>
            <a:ext cx="12192000" cy="68580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87" name="Google Shape;187;p18"/>
          <p:cNvGrpSpPr/>
          <p:nvPr/>
        </p:nvGrpSpPr>
        <p:grpSpPr>
          <a:xfrm>
            <a:off x="457200" y="457200"/>
            <a:ext cx="9048900" cy="781200"/>
            <a:chOff x="0" y="0"/>
            <a:chExt cx="9048900" cy="781200"/>
          </a:xfrm>
        </p:grpSpPr>
        <p:sp>
          <p:nvSpPr>
            <p:cNvPr id="188" name="Google Shape;188;p18"/>
            <p:cNvSpPr txBox="1"/>
            <p:nvPr/>
          </p:nvSpPr>
          <p:spPr>
            <a:xfrm>
              <a:off x="0" y="0"/>
              <a:ext cx="9048900" cy="285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50">
                  <a:solidFill>
                    <a:srgbClr val="0369A1"/>
                  </a:solidFill>
                  <a:latin typeface="Calibri"/>
                  <a:ea typeface="Calibri"/>
                  <a:cs typeface="Calibri"/>
                  <a:sym typeface="Calibri"/>
                </a:rPr>
                <a:t>FULL TOOLSET</a:t>
              </a:r>
              <a:endParaRPr b="1" i="0" sz="1350">
                <a:solidFill>
                  <a:srgbClr val="0369A1"/>
                </a:solidFill>
                <a:latin typeface="Calibri"/>
                <a:ea typeface="Calibri"/>
                <a:cs typeface="Calibri"/>
                <a:sym typeface="Calibri"/>
              </a:endParaRPr>
            </a:p>
          </p:txBody>
        </p:sp>
        <p:sp>
          <p:nvSpPr>
            <p:cNvPr id="189" name="Google Shape;189;p18"/>
            <p:cNvSpPr txBox="1"/>
            <p:nvPr/>
          </p:nvSpPr>
          <p:spPr>
            <a:xfrm>
              <a:off x="0" y="304800"/>
              <a:ext cx="9048900" cy="4764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053">
                  <a:solidFill>
                    <a:srgbClr val="0A2540"/>
                  </a:solidFill>
                  <a:latin typeface="Calibri"/>
                  <a:ea typeface="Calibri"/>
                  <a:cs typeface="Calibri"/>
                  <a:sym typeface="Calibri"/>
                </a:rPr>
                <a:t>Complete Search &amp; Relevancy Capabilities</a:t>
              </a:r>
              <a:endParaRPr b="1" i="0" sz="3053">
                <a:solidFill>
                  <a:srgbClr val="0A2540"/>
                </a:solidFill>
                <a:latin typeface="Calibri"/>
                <a:ea typeface="Calibri"/>
                <a:cs typeface="Calibri"/>
                <a:sym typeface="Calibri"/>
              </a:endParaRPr>
            </a:p>
          </p:txBody>
        </p:sp>
      </p:grpSp>
      <p:pic>
        <p:nvPicPr>
          <p:cNvPr id="190" name="Google Shape;190;p18"/>
          <p:cNvPicPr preferRelativeResize="0"/>
          <p:nvPr/>
        </p:nvPicPr>
        <p:blipFill rotWithShape="1">
          <a:blip r:embed="rId3">
            <a:alphaModFix/>
          </a:blip>
          <a:srcRect b="0" l="0" r="0" t="0"/>
          <a:stretch/>
        </p:blipFill>
        <p:spPr>
          <a:xfrm>
            <a:off x="10059924" y="314173"/>
            <a:ext cx="1644300" cy="645900"/>
          </a:xfrm>
          <a:prstGeom prst="rect">
            <a:avLst/>
          </a:prstGeom>
          <a:noFill/>
          <a:ln>
            <a:noFill/>
          </a:ln>
        </p:spPr>
      </p:pic>
      <p:grpSp>
        <p:nvGrpSpPr>
          <p:cNvPr id="191" name="Google Shape;191;p18"/>
          <p:cNvGrpSpPr/>
          <p:nvPr/>
        </p:nvGrpSpPr>
        <p:grpSpPr>
          <a:xfrm>
            <a:off x="457200" y="1524000"/>
            <a:ext cx="5448300" cy="3429000"/>
            <a:chOff x="0" y="0"/>
            <a:chExt cx="5448300" cy="3429000"/>
          </a:xfrm>
        </p:grpSpPr>
        <p:sp>
          <p:nvSpPr>
            <p:cNvPr id="192" name="Google Shape;192;p18"/>
            <p:cNvSpPr/>
            <p:nvPr/>
          </p:nvSpPr>
          <p:spPr>
            <a:xfrm>
              <a:off x="0" y="0"/>
              <a:ext cx="5448300" cy="3429000"/>
            </a:xfrm>
            <a:prstGeom prst="roundRect">
              <a:avLst>
                <a:gd fmla="val 222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3" name="Google Shape;193;p18"/>
            <p:cNvSpPr txBox="1"/>
            <p:nvPr/>
          </p:nvSpPr>
          <p:spPr>
            <a:xfrm>
              <a:off x="228600" y="190500"/>
              <a:ext cx="4991100" cy="3048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SEARCH ENGINE INFRASTRUCTURE</a:t>
              </a:r>
              <a:endParaRPr b="1" i="0" sz="1300" u="none" strike="noStrike">
                <a:solidFill>
                  <a:srgbClr val="0EA5E9"/>
                </a:solidFill>
                <a:latin typeface="Calibri"/>
                <a:ea typeface="Calibri"/>
                <a:cs typeface="Calibri"/>
                <a:sym typeface="Calibri"/>
              </a:endParaRPr>
            </a:p>
            <a:p>
              <a:pPr indent="0" lvl="0" marL="0" rtl="0" algn="l">
                <a:spcBef>
                  <a:spcPts val="600"/>
                </a:spcBef>
                <a:spcAft>
                  <a:spcPts val="0"/>
                </a:spcAft>
                <a:buNone/>
              </a:pPr>
              <a:r>
                <a:rPr b="1" i="0" lang="en-US" sz="1650" u="none" strike="noStrike">
                  <a:solidFill>
                    <a:srgbClr val="0A2540"/>
                  </a:solidFill>
                  <a:latin typeface="Calibri"/>
                  <a:ea typeface="Calibri"/>
                  <a:cs typeface="Calibri"/>
                  <a:sym typeface="Calibri"/>
                </a:rPr>
                <a:t>Baseline Relevancy Features</a:t>
              </a:r>
              <a:endParaRPr b="1" i="0" sz="130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250" u="none" strike="noStrike">
                  <a:solidFill>
                    <a:srgbClr val="0A2540"/>
                  </a:solidFill>
                  <a:latin typeface="Calibri"/>
                  <a:ea typeface="Calibri"/>
                  <a:cs typeface="Calibri"/>
                  <a:sym typeface="Calibri"/>
                </a:rPr>
                <a:t>Tokenization, Stemming, &amp; Language Processing</a:t>
              </a:r>
              <a:endParaRPr b="1" i="0" sz="1250" u="none" strike="noStrike">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u="none" strike="noStrike">
                  <a:solidFill>
                    <a:srgbClr val="475569"/>
                  </a:solidFill>
                  <a:latin typeface="Calibri"/>
                  <a:ea typeface="Calibri"/>
                  <a:cs typeface="Calibri"/>
                  <a:sym typeface="Calibri"/>
                </a:rPr>
                <a:t>Text analysis, lemmatization, and language-specific indexing pipelines.</a:t>
              </a:r>
              <a:endParaRPr b="1" i="0" sz="1150" u="none" strike="noStrike">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u="none" strike="noStrike">
                  <a:solidFill>
                    <a:srgbClr val="0A2540"/>
                  </a:solidFill>
                  <a:latin typeface="Calibri"/>
                  <a:ea typeface="Calibri"/>
                  <a:cs typeface="Calibri"/>
                  <a:sym typeface="Calibri"/>
                </a:rPr>
                <a:t>Spellcheck &amp; Phonetic Matching</a:t>
              </a:r>
              <a:endParaRPr b="1" i="0" sz="1250" u="none" strike="noStrike">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u="none" strike="noStrike">
                  <a:solidFill>
                    <a:srgbClr val="475569"/>
                  </a:solidFill>
                  <a:latin typeface="Calibri"/>
                  <a:ea typeface="Calibri"/>
                  <a:cs typeface="Calibri"/>
                  <a:sym typeface="Calibri"/>
                </a:rPr>
                <a:t>Automatic typo correction and sound-alike phonetic indexing.</a:t>
              </a:r>
              <a:endParaRPr b="1" i="0" sz="1150" u="none" strike="noStrike">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u="none" strike="noStrike">
                  <a:solidFill>
                    <a:srgbClr val="0A2540"/>
                  </a:solidFill>
                  <a:latin typeface="Calibri"/>
                  <a:ea typeface="Calibri"/>
                  <a:cs typeface="Calibri"/>
                  <a:sym typeface="Calibri"/>
                </a:rPr>
                <a:t>Synonyms &amp; Expansion</a:t>
              </a:r>
              <a:endParaRPr b="1" i="0" sz="1250" u="none" strike="noStrike">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u="none" strike="noStrike">
                  <a:solidFill>
                    <a:srgbClr val="475569"/>
                  </a:solidFill>
                  <a:latin typeface="Calibri"/>
                  <a:ea typeface="Calibri"/>
                  <a:cs typeface="Calibri"/>
                  <a:sym typeface="Calibri"/>
                </a:rPr>
                <a:t>Static and dynamic synonym mappings for domain term alignment.</a:t>
              </a:r>
              <a:endParaRPr b="1" i="0" sz="1150" u="none" strike="noStrike">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u="none" strike="noStrike">
                  <a:solidFill>
                    <a:srgbClr val="0A2540"/>
                  </a:solidFill>
                  <a:latin typeface="Calibri"/>
                  <a:ea typeface="Calibri"/>
                  <a:cs typeface="Calibri"/>
                  <a:sym typeface="Calibri"/>
                </a:rPr>
                <a:t>Field Boosts &amp; Structural Scoring</a:t>
              </a:r>
              <a:endParaRPr b="1" i="0" sz="1250" u="none" strike="noStrike">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u="none" strike="noStrike">
                  <a:solidFill>
                    <a:srgbClr val="475569"/>
                  </a:solidFill>
                  <a:latin typeface="Calibri"/>
                  <a:ea typeface="Calibri"/>
                  <a:cs typeface="Calibri"/>
                  <a:sym typeface="Calibri"/>
                </a:rPr>
                <a:t>Weighted field importance (title, brand, specs) in BM25 scoring.</a:t>
              </a:r>
              <a:endParaRPr b="1" i="0" sz="1150" u="none" strike="noStrike">
                <a:solidFill>
                  <a:srgbClr val="0EA5E9"/>
                </a:solidFill>
                <a:latin typeface="Calibri"/>
                <a:ea typeface="Calibri"/>
                <a:cs typeface="Calibri"/>
                <a:sym typeface="Calibri"/>
              </a:endParaRPr>
            </a:p>
          </p:txBody>
        </p:sp>
      </p:grpSp>
      <p:grpSp>
        <p:nvGrpSpPr>
          <p:cNvPr id="194" name="Google Shape;194;p18"/>
          <p:cNvGrpSpPr/>
          <p:nvPr/>
        </p:nvGrpSpPr>
        <p:grpSpPr>
          <a:xfrm>
            <a:off x="6286500" y="1524000"/>
            <a:ext cx="5448300" cy="3429000"/>
            <a:chOff x="0" y="0"/>
            <a:chExt cx="5448300" cy="3429000"/>
          </a:xfrm>
        </p:grpSpPr>
        <p:sp>
          <p:nvSpPr>
            <p:cNvPr id="195" name="Google Shape;195;p18"/>
            <p:cNvSpPr/>
            <p:nvPr/>
          </p:nvSpPr>
          <p:spPr>
            <a:xfrm>
              <a:off x="0" y="0"/>
              <a:ext cx="5448300" cy="3429000"/>
            </a:xfrm>
            <a:prstGeom prst="roundRect">
              <a:avLst>
                <a:gd fmla="val 222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6" name="Google Shape;196;p18"/>
            <p:cNvSpPr txBox="1"/>
            <p:nvPr/>
          </p:nvSpPr>
          <p:spPr>
            <a:xfrm>
              <a:off x="228600" y="190500"/>
              <a:ext cx="4991100" cy="3048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AUTONOMOUS ORCHESTRATION</a:t>
              </a:r>
              <a:endParaRPr b="1" i="0" sz="13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650">
                  <a:solidFill>
                    <a:srgbClr val="0A2540"/>
                  </a:solidFill>
                  <a:latin typeface="Calibri"/>
                  <a:ea typeface="Calibri"/>
                  <a:cs typeface="Calibri"/>
                  <a:sym typeface="Calibri"/>
                </a:rPr>
                <a:t>Agentic &amp; Evaluator-Driven Layer</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250">
                  <a:solidFill>
                    <a:srgbClr val="0A2540"/>
                  </a:solidFill>
                  <a:latin typeface="Calibri"/>
                  <a:ea typeface="Calibri"/>
                  <a:cs typeface="Calibri"/>
                  <a:sym typeface="Calibri"/>
                </a:rPr>
                <a:t>Intent Classification &amp; Alpha Weighting</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Dynamic hybrid search balancing (dense vector vs sparse keyword).</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Cross-Encoder Reranking &amp; Quality-Gate Retry</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Precision reranking with single-bounded retry logic on low confidence.</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lang="en-US" sz="1250">
                  <a:solidFill>
                    <a:srgbClr val="0A2540"/>
                  </a:solidFill>
                  <a:latin typeface="Calibri"/>
                  <a:ea typeface="Calibri"/>
                  <a:cs typeface="Calibri"/>
                  <a:sym typeface="Calibri"/>
                </a:rPr>
                <a:t>Attribute</a:t>
              </a:r>
              <a:r>
                <a:rPr b="1" i="0" lang="en-US" sz="1250">
                  <a:solidFill>
                    <a:srgbClr val="0A2540"/>
                  </a:solidFill>
                  <a:latin typeface="Calibri"/>
                  <a:ea typeface="Calibri"/>
                  <a:cs typeface="Calibri"/>
                  <a:sym typeface="Calibri"/>
                </a:rPr>
                <a:t> Growth &amp; Schema Correction</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Live catalog enrichment extracting missing attributes from raw text.</a:t>
              </a:r>
              <a:endParaRPr b="1" i="0" sz="1150">
                <a:solidFill>
                  <a:srgbClr val="0EA5E9"/>
                </a:solidFill>
                <a:latin typeface="Calibri"/>
                <a:ea typeface="Calibri"/>
                <a:cs typeface="Calibri"/>
                <a:sym typeface="Calibri"/>
              </a:endParaRPr>
            </a:p>
            <a:p>
              <a:pPr indent="0" lvl="0" marL="0" rtl="0" algn="l">
                <a:spcBef>
                  <a:spcPts val="700"/>
                </a:spcBef>
                <a:spcAft>
                  <a:spcPts val="0"/>
                </a:spcAft>
                <a:buNone/>
              </a:pPr>
              <a:r>
                <a:rPr b="1" i="0" lang="en-US" sz="1250">
                  <a:solidFill>
                    <a:srgbClr val="0A2540"/>
                  </a:solidFill>
                  <a:latin typeface="Calibri"/>
                  <a:ea typeface="Calibri"/>
                  <a:cs typeface="Calibri"/>
                  <a:sym typeface="Calibri"/>
                </a:rPr>
                <a:t>LLM Judge &amp; ESCI Evaluation</a:t>
              </a:r>
              <a:endParaRPr b="1" i="0" sz="1250">
                <a:solidFill>
                  <a:srgbClr val="0EA5E9"/>
                </a:solidFill>
                <a:latin typeface="Calibri"/>
                <a:ea typeface="Calibri"/>
                <a:cs typeface="Calibri"/>
                <a:sym typeface="Calibri"/>
              </a:endParaRPr>
            </a:p>
            <a:p>
              <a:pPr indent="0" lvl="0" marL="0" rtl="0" algn="l">
                <a:spcBef>
                  <a:spcPts val="100"/>
                </a:spcBef>
                <a:spcAft>
                  <a:spcPts val="0"/>
                </a:spcAft>
                <a:buNone/>
              </a:pPr>
              <a:r>
                <a:rPr b="0" i="0" lang="en-US" sz="1150">
                  <a:solidFill>
                    <a:srgbClr val="475569"/>
                  </a:solidFill>
                  <a:latin typeface="Calibri"/>
                  <a:ea typeface="Calibri"/>
                  <a:cs typeface="Calibri"/>
                  <a:sym typeface="Calibri"/>
                </a:rPr>
                <a:t>Continuous relevancy scoring and judgment-driven diagnostic feedback.</a:t>
              </a:r>
              <a:endParaRPr b="1" i="0" sz="1150">
                <a:solidFill>
                  <a:srgbClr val="0EA5E9"/>
                </a:solidFill>
                <a:latin typeface="Calibri"/>
                <a:ea typeface="Calibri"/>
                <a:cs typeface="Calibri"/>
                <a:sym typeface="Calibri"/>
              </a:endParaRPr>
            </a:p>
          </p:txBody>
        </p:sp>
      </p:grpSp>
      <p:grpSp>
        <p:nvGrpSpPr>
          <p:cNvPr id="197" name="Google Shape;197;p18"/>
          <p:cNvGrpSpPr/>
          <p:nvPr/>
        </p:nvGrpSpPr>
        <p:grpSpPr>
          <a:xfrm>
            <a:off x="457200" y="5143500"/>
            <a:ext cx="11277600" cy="952500"/>
            <a:chOff x="0" y="0"/>
            <a:chExt cx="11277600" cy="952500"/>
          </a:xfrm>
        </p:grpSpPr>
        <p:sp>
          <p:nvSpPr>
            <p:cNvPr id="198" name="Google Shape;198;p18"/>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9" name="Google Shape;199;p18"/>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100">
                  <a:solidFill>
                    <a:srgbClr val="0EA5E9"/>
                  </a:solidFill>
                  <a:latin typeface="Calibri"/>
                  <a:ea typeface="Calibri"/>
                  <a:cs typeface="Calibri"/>
                  <a:sym typeface="Calibri"/>
                </a:rPr>
                <a:t>ARCHITECTURE SUMMARY</a:t>
              </a:r>
              <a:endParaRPr b="1" i="0" sz="1100">
                <a:solidFill>
                  <a:srgbClr val="0EA5E9"/>
                </a:solidFill>
                <a:latin typeface="Calibri"/>
                <a:ea typeface="Calibri"/>
                <a:cs typeface="Calibri"/>
                <a:sym typeface="Calibri"/>
              </a:endParaRPr>
            </a:p>
            <a:p>
              <a:pPr indent="0" lvl="0" marL="0" rtl="0" algn="l">
                <a:spcBef>
                  <a:spcPts val="300"/>
                </a:spcBef>
                <a:spcAft>
                  <a:spcPts val="0"/>
                </a:spcAft>
                <a:buNone/>
              </a:pPr>
              <a:r>
                <a:rPr b="0" i="0" lang="en-US" sz="1350">
                  <a:solidFill>
                    <a:srgbClr val="FFFFFF"/>
                  </a:solidFill>
                  <a:latin typeface="Calibri"/>
                  <a:ea typeface="Calibri"/>
                  <a:cs typeface="Calibri"/>
                  <a:sym typeface="Calibri"/>
                </a:rPr>
                <a:t>Combining foundational search mechanics with an agentic feedback loop ensures high baseline retrieval while continuously self-correcting schema and relevancy gaps.</a:t>
              </a:r>
              <a:endParaRPr b="1" i="0" sz="1100">
                <a:solidFill>
                  <a:srgbClr val="0EA5E9"/>
                </a:solidFill>
                <a:latin typeface="Calibri"/>
                <a:ea typeface="Calibri"/>
                <a:cs typeface="Calibri"/>
                <a:sym typeface="Calibri"/>
              </a:endParaRPr>
            </a:p>
          </p:txBody>
        </p:sp>
      </p:grpSp>
      <p:sp>
        <p:nvSpPr>
          <p:cNvPr id="200" name="Google Shape;200;p18"/>
          <p:cNvSpPr txBox="1"/>
          <p:nvPr/>
        </p:nvSpPr>
        <p:spPr>
          <a:xfrm>
            <a:off x="1921297" y="6513376"/>
            <a:ext cx="10058400" cy="1716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r">
              <a:spcBef>
                <a:spcPts val="0"/>
              </a:spcBef>
              <a:spcAft>
                <a:spcPts val="0"/>
              </a:spcAft>
              <a:buNone/>
            </a:pPr>
            <a:r>
              <a:rPr b="0" i="0" lang="en-US" sz="1000">
                <a:solidFill>
                  <a:srgbClr val="94A3B8"/>
                </a:solidFill>
                <a:latin typeface="Calibri"/>
                <a:ea typeface="Calibri"/>
                <a:cs typeface="Calibri"/>
                <a:sym typeface="Calibri"/>
              </a:rPr>
              <a:t>OpenSearchCon North America · 2026 · Agentic Search: Reimagining Search from Ingestion to Relevancy</a:t>
            </a:r>
            <a:endParaRPr b="0" i="0" sz="1000">
              <a:solidFill>
                <a:srgbClr val="94A3B8"/>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19"/>
          <p:cNvSpPr/>
          <p:nvPr/>
        </p:nvSpPr>
        <p:spPr>
          <a:xfrm>
            <a:off x="0" y="0"/>
            <a:ext cx="12192000" cy="68580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6" name="Google Shape;206;p19"/>
          <p:cNvSpPr txBox="1"/>
          <p:nvPr/>
        </p:nvSpPr>
        <p:spPr>
          <a:xfrm>
            <a:off x="457200" y="571500"/>
            <a:ext cx="11277600" cy="190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190">
                <a:solidFill>
                  <a:srgbClr val="0369A1"/>
                </a:solidFill>
                <a:latin typeface="Calibri"/>
                <a:ea typeface="Calibri"/>
                <a:cs typeface="Calibri"/>
                <a:sym typeface="Calibri"/>
              </a:rPr>
              <a:t>TALK THESIS</a:t>
            </a:r>
            <a:endParaRPr b="1" i="0" sz="1190">
              <a:solidFill>
                <a:srgbClr val="0369A1"/>
              </a:solidFill>
              <a:latin typeface="Calibri"/>
              <a:ea typeface="Calibri"/>
              <a:cs typeface="Calibri"/>
              <a:sym typeface="Calibri"/>
            </a:endParaRPr>
          </a:p>
        </p:txBody>
      </p:sp>
      <p:sp>
        <p:nvSpPr>
          <p:cNvPr id="207" name="Google Shape;207;p19"/>
          <p:cNvSpPr txBox="1"/>
          <p:nvPr/>
        </p:nvSpPr>
        <p:spPr>
          <a:xfrm>
            <a:off x="457200" y="809625"/>
            <a:ext cx="11277600" cy="5238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330">
                <a:solidFill>
                  <a:srgbClr val="0A2540"/>
                </a:solidFill>
                <a:latin typeface="Calibri"/>
                <a:ea typeface="Calibri"/>
                <a:cs typeface="Calibri"/>
                <a:sym typeface="Calibri"/>
              </a:rPr>
              <a:t>When does a search agent become genuinely agentic?</a:t>
            </a:r>
            <a:endParaRPr b="1" i="0" sz="3330">
              <a:solidFill>
                <a:srgbClr val="0A2540"/>
              </a:solidFill>
              <a:latin typeface="Calibri"/>
              <a:ea typeface="Calibri"/>
              <a:cs typeface="Calibri"/>
              <a:sym typeface="Calibri"/>
            </a:endParaRPr>
          </a:p>
        </p:txBody>
      </p:sp>
      <p:grpSp>
        <p:nvGrpSpPr>
          <p:cNvPr id="208" name="Google Shape;208;p19"/>
          <p:cNvGrpSpPr/>
          <p:nvPr/>
        </p:nvGrpSpPr>
        <p:grpSpPr>
          <a:xfrm>
            <a:off x="457200" y="1476375"/>
            <a:ext cx="11277600" cy="1047900"/>
            <a:chOff x="0" y="0"/>
            <a:chExt cx="11277600" cy="1047900"/>
          </a:xfrm>
        </p:grpSpPr>
        <p:sp>
          <p:nvSpPr>
            <p:cNvPr id="209" name="Google Shape;209;p19"/>
            <p:cNvSpPr/>
            <p:nvPr/>
          </p:nvSpPr>
          <p:spPr>
            <a:xfrm>
              <a:off x="0" y="0"/>
              <a:ext cx="11277600" cy="1047900"/>
            </a:xfrm>
            <a:prstGeom prst="roundRect">
              <a:avLst>
                <a:gd fmla="val 727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0" name="Google Shape;210;p19"/>
            <p:cNvSpPr txBox="1"/>
            <p:nvPr/>
          </p:nvSpPr>
          <p:spPr>
            <a:xfrm>
              <a:off x="266700" y="0"/>
              <a:ext cx="10744200" cy="1047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i="0" lang="en-US" sz="2800">
                  <a:solidFill>
                    <a:srgbClr val="0A2540"/>
                  </a:solidFill>
                  <a:latin typeface="Calibri"/>
                  <a:ea typeface="Calibri"/>
                  <a:cs typeface="Calibri"/>
                  <a:sym typeface="Calibri"/>
                </a:rPr>
                <a:t>“When it can improve results on the fly — and </a:t>
              </a:r>
              <a:r>
                <a:rPr b="1" lang="en-US" sz="2800">
                  <a:solidFill>
                    <a:srgbClr val="0A2540"/>
                  </a:solidFill>
                  <a:latin typeface="Calibri"/>
                  <a:ea typeface="Calibri"/>
                  <a:cs typeface="Calibri"/>
                  <a:sym typeface="Calibri"/>
                </a:rPr>
                <a:t>enrich</a:t>
              </a:r>
              <a:r>
                <a:rPr b="1" i="0" lang="en-US" sz="2800">
                  <a:solidFill>
                    <a:srgbClr val="0A2540"/>
                  </a:solidFill>
                  <a:latin typeface="Calibri"/>
                  <a:ea typeface="Calibri"/>
                  <a:cs typeface="Calibri"/>
                  <a:sym typeface="Calibri"/>
                </a:rPr>
                <a:t> the catalog itself.”</a:t>
              </a:r>
              <a:endParaRPr b="1" i="0" sz="2800">
                <a:solidFill>
                  <a:srgbClr val="0A2540"/>
                </a:solidFill>
                <a:latin typeface="Calibri"/>
                <a:ea typeface="Calibri"/>
                <a:cs typeface="Calibri"/>
                <a:sym typeface="Calibri"/>
              </a:endParaRPr>
            </a:p>
          </p:txBody>
        </p:sp>
      </p:grpSp>
      <p:grpSp>
        <p:nvGrpSpPr>
          <p:cNvPr id="211" name="Google Shape;211;p19"/>
          <p:cNvGrpSpPr/>
          <p:nvPr/>
        </p:nvGrpSpPr>
        <p:grpSpPr>
          <a:xfrm>
            <a:off x="866613" y="2738475"/>
            <a:ext cx="10458450" cy="1762200"/>
            <a:chOff x="457200" y="2667000"/>
            <a:chExt cx="10458450" cy="1762200"/>
          </a:xfrm>
        </p:grpSpPr>
        <p:grpSp>
          <p:nvGrpSpPr>
            <p:cNvPr id="212" name="Google Shape;212;p19"/>
            <p:cNvGrpSpPr/>
            <p:nvPr/>
          </p:nvGrpSpPr>
          <p:grpSpPr>
            <a:xfrm>
              <a:off x="457200" y="2667000"/>
              <a:ext cx="1333500" cy="1762200"/>
              <a:chOff x="0" y="0"/>
              <a:chExt cx="1333500" cy="1762200"/>
            </a:xfrm>
          </p:grpSpPr>
          <p:sp>
            <p:nvSpPr>
              <p:cNvPr id="213" name="Google Shape;213;p19"/>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214" name="Google Shape;214;p19"/>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01</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Classify intent</a:t>
                </a:r>
                <a:endParaRPr b="1" i="0" sz="1600">
                  <a:solidFill>
                    <a:srgbClr val="0EA5E9"/>
                  </a:solidFill>
                  <a:latin typeface="Calibri"/>
                  <a:ea typeface="Calibri"/>
                  <a:cs typeface="Calibri"/>
                  <a:sym typeface="Calibri"/>
                </a:endParaRPr>
              </a:p>
            </p:txBody>
          </p:sp>
        </p:grpSp>
        <p:grpSp>
          <p:nvGrpSpPr>
            <p:cNvPr id="215" name="Google Shape;215;p19"/>
            <p:cNvGrpSpPr/>
            <p:nvPr/>
          </p:nvGrpSpPr>
          <p:grpSpPr>
            <a:xfrm>
              <a:off x="1962150" y="2667000"/>
              <a:ext cx="1333500" cy="1762200"/>
              <a:chOff x="0" y="0"/>
              <a:chExt cx="1333500" cy="1762200"/>
            </a:xfrm>
          </p:grpSpPr>
          <p:sp>
            <p:nvSpPr>
              <p:cNvPr id="216" name="Google Shape;216;p19"/>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217" name="Google Shape;217;p19"/>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02</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Retrieve</a:t>
                </a:r>
                <a:endParaRPr b="1" i="0" sz="1600">
                  <a:solidFill>
                    <a:srgbClr val="0EA5E9"/>
                  </a:solidFill>
                  <a:latin typeface="Calibri"/>
                  <a:ea typeface="Calibri"/>
                  <a:cs typeface="Calibri"/>
                  <a:sym typeface="Calibri"/>
                </a:endParaRPr>
              </a:p>
            </p:txBody>
          </p:sp>
        </p:grpSp>
        <p:grpSp>
          <p:nvGrpSpPr>
            <p:cNvPr id="218" name="Google Shape;218;p19"/>
            <p:cNvGrpSpPr/>
            <p:nvPr/>
          </p:nvGrpSpPr>
          <p:grpSpPr>
            <a:xfrm>
              <a:off x="3467100" y="2667000"/>
              <a:ext cx="1333500" cy="1762200"/>
              <a:chOff x="0" y="0"/>
              <a:chExt cx="1333500" cy="1762200"/>
            </a:xfrm>
          </p:grpSpPr>
          <p:sp>
            <p:nvSpPr>
              <p:cNvPr id="219" name="Google Shape;219;p19"/>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220" name="Google Shape;220;p19"/>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03</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Rerank</a:t>
                </a:r>
                <a:endParaRPr b="1" i="0" sz="1600">
                  <a:solidFill>
                    <a:srgbClr val="0EA5E9"/>
                  </a:solidFill>
                  <a:latin typeface="Calibri"/>
                  <a:ea typeface="Calibri"/>
                  <a:cs typeface="Calibri"/>
                  <a:sym typeface="Calibri"/>
                </a:endParaRPr>
              </a:p>
            </p:txBody>
          </p:sp>
        </p:grpSp>
        <p:grpSp>
          <p:nvGrpSpPr>
            <p:cNvPr id="221" name="Google Shape;221;p19"/>
            <p:cNvGrpSpPr/>
            <p:nvPr/>
          </p:nvGrpSpPr>
          <p:grpSpPr>
            <a:xfrm>
              <a:off x="4972050" y="2667000"/>
              <a:ext cx="1333500" cy="1762200"/>
              <a:chOff x="0" y="0"/>
              <a:chExt cx="1333500" cy="1762200"/>
            </a:xfrm>
          </p:grpSpPr>
          <p:sp>
            <p:nvSpPr>
              <p:cNvPr id="222" name="Google Shape;222;p19"/>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223" name="Google Shape;223;p19"/>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04</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Quality check</a:t>
                </a:r>
                <a:endParaRPr b="1" i="0" sz="1600">
                  <a:solidFill>
                    <a:srgbClr val="0EA5E9"/>
                  </a:solidFill>
                  <a:latin typeface="Calibri"/>
                  <a:ea typeface="Calibri"/>
                  <a:cs typeface="Calibri"/>
                  <a:sym typeface="Calibri"/>
                </a:endParaRPr>
              </a:p>
            </p:txBody>
          </p:sp>
        </p:grpSp>
        <p:grpSp>
          <p:nvGrpSpPr>
            <p:cNvPr id="224" name="Google Shape;224;p19"/>
            <p:cNvGrpSpPr/>
            <p:nvPr/>
          </p:nvGrpSpPr>
          <p:grpSpPr>
            <a:xfrm>
              <a:off x="6477000" y="2667000"/>
              <a:ext cx="1447800" cy="1762200"/>
              <a:chOff x="0" y="0"/>
              <a:chExt cx="1447800" cy="1762200"/>
            </a:xfrm>
          </p:grpSpPr>
          <p:sp>
            <p:nvSpPr>
              <p:cNvPr id="225" name="Google Shape;225;p19"/>
              <p:cNvSpPr/>
              <p:nvPr/>
            </p:nvSpPr>
            <p:spPr>
              <a:xfrm>
                <a:off x="0" y="0"/>
                <a:ext cx="1447800" cy="1762200"/>
              </a:xfrm>
              <a:prstGeom prst="roundRect">
                <a:avLst>
                  <a:gd fmla="val 526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6" name="Google Shape;226;p19"/>
              <p:cNvSpPr txBox="1"/>
              <p:nvPr/>
            </p:nvSpPr>
            <p:spPr>
              <a:xfrm>
                <a:off x="0" y="0"/>
                <a:ext cx="1447800" cy="1762200"/>
              </a:xfrm>
              <a:prstGeom prst="rect">
                <a:avLst/>
              </a:prstGeom>
              <a:solidFill>
                <a:srgbClr val="000000">
                  <a:alpha val="0"/>
                </a:srgbClr>
              </a:solidFill>
              <a:ln>
                <a:noFill/>
              </a:ln>
            </p:spPr>
            <p:txBody>
              <a:bodyPr anchorCtr="0" anchor="t" bIns="152400" lIns="76200" spcFirstLastPara="1" rIns="76200" wrap="square" tIns="1905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05</a:t>
                </a:r>
                <a:endParaRPr b="1" i="0" sz="2200">
                  <a:solidFill>
                    <a:srgbClr val="0EA5E9"/>
                  </a:solidFill>
                  <a:latin typeface="Calibri"/>
                  <a:ea typeface="Calibri"/>
                  <a:cs typeface="Calibri"/>
                  <a:sym typeface="Calibri"/>
                </a:endParaRPr>
              </a:p>
              <a:p>
                <a:pPr indent="0" lvl="0" marL="0" rtl="0" algn="ctr">
                  <a:spcBef>
                    <a:spcPts val="400"/>
                  </a:spcBef>
                  <a:spcAft>
                    <a:spcPts val="0"/>
                  </a:spcAft>
                  <a:buNone/>
                </a:pPr>
                <a:r>
                  <a:rPr b="1" i="0" lang="en-US" sz="1600">
                    <a:solidFill>
                      <a:srgbClr val="0A2540"/>
                    </a:solidFill>
                    <a:latin typeface="Calibri"/>
                    <a:ea typeface="Calibri"/>
                    <a:cs typeface="Calibri"/>
                    <a:sym typeface="Calibri"/>
                  </a:rPr>
                  <a:t>Retry once</a:t>
                </a:r>
                <a:endParaRPr b="1" i="0" sz="1600">
                  <a:solidFill>
                    <a:srgbClr val="0EA5E9"/>
                  </a:solidFill>
                  <a:latin typeface="Calibri"/>
                  <a:ea typeface="Calibri"/>
                  <a:cs typeface="Calibri"/>
                  <a:sym typeface="Calibri"/>
                </a:endParaRPr>
              </a:p>
              <a:p>
                <a:pPr indent="0" lvl="0" marL="0" rtl="0" algn="ctr">
                  <a:spcBef>
                    <a:spcPts val="200"/>
                  </a:spcBef>
                  <a:spcAft>
                    <a:spcPts val="400"/>
                  </a:spcAft>
                  <a:buNone/>
                </a:pPr>
                <a:r>
                  <a:rPr b="0" i="0" lang="en-US" sz="1200">
                    <a:solidFill>
                      <a:srgbClr val="0369A1"/>
                    </a:solidFill>
                    <a:latin typeface="Calibri"/>
                    <a:ea typeface="Calibri"/>
                    <a:cs typeface="Calibri"/>
                    <a:sym typeface="Calibri"/>
                  </a:rPr>
                  <a:t>(if needed)</a:t>
                </a:r>
                <a:endParaRPr b="1" i="0" sz="1200">
                  <a:solidFill>
                    <a:srgbClr val="0EA5E9"/>
                  </a:solidFill>
                  <a:latin typeface="Calibri"/>
                  <a:ea typeface="Calibri"/>
                  <a:cs typeface="Calibri"/>
                  <a:sym typeface="Calibri"/>
                </a:endParaRPr>
              </a:p>
            </p:txBody>
          </p:sp>
        </p:grpSp>
        <p:grpSp>
          <p:nvGrpSpPr>
            <p:cNvPr id="227" name="Google Shape;227;p19"/>
            <p:cNvGrpSpPr/>
            <p:nvPr/>
          </p:nvGrpSpPr>
          <p:grpSpPr>
            <a:xfrm>
              <a:off x="8077200" y="2667000"/>
              <a:ext cx="1333500" cy="1762200"/>
              <a:chOff x="0" y="0"/>
              <a:chExt cx="1333500" cy="1762200"/>
            </a:xfrm>
          </p:grpSpPr>
          <p:sp>
            <p:nvSpPr>
              <p:cNvPr id="228" name="Google Shape;228;p19"/>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229" name="Google Shape;229;p19"/>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06</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Answer</a:t>
                </a:r>
                <a:endParaRPr b="1" i="0" sz="1600">
                  <a:solidFill>
                    <a:srgbClr val="0EA5E9"/>
                  </a:solidFill>
                  <a:latin typeface="Calibri"/>
                  <a:ea typeface="Calibri"/>
                  <a:cs typeface="Calibri"/>
                  <a:sym typeface="Calibri"/>
                </a:endParaRPr>
              </a:p>
            </p:txBody>
          </p:sp>
        </p:grpSp>
        <p:grpSp>
          <p:nvGrpSpPr>
            <p:cNvPr id="230" name="Google Shape;230;p19"/>
            <p:cNvGrpSpPr/>
            <p:nvPr/>
          </p:nvGrpSpPr>
          <p:grpSpPr>
            <a:xfrm>
              <a:off x="9582150" y="2667000"/>
              <a:ext cx="1333500" cy="1762200"/>
              <a:chOff x="0" y="0"/>
              <a:chExt cx="1333500" cy="1762200"/>
            </a:xfrm>
          </p:grpSpPr>
          <p:sp>
            <p:nvSpPr>
              <p:cNvPr id="231" name="Google Shape;231;p19"/>
              <p:cNvSpPr/>
              <p:nvPr/>
            </p:nvSpPr>
            <p:spPr>
              <a:xfrm>
                <a:off x="0" y="0"/>
                <a:ext cx="1333500" cy="1762200"/>
              </a:xfrm>
              <a:prstGeom prst="roundRect">
                <a:avLst>
                  <a:gd fmla="val 571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ctr">
                  <a:spcBef>
                    <a:spcPts val="0"/>
                  </a:spcBef>
                  <a:spcAft>
                    <a:spcPts val="0"/>
                  </a:spcAft>
                  <a:buNone/>
                </a:pPr>
                <a:r>
                  <a:t/>
                </a:r>
                <a:endParaRPr/>
              </a:p>
            </p:txBody>
          </p:sp>
          <p:sp>
            <p:nvSpPr>
              <p:cNvPr id="232" name="Google Shape;232;p19"/>
              <p:cNvSpPr txBox="1"/>
              <p:nvPr/>
            </p:nvSpPr>
            <p:spPr>
              <a:xfrm>
                <a:off x="0" y="0"/>
                <a:ext cx="1333500" cy="1762200"/>
              </a:xfrm>
              <a:prstGeom prst="rect">
                <a:avLst/>
              </a:prstGeom>
              <a:solidFill>
                <a:srgbClr val="000000">
                  <a:alpha val="0"/>
                </a:srgbClr>
              </a:solidFill>
              <a:ln>
                <a:noFill/>
              </a:ln>
            </p:spPr>
            <p:txBody>
              <a:bodyPr anchorCtr="0" anchor="t" bIns="152400" lIns="76200" spcFirstLastPara="1" rIns="76200" wrap="square" tIns="228600">
                <a:noAutofit/>
              </a:bodyPr>
              <a:lstStyle/>
              <a:p>
                <a:pPr indent="0" lvl="0" marL="0" rtl="0" algn="ctr">
                  <a:spcBef>
                    <a:spcPts val="0"/>
                  </a:spcBef>
                  <a:spcAft>
                    <a:spcPts val="0"/>
                  </a:spcAft>
                  <a:buNone/>
                </a:pPr>
                <a:r>
                  <a:rPr b="1" i="0" lang="en-US" sz="2200">
                    <a:solidFill>
                      <a:srgbClr val="0EA5E9"/>
                    </a:solidFill>
                    <a:latin typeface="Calibri"/>
                    <a:ea typeface="Calibri"/>
                    <a:cs typeface="Calibri"/>
                    <a:sym typeface="Calibri"/>
                  </a:rPr>
                  <a:t>07</a:t>
                </a:r>
                <a:endParaRPr b="1" i="0" sz="2200">
                  <a:solidFill>
                    <a:srgbClr val="0EA5E9"/>
                  </a:solidFill>
                  <a:latin typeface="Calibri"/>
                  <a:ea typeface="Calibri"/>
                  <a:cs typeface="Calibri"/>
                  <a:sym typeface="Calibri"/>
                </a:endParaRPr>
              </a:p>
              <a:p>
                <a:pPr indent="0" lvl="0" marL="0" rtl="0" algn="ctr">
                  <a:spcBef>
                    <a:spcPts val="600"/>
                  </a:spcBef>
                  <a:spcAft>
                    <a:spcPts val="600"/>
                  </a:spcAft>
                  <a:buNone/>
                </a:pPr>
                <a:r>
                  <a:rPr b="1" i="0" lang="en-US" sz="1600">
                    <a:solidFill>
                      <a:srgbClr val="0A2540"/>
                    </a:solidFill>
                    <a:latin typeface="Calibri"/>
                    <a:ea typeface="Calibri"/>
                    <a:cs typeface="Calibri"/>
                    <a:sym typeface="Calibri"/>
                  </a:rPr>
                  <a:t>Verify</a:t>
                </a:r>
                <a:endParaRPr b="1" i="0" sz="1600">
                  <a:solidFill>
                    <a:srgbClr val="0EA5E9"/>
                  </a:solidFill>
                  <a:latin typeface="Calibri"/>
                  <a:ea typeface="Calibri"/>
                  <a:cs typeface="Calibri"/>
                  <a:sym typeface="Calibri"/>
                </a:endParaRPr>
              </a:p>
            </p:txBody>
          </p:sp>
        </p:grpSp>
      </p:grpSp>
      <p:pic>
        <p:nvPicPr>
          <p:cNvPr id="233" name="Google Shape;233;p19"/>
          <p:cNvPicPr preferRelativeResize="0"/>
          <p:nvPr/>
        </p:nvPicPr>
        <p:blipFill rotWithShape="1">
          <a:blip r:embed="rId3">
            <a:alphaModFix/>
          </a:blip>
          <a:srcRect b="0" l="0" r="0" t="0"/>
          <a:stretch/>
        </p:blipFill>
        <p:spPr>
          <a:xfrm>
            <a:off x="10059924" y="314175"/>
            <a:ext cx="1644300" cy="645900"/>
          </a:xfrm>
          <a:prstGeom prst="rect">
            <a:avLst/>
          </a:prstGeom>
          <a:noFill/>
          <a:ln>
            <a:noFill/>
          </a:ln>
        </p:spPr>
      </p:pic>
      <p:grpSp>
        <p:nvGrpSpPr>
          <p:cNvPr id="234" name="Google Shape;234;p19"/>
          <p:cNvGrpSpPr/>
          <p:nvPr/>
        </p:nvGrpSpPr>
        <p:grpSpPr>
          <a:xfrm>
            <a:off x="457200" y="4714875"/>
            <a:ext cx="11277600" cy="1428900"/>
            <a:chOff x="0" y="0"/>
            <a:chExt cx="11277600" cy="1428900"/>
          </a:xfrm>
        </p:grpSpPr>
        <p:sp>
          <p:nvSpPr>
            <p:cNvPr id="235" name="Google Shape;235;p19"/>
            <p:cNvSpPr/>
            <p:nvPr/>
          </p:nvSpPr>
          <p:spPr>
            <a:xfrm>
              <a:off x="0" y="0"/>
              <a:ext cx="11277600" cy="1428900"/>
            </a:xfrm>
            <a:prstGeom prst="roundRect">
              <a:avLst>
                <a:gd fmla="val 5333"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6" name="Google Shape;236;p19"/>
            <p:cNvSpPr txBox="1"/>
            <p:nvPr/>
          </p:nvSpPr>
          <p:spPr>
            <a:xfrm>
              <a:off x="304800" y="0"/>
              <a:ext cx="10668000" cy="1428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EXECUTION DYNAMICS</a:t>
              </a:r>
              <a:endParaRPr b="1" i="0" sz="1300">
                <a:solidFill>
                  <a:srgbClr val="0EA5E9"/>
                </a:solidFill>
                <a:latin typeface="Calibri"/>
                <a:ea typeface="Calibri"/>
                <a:cs typeface="Calibri"/>
                <a:sym typeface="Calibri"/>
              </a:endParaRPr>
            </a:p>
            <a:p>
              <a:pPr indent="0" lvl="0" marL="0" rtl="0" algn="l">
                <a:spcBef>
                  <a:spcPts val="600"/>
                </a:spcBef>
                <a:spcAft>
                  <a:spcPts val="600"/>
                </a:spcAft>
                <a:buNone/>
              </a:pPr>
              <a:r>
                <a:rPr b="1" i="0" lang="en-US" sz="2400">
                  <a:solidFill>
                    <a:srgbClr val="FFFFFF"/>
                  </a:solidFill>
                  <a:latin typeface="Calibri"/>
                  <a:ea typeface="Calibri"/>
                  <a:cs typeface="Calibri"/>
                  <a:sym typeface="Calibri"/>
                </a:rPr>
                <a:t>“This isn't five isolated steps — it's a loop the agent can walk back into exactly once before it has to commit to an answer.”</a:t>
              </a:r>
              <a:endParaRPr b="1" i="0" sz="1300">
                <a:solidFill>
                  <a:srgbClr val="0EA5E9"/>
                </a:solidFill>
                <a:latin typeface="Calibri"/>
                <a:ea typeface="Calibri"/>
                <a:cs typeface="Calibri"/>
                <a:sym typeface="Calibri"/>
              </a:endParaRPr>
            </a:p>
          </p:txBody>
        </p:sp>
      </p:grpSp>
      <p:sp>
        <p:nvSpPr>
          <p:cNvPr id="237" name="Google Shape;237;p19"/>
          <p:cNvSpPr txBox="1"/>
          <p:nvPr/>
        </p:nvSpPr>
        <p:spPr>
          <a:xfrm>
            <a:off x="1921297" y="6513376"/>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20"/>
          <p:cNvSpPr txBox="1"/>
          <p:nvPr/>
        </p:nvSpPr>
        <p:spPr>
          <a:xfrm>
            <a:off x="365760" y="2286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a:solidFill>
                  <a:srgbClr val="94A3B8"/>
                </a:solidFill>
                <a:latin typeface="Calibri"/>
                <a:ea typeface="Calibri"/>
                <a:cs typeface="Calibri"/>
                <a:sym typeface="Calibri"/>
              </a:rPr>
              <a:t>4 / 11</a:t>
            </a:r>
            <a:endParaRPr b="0" i="0" sz="1100">
              <a:solidFill>
                <a:srgbClr val="94A3B8"/>
              </a:solidFill>
              <a:latin typeface="Calibri"/>
              <a:ea typeface="Calibri"/>
              <a:cs typeface="Calibri"/>
              <a:sym typeface="Calibri"/>
            </a:endParaRPr>
          </a:p>
        </p:txBody>
      </p:sp>
      <p:sp>
        <p:nvSpPr>
          <p:cNvPr id="243" name="Google Shape;243;p20"/>
          <p:cNvSpPr txBox="1"/>
          <p:nvPr/>
        </p:nvSpPr>
        <p:spPr>
          <a:xfrm>
            <a:off x="457200" y="571500"/>
            <a:ext cx="11247000" cy="215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STRUCTURE</a:t>
            </a:r>
            <a:endParaRPr b="1" i="0" sz="1400">
              <a:solidFill>
                <a:srgbClr val="0369A1"/>
              </a:solidFill>
              <a:latin typeface="Calibri"/>
              <a:ea typeface="Calibri"/>
              <a:cs typeface="Calibri"/>
              <a:sym typeface="Calibri"/>
            </a:endParaRPr>
          </a:p>
        </p:txBody>
      </p:sp>
      <p:sp>
        <p:nvSpPr>
          <p:cNvPr id="244" name="Google Shape;244;p20"/>
          <p:cNvSpPr txBox="1"/>
          <p:nvPr/>
        </p:nvSpPr>
        <p:spPr>
          <a:xfrm>
            <a:off x="457200" y="895350"/>
            <a:ext cx="11247000" cy="540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515">
                <a:solidFill>
                  <a:srgbClr val="0A2540"/>
                </a:solidFill>
                <a:latin typeface="Calibri"/>
                <a:ea typeface="Calibri"/>
                <a:cs typeface="Calibri"/>
                <a:sym typeface="Calibri"/>
              </a:rPr>
              <a:t>One live application, three demos</a:t>
            </a:r>
            <a:endParaRPr b="1" i="0" sz="3515">
              <a:solidFill>
                <a:srgbClr val="0A2540"/>
              </a:solidFill>
              <a:latin typeface="Calibri"/>
              <a:ea typeface="Calibri"/>
              <a:cs typeface="Calibri"/>
              <a:sym typeface="Calibri"/>
            </a:endParaRPr>
          </a:p>
        </p:txBody>
      </p:sp>
      <p:grpSp>
        <p:nvGrpSpPr>
          <p:cNvPr id="245" name="Google Shape;245;p20"/>
          <p:cNvGrpSpPr/>
          <p:nvPr/>
        </p:nvGrpSpPr>
        <p:grpSpPr>
          <a:xfrm>
            <a:off x="457200" y="1809750"/>
            <a:ext cx="3600600" cy="2952900"/>
            <a:chOff x="0" y="0"/>
            <a:chExt cx="3600600" cy="2952900"/>
          </a:xfrm>
        </p:grpSpPr>
        <p:sp>
          <p:nvSpPr>
            <p:cNvPr id="246" name="Google Shape;246;p20"/>
            <p:cNvSpPr/>
            <p:nvPr/>
          </p:nvSpPr>
          <p:spPr>
            <a:xfrm>
              <a:off x="0" y="0"/>
              <a:ext cx="3600600" cy="2952900"/>
            </a:xfrm>
            <a:prstGeom prst="roundRect">
              <a:avLst>
                <a:gd fmla="val 258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7" name="Google Shape;247;p20"/>
            <p:cNvSpPr txBox="1"/>
            <p:nvPr/>
          </p:nvSpPr>
          <p:spPr>
            <a:xfrm>
              <a:off x="266700" y="228600"/>
              <a:ext cx="3067200" cy="2476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a:solidFill>
                    <a:srgbClr val="0EA5E9"/>
                  </a:solidFill>
                  <a:latin typeface="Calibri"/>
                  <a:ea typeface="Calibri"/>
                  <a:cs typeface="Calibri"/>
                  <a:sym typeface="Calibri"/>
                </a:rPr>
                <a:t>DEMO 01</a:t>
              </a:r>
              <a:endParaRPr b="1" i="0" sz="1500">
                <a:solidFill>
                  <a:srgbClr val="0EA5E9"/>
                </a:solidFill>
                <a:latin typeface="Calibri"/>
                <a:ea typeface="Calibri"/>
                <a:cs typeface="Calibri"/>
                <a:sym typeface="Calibri"/>
              </a:endParaRPr>
            </a:p>
            <a:p>
              <a:pPr indent="0" lvl="0" marL="0" rtl="0" algn="l">
                <a:spcBef>
                  <a:spcPts val="800"/>
                </a:spcBef>
                <a:spcAft>
                  <a:spcPts val="0"/>
                </a:spcAft>
                <a:buNone/>
              </a:pPr>
              <a:r>
                <a:rPr b="1" i="0" lang="en-US" sz="2500">
                  <a:solidFill>
                    <a:srgbClr val="0A2540"/>
                  </a:solidFill>
                  <a:latin typeface="Calibri"/>
                  <a:ea typeface="Calibri"/>
                  <a:cs typeface="Calibri"/>
                  <a:sym typeface="Calibri"/>
                </a:rPr>
                <a:t>Adaptive Query Enhancements</a:t>
              </a:r>
              <a:endParaRPr b="1" i="0" sz="1500">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a:solidFill>
                    <a:srgbClr val="475569"/>
                  </a:solidFill>
                  <a:latin typeface="Calibri"/>
                  <a:ea typeface="Calibri"/>
                  <a:cs typeface="Calibri"/>
                  <a:sym typeface="Calibri"/>
                </a:rPr>
                <a:t>One conversation, context carried forward.</a:t>
              </a:r>
              <a:endParaRPr b="1" i="0" sz="1500">
                <a:solidFill>
                  <a:srgbClr val="0EA5E9"/>
                </a:solidFill>
                <a:latin typeface="Calibri"/>
                <a:ea typeface="Calibri"/>
                <a:cs typeface="Calibri"/>
                <a:sym typeface="Calibri"/>
              </a:endParaRPr>
            </a:p>
          </p:txBody>
        </p:sp>
      </p:grpSp>
      <p:grpSp>
        <p:nvGrpSpPr>
          <p:cNvPr id="248" name="Google Shape;248;p20"/>
          <p:cNvGrpSpPr/>
          <p:nvPr/>
        </p:nvGrpSpPr>
        <p:grpSpPr>
          <a:xfrm>
            <a:off x="4295775" y="1809750"/>
            <a:ext cx="3600600" cy="2952900"/>
            <a:chOff x="0" y="0"/>
            <a:chExt cx="3600600" cy="2952900"/>
          </a:xfrm>
        </p:grpSpPr>
        <p:sp>
          <p:nvSpPr>
            <p:cNvPr id="249" name="Google Shape;249;p20"/>
            <p:cNvSpPr/>
            <p:nvPr/>
          </p:nvSpPr>
          <p:spPr>
            <a:xfrm>
              <a:off x="0" y="0"/>
              <a:ext cx="3600600" cy="2952900"/>
            </a:xfrm>
            <a:prstGeom prst="roundRect">
              <a:avLst>
                <a:gd fmla="val 258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0" name="Google Shape;250;p20"/>
            <p:cNvSpPr txBox="1"/>
            <p:nvPr/>
          </p:nvSpPr>
          <p:spPr>
            <a:xfrm>
              <a:off x="266700" y="228600"/>
              <a:ext cx="3067200" cy="2476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a:solidFill>
                    <a:srgbClr val="0EA5E9"/>
                  </a:solidFill>
                  <a:latin typeface="Calibri"/>
                  <a:ea typeface="Calibri"/>
                  <a:cs typeface="Calibri"/>
                  <a:sym typeface="Calibri"/>
                </a:rPr>
                <a:t>DEMO 02</a:t>
              </a:r>
              <a:endParaRPr b="1" i="0" sz="1500">
                <a:solidFill>
                  <a:srgbClr val="0EA5E9"/>
                </a:solidFill>
                <a:latin typeface="Calibri"/>
                <a:ea typeface="Calibri"/>
                <a:cs typeface="Calibri"/>
                <a:sym typeface="Calibri"/>
              </a:endParaRPr>
            </a:p>
            <a:p>
              <a:pPr indent="0" lvl="0" marL="0" rtl="0" algn="l">
                <a:spcBef>
                  <a:spcPts val="800"/>
                </a:spcBef>
                <a:spcAft>
                  <a:spcPts val="0"/>
                </a:spcAft>
                <a:buNone/>
              </a:pPr>
              <a:r>
                <a:rPr b="1" i="0" lang="en-US" sz="2500">
                  <a:solidFill>
                    <a:srgbClr val="0A2540"/>
                  </a:solidFill>
                  <a:latin typeface="Calibri"/>
                  <a:ea typeface="Calibri"/>
                  <a:cs typeface="Calibri"/>
                  <a:sym typeface="Calibri"/>
                </a:rPr>
                <a:t>Proving It With Real Judgments</a:t>
              </a:r>
              <a:endParaRPr b="1" i="0" sz="1500">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a:solidFill>
                    <a:srgbClr val="475569"/>
                  </a:solidFill>
                  <a:latin typeface="Calibri"/>
                  <a:ea typeface="Calibri"/>
                  <a:cs typeface="Calibri"/>
                  <a:sym typeface="Calibri"/>
                </a:rPr>
                <a:t>Scored against real academic judgments.</a:t>
              </a:r>
              <a:endParaRPr b="1" i="0" sz="1500">
                <a:solidFill>
                  <a:srgbClr val="0EA5E9"/>
                </a:solidFill>
                <a:latin typeface="Calibri"/>
                <a:ea typeface="Calibri"/>
                <a:cs typeface="Calibri"/>
                <a:sym typeface="Calibri"/>
              </a:endParaRPr>
            </a:p>
          </p:txBody>
        </p:sp>
      </p:grpSp>
      <p:grpSp>
        <p:nvGrpSpPr>
          <p:cNvPr id="251" name="Google Shape;251;p20"/>
          <p:cNvGrpSpPr/>
          <p:nvPr/>
        </p:nvGrpSpPr>
        <p:grpSpPr>
          <a:xfrm>
            <a:off x="8134350" y="1809750"/>
            <a:ext cx="3600600" cy="2952900"/>
            <a:chOff x="0" y="0"/>
            <a:chExt cx="3600600" cy="2952900"/>
          </a:xfrm>
        </p:grpSpPr>
        <p:sp>
          <p:nvSpPr>
            <p:cNvPr id="252" name="Google Shape;252;p20"/>
            <p:cNvSpPr/>
            <p:nvPr/>
          </p:nvSpPr>
          <p:spPr>
            <a:xfrm>
              <a:off x="0" y="0"/>
              <a:ext cx="3600600" cy="2952900"/>
            </a:xfrm>
            <a:prstGeom prst="roundRect">
              <a:avLst>
                <a:gd fmla="val 258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3" name="Google Shape;253;p20"/>
            <p:cNvSpPr txBox="1"/>
            <p:nvPr/>
          </p:nvSpPr>
          <p:spPr>
            <a:xfrm>
              <a:off x="266700" y="228600"/>
              <a:ext cx="3067200" cy="2476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a:solidFill>
                    <a:srgbClr val="0EA5E9"/>
                  </a:solidFill>
                  <a:latin typeface="Calibri"/>
                  <a:ea typeface="Calibri"/>
                  <a:cs typeface="Calibri"/>
                  <a:sym typeface="Calibri"/>
                </a:rPr>
                <a:t>DEMO 03</a:t>
              </a:r>
              <a:endParaRPr b="1" i="0" sz="1500">
                <a:solidFill>
                  <a:srgbClr val="0EA5E9"/>
                </a:solidFill>
                <a:latin typeface="Calibri"/>
                <a:ea typeface="Calibri"/>
                <a:cs typeface="Calibri"/>
                <a:sym typeface="Calibri"/>
              </a:endParaRPr>
            </a:p>
            <a:p>
              <a:pPr indent="0" lvl="0" marL="0" rtl="0" algn="l">
                <a:spcBef>
                  <a:spcPts val="800"/>
                </a:spcBef>
                <a:spcAft>
                  <a:spcPts val="0"/>
                </a:spcAft>
                <a:buNone/>
              </a:pPr>
              <a:r>
                <a:rPr b="1" i="0" lang="en-US" sz="2500">
                  <a:solidFill>
                    <a:srgbClr val="0A2540"/>
                  </a:solidFill>
                  <a:latin typeface="Calibri"/>
                  <a:ea typeface="Calibri"/>
                  <a:cs typeface="Calibri"/>
                  <a:sym typeface="Calibri"/>
                </a:rPr>
                <a:t>Classification &amp; Ingestion</a:t>
              </a:r>
              <a:endParaRPr b="1" i="0" sz="1500">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a:solidFill>
                    <a:srgbClr val="475569"/>
                  </a:solidFill>
                  <a:latin typeface="Calibri"/>
                  <a:ea typeface="Calibri"/>
                  <a:cs typeface="Calibri"/>
                  <a:sym typeface="Calibri"/>
                </a:rPr>
                <a:t>One bad tag, </a:t>
              </a:r>
              <a:r>
                <a:rPr lang="en-US" sz="1600">
                  <a:solidFill>
                    <a:srgbClr val="475569"/>
                  </a:solidFill>
                  <a:latin typeface="Calibri"/>
                  <a:ea typeface="Calibri"/>
                  <a:cs typeface="Calibri"/>
                  <a:sym typeface="Calibri"/>
                </a:rPr>
                <a:t>changed</a:t>
              </a:r>
              <a:r>
                <a:rPr b="0" i="0" lang="en-US" sz="1600">
                  <a:solidFill>
                    <a:srgbClr val="475569"/>
                  </a:solidFill>
                  <a:latin typeface="Calibri"/>
                  <a:ea typeface="Calibri"/>
                  <a:cs typeface="Calibri"/>
                  <a:sym typeface="Calibri"/>
                </a:rPr>
                <a:t> live.</a:t>
              </a:r>
              <a:endParaRPr b="1" i="0" sz="1500">
                <a:solidFill>
                  <a:srgbClr val="0EA5E9"/>
                </a:solidFill>
                <a:latin typeface="Calibri"/>
                <a:ea typeface="Calibri"/>
                <a:cs typeface="Calibri"/>
                <a:sym typeface="Calibri"/>
              </a:endParaRPr>
            </a:p>
          </p:txBody>
        </p:sp>
      </p:grpSp>
      <p:sp>
        <p:nvSpPr>
          <p:cNvPr id="254" name="Google Shape;254;p20"/>
          <p:cNvSpPr/>
          <p:nvPr/>
        </p:nvSpPr>
        <p:spPr>
          <a:xfrm>
            <a:off x="457200" y="5048250"/>
            <a:ext cx="11277600" cy="1143000"/>
          </a:xfrm>
          <a:prstGeom prst="rect">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5" name="Google Shape;255;p20"/>
          <p:cNvSpPr txBox="1"/>
          <p:nvPr/>
        </p:nvSpPr>
        <p:spPr>
          <a:xfrm>
            <a:off x="762000" y="5200650"/>
            <a:ext cx="10668000" cy="6117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SYSTEM CAPABILITY</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2300">
                <a:solidFill>
                  <a:srgbClr val="FFFFFF"/>
                </a:solidFill>
                <a:latin typeface="Calibri"/>
                <a:ea typeface="Calibri"/>
                <a:cs typeface="Calibri"/>
                <a:sym typeface="Calibri"/>
              </a:rPr>
              <a:t>Any query. One retry. One repair. Enriches the catalog, not just the query.</a:t>
            </a:r>
            <a:endParaRPr b="1" i="0" sz="1300">
              <a:solidFill>
                <a:srgbClr val="0EA5E9"/>
              </a:solidFill>
              <a:latin typeface="Calibri"/>
              <a:ea typeface="Calibri"/>
              <a:cs typeface="Calibri"/>
              <a:sym typeface="Calibri"/>
            </a:endParaRPr>
          </a:p>
        </p:txBody>
      </p:sp>
      <p:pic>
        <p:nvPicPr>
          <p:cNvPr id="256" name="Google Shape;256;p20" title="KMWLogo_blk_blue.png"/>
          <p:cNvPicPr preferRelativeResize="0"/>
          <p:nvPr/>
        </p:nvPicPr>
        <p:blipFill>
          <a:blip r:embed="rId3">
            <a:alphaModFix/>
          </a:blip>
          <a:stretch>
            <a:fillRect/>
          </a:stretch>
        </p:blipFill>
        <p:spPr>
          <a:xfrm>
            <a:off x="10059924" y="314175"/>
            <a:ext cx="1644399" cy="645950"/>
          </a:xfrm>
          <a:prstGeom prst="rect">
            <a:avLst/>
          </a:prstGeom>
          <a:noFill/>
          <a:ln>
            <a:noFill/>
          </a:ln>
        </p:spPr>
      </p:pic>
      <p:sp>
        <p:nvSpPr>
          <p:cNvPr id="257" name="Google Shape;257;p20"/>
          <p:cNvSpPr txBox="1"/>
          <p:nvPr/>
        </p:nvSpPr>
        <p:spPr>
          <a:xfrm>
            <a:off x="1921297" y="6513376"/>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pic>
        <p:nvPicPr>
          <p:cNvPr id="262" name="Google Shape;262;p2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63" name="Google Shape;263;p21"/>
          <p:cNvSpPr txBox="1"/>
          <p:nvPr/>
        </p:nvSpPr>
        <p:spPr>
          <a:xfrm>
            <a:off x="457200" y="5334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500" u="none" strike="noStrike">
                <a:solidFill>
                  <a:srgbClr val="0369A1"/>
                </a:solidFill>
                <a:latin typeface="Calibri"/>
                <a:ea typeface="Calibri"/>
                <a:cs typeface="Calibri"/>
                <a:sym typeface="Calibri"/>
              </a:rPr>
              <a:t>THE STACK</a:t>
            </a:r>
            <a:endParaRPr b="1" i="0" sz="1500" u="none" strike="noStrike">
              <a:solidFill>
                <a:srgbClr val="0369A1"/>
              </a:solidFill>
              <a:latin typeface="Calibri"/>
              <a:ea typeface="Calibri"/>
              <a:cs typeface="Calibri"/>
              <a:sym typeface="Calibri"/>
            </a:endParaRPr>
          </a:p>
        </p:txBody>
      </p:sp>
      <p:sp>
        <p:nvSpPr>
          <p:cNvPr id="264" name="Google Shape;264;p21"/>
          <p:cNvSpPr txBox="1"/>
          <p:nvPr/>
        </p:nvSpPr>
        <p:spPr>
          <a:xfrm>
            <a:off x="457200" y="838200"/>
            <a:ext cx="11239500" cy="647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4200" u="none" strike="noStrike">
                <a:solidFill>
                  <a:srgbClr val="0A2540"/>
                </a:solidFill>
                <a:latin typeface="Calibri"/>
                <a:ea typeface="Calibri"/>
                <a:cs typeface="Calibri"/>
                <a:sym typeface="Calibri"/>
              </a:rPr>
              <a:t>End-to-end local architecture</a:t>
            </a:r>
            <a:endParaRPr b="1" i="0" sz="4200" u="none" strike="noStrike">
              <a:solidFill>
                <a:srgbClr val="0A2540"/>
              </a:solidFill>
              <a:latin typeface="Calibri"/>
              <a:ea typeface="Calibri"/>
              <a:cs typeface="Calibri"/>
              <a:sym typeface="Calibri"/>
            </a:endParaRPr>
          </a:p>
        </p:txBody>
      </p:sp>
      <p:grpSp>
        <p:nvGrpSpPr>
          <p:cNvPr id="265" name="Google Shape;265;p21"/>
          <p:cNvGrpSpPr/>
          <p:nvPr/>
        </p:nvGrpSpPr>
        <p:grpSpPr>
          <a:xfrm>
            <a:off x="457200" y="1714500"/>
            <a:ext cx="3600600" cy="1428900"/>
            <a:chOff x="0" y="0"/>
            <a:chExt cx="3600600" cy="1428900"/>
          </a:xfrm>
        </p:grpSpPr>
        <p:sp>
          <p:nvSpPr>
            <p:cNvPr id="266" name="Google Shape;266;p21"/>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7" name="Google Shape;267;p21"/>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INGEST</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Lucille</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Java ETL pipeline for document processing and transformation.</a:t>
              </a:r>
              <a:endParaRPr b="1" i="0" sz="1300" u="none" strike="noStrike">
                <a:solidFill>
                  <a:srgbClr val="0EA5E9"/>
                </a:solidFill>
                <a:latin typeface="Calibri"/>
                <a:ea typeface="Calibri"/>
                <a:cs typeface="Calibri"/>
                <a:sym typeface="Calibri"/>
              </a:endParaRPr>
            </a:p>
          </p:txBody>
        </p:sp>
      </p:grpSp>
      <p:grpSp>
        <p:nvGrpSpPr>
          <p:cNvPr id="268" name="Google Shape;268;p21"/>
          <p:cNvGrpSpPr/>
          <p:nvPr/>
        </p:nvGrpSpPr>
        <p:grpSpPr>
          <a:xfrm>
            <a:off x="4295775" y="1714500"/>
            <a:ext cx="3600600" cy="1428900"/>
            <a:chOff x="0" y="0"/>
            <a:chExt cx="3600600" cy="1428900"/>
          </a:xfrm>
        </p:grpSpPr>
        <p:sp>
          <p:nvSpPr>
            <p:cNvPr id="269" name="Google Shape;269;p21"/>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0" name="Google Shape;270;p21"/>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INDEX</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OpenSearch</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BM25 + vector search using HNSW indexing algorithms.</a:t>
              </a:r>
              <a:endParaRPr b="1" i="0" sz="1300" u="none" strike="noStrike">
                <a:solidFill>
                  <a:srgbClr val="0EA5E9"/>
                </a:solidFill>
                <a:latin typeface="Calibri"/>
                <a:ea typeface="Calibri"/>
                <a:cs typeface="Calibri"/>
                <a:sym typeface="Calibri"/>
              </a:endParaRPr>
            </a:p>
          </p:txBody>
        </p:sp>
      </p:grpSp>
      <p:grpSp>
        <p:nvGrpSpPr>
          <p:cNvPr id="271" name="Google Shape;271;p21"/>
          <p:cNvGrpSpPr/>
          <p:nvPr/>
        </p:nvGrpSpPr>
        <p:grpSpPr>
          <a:xfrm>
            <a:off x="8134350" y="1714500"/>
            <a:ext cx="3600600" cy="1428900"/>
            <a:chOff x="0" y="0"/>
            <a:chExt cx="3600600" cy="1428900"/>
          </a:xfrm>
        </p:grpSpPr>
        <p:sp>
          <p:nvSpPr>
            <p:cNvPr id="272" name="Google Shape;272;p21"/>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3" name="Google Shape;273;p21"/>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RETRIEVE &amp; RERANK</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Hybrid Fusion</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Multi-stage retrieval backed by local cross-encoder models.</a:t>
              </a:r>
              <a:endParaRPr b="1" i="0" sz="1300" u="none" strike="noStrike">
                <a:solidFill>
                  <a:srgbClr val="0EA5E9"/>
                </a:solidFill>
                <a:latin typeface="Calibri"/>
                <a:ea typeface="Calibri"/>
                <a:cs typeface="Calibri"/>
                <a:sym typeface="Calibri"/>
              </a:endParaRPr>
            </a:p>
          </p:txBody>
        </p:sp>
      </p:grpSp>
      <p:grpSp>
        <p:nvGrpSpPr>
          <p:cNvPr id="274" name="Google Shape;274;p21"/>
          <p:cNvGrpSpPr/>
          <p:nvPr/>
        </p:nvGrpSpPr>
        <p:grpSpPr>
          <a:xfrm>
            <a:off x="457200" y="3333750"/>
            <a:ext cx="3600600" cy="1428900"/>
            <a:chOff x="0" y="0"/>
            <a:chExt cx="3600600" cy="1428900"/>
          </a:xfrm>
        </p:grpSpPr>
        <p:sp>
          <p:nvSpPr>
            <p:cNvPr id="275" name="Google Shape;275;p21"/>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6" name="Google Shape;276;p21"/>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REASON</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LangGraph + LangChain</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Orchestration powered by Gemini 2.5 Flash / Flash-Lite models.</a:t>
              </a:r>
              <a:endParaRPr b="1" i="0" sz="1300" u="none" strike="noStrike">
                <a:solidFill>
                  <a:srgbClr val="0EA5E9"/>
                </a:solidFill>
                <a:latin typeface="Calibri"/>
                <a:ea typeface="Calibri"/>
                <a:cs typeface="Calibri"/>
                <a:sym typeface="Calibri"/>
              </a:endParaRPr>
            </a:p>
          </p:txBody>
        </p:sp>
      </p:grpSp>
      <p:grpSp>
        <p:nvGrpSpPr>
          <p:cNvPr id="277" name="Google Shape;277;p21"/>
          <p:cNvGrpSpPr/>
          <p:nvPr/>
        </p:nvGrpSpPr>
        <p:grpSpPr>
          <a:xfrm>
            <a:off x="4295775" y="3333750"/>
            <a:ext cx="3600600" cy="1428900"/>
            <a:chOff x="0" y="0"/>
            <a:chExt cx="3600600" cy="1428900"/>
          </a:xfrm>
        </p:grpSpPr>
        <p:sp>
          <p:nvSpPr>
            <p:cNvPr id="278" name="Google Shape;278;p21"/>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9" name="Google Shape;279;p21"/>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SERVE</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FastAPI + WebSocket</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Real-time execution APIs with Postgres state checkpoints.</a:t>
              </a:r>
              <a:endParaRPr b="1" i="0" sz="1300" u="none" strike="noStrike">
                <a:solidFill>
                  <a:srgbClr val="0EA5E9"/>
                </a:solidFill>
                <a:latin typeface="Calibri"/>
                <a:ea typeface="Calibri"/>
                <a:cs typeface="Calibri"/>
                <a:sym typeface="Calibri"/>
              </a:endParaRPr>
            </a:p>
          </p:txBody>
        </p:sp>
      </p:grpSp>
      <p:grpSp>
        <p:nvGrpSpPr>
          <p:cNvPr id="280" name="Google Shape;280;p21"/>
          <p:cNvGrpSpPr/>
          <p:nvPr/>
        </p:nvGrpSpPr>
        <p:grpSpPr>
          <a:xfrm>
            <a:off x="8134350" y="3333750"/>
            <a:ext cx="3600600" cy="1428900"/>
            <a:chOff x="0" y="0"/>
            <a:chExt cx="3600600" cy="1428900"/>
          </a:xfrm>
        </p:grpSpPr>
        <p:sp>
          <p:nvSpPr>
            <p:cNvPr id="281" name="Google Shape;281;p21"/>
            <p:cNvSpPr/>
            <p:nvPr/>
          </p:nvSpPr>
          <p:spPr>
            <a:xfrm>
              <a:off x="0" y="0"/>
              <a:ext cx="3600600" cy="1428900"/>
            </a:xfrm>
            <a:prstGeom prst="roundRect">
              <a:avLst>
                <a:gd fmla="val 533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2" name="Google Shape;282;p21"/>
            <p:cNvSpPr txBox="1"/>
            <p:nvPr/>
          </p:nvSpPr>
          <p:spPr>
            <a:xfrm>
              <a:off x="228600" y="133350"/>
              <a:ext cx="3143400" cy="1162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UI</a:t>
              </a:r>
              <a:endParaRPr b="1" i="0" sz="13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2000" u="none" strike="noStrike">
                  <a:solidFill>
                    <a:srgbClr val="0A2540"/>
                  </a:solidFill>
                  <a:latin typeface="Calibri"/>
                  <a:ea typeface="Calibri"/>
                  <a:cs typeface="Calibri"/>
                  <a:sym typeface="Calibri"/>
                </a:rPr>
                <a:t>React + Vite</a:t>
              </a:r>
              <a:endParaRPr b="1" i="0" sz="13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00" u="none" strike="noStrike">
                  <a:solidFill>
                    <a:srgbClr val="475569"/>
                  </a:solidFill>
                  <a:latin typeface="Calibri"/>
                  <a:ea typeface="Calibri"/>
                  <a:cs typeface="Calibri"/>
                  <a:sym typeface="Calibri"/>
                </a:rPr>
                <a:t>Interactive user dashboard for real-time query visibility.</a:t>
              </a:r>
              <a:endParaRPr b="1" i="0" sz="1300" u="none" strike="noStrike">
                <a:solidFill>
                  <a:srgbClr val="0EA5E9"/>
                </a:solidFill>
                <a:latin typeface="Calibri"/>
                <a:ea typeface="Calibri"/>
                <a:cs typeface="Calibri"/>
                <a:sym typeface="Calibri"/>
              </a:endParaRPr>
            </a:p>
          </p:txBody>
        </p:sp>
      </p:grpSp>
      <p:sp>
        <p:nvSpPr>
          <p:cNvPr id="283" name="Google Shape;283;p21"/>
          <p:cNvSpPr/>
          <p:nvPr/>
        </p:nvSpPr>
        <p:spPr>
          <a:xfrm>
            <a:off x="457200" y="514350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4" name="Google Shape;284;p21"/>
          <p:cNvSpPr txBox="1"/>
          <p:nvPr/>
        </p:nvSpPr>
        <p:spPr>
          <a:xfrm>
            <a:off x="762000" y="5238750"/>
            <a:ext cx="106680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DEPLOYMENT ENVIRONMENT</a:t>
            </a:r>
            <a:endParaRPr b="1" i="0" sz="1400"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1" i="0" lang="en-US" sz="2600" u="none" strike="noStrike">
                <a:solidFill>
                  <a:srgbClr val="FFFFFF"/>
                </a:solidFill>
                <a:latin typeface="Calibri"/>
                <a:ea typeface="Calibri"/>
                <a:cs typeface="Calibri"/>
                <a:sym typeface="Calibri"/>
              </a:rPr>
              <a:t>All local. Docker Compose</a:t>
            </a:r>
            <a:endParaRPr b="1" i="0" sz="1400" u="none" strike="noStrike">
              <a:solidFill>
                <a:srgbClr val="0EA5E9"/>
              </a:solidFill>
              <a:latin typeface="Calibri"/>
              <a:ea typeface="Calibri"/>
              <a:cs typeface="Calibri"/>
              <a:sym typeface="Calibri"/>
            </a:endParaRPr>
          </a:p>
        </p:txBody>
      </p:sp>
      <p:sp>
        <p:nvSpPr>
          <p:cNvPr id="285" name="Google Shape;285;p21"/>
          <p:cNvSpPr txBox="1"/>
          <p:nvPr/>
        </p:nvSpPr>
        <p:spPr>
          <a:xfrm>
            <a:off x="365760" y="20955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5 / 11</a:t>
            </a:r>
            <a:endParaRPr b="0" i="0" sz="1100" u="none" strike="noStrike">
              <a:solidFill>
                <a:srgbClr val="94A3B8"/>
              </a:solidFill>
              <a:latin typeface="Calibri"/>
              <a:ea typeface="Calibri"/>
              <a:cs typeface="Calibri"/>
              <a:sym typeface="Calibri"/>
            </a:endParaRPr>
          </a:p>
        </p:txBody>
      </p:sp>
      <p:pic>
        <p:nvPicPr>
          <p:cNvPr id="286" name="Google Shape;286;p21"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287" name="Google Shape;287;p21"/>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40"/>
        </a:solidFill>
      </p:bgPr>
    </p:bg>
    <p:spTree>
      <p:nvGrpSpPr>
        <p:cNvPr id="291" name="Shape 291"/>
        <p:cNvGrpSpPr/>
        <p:nvPr/>
      </p:nvGrpSpPr>
      <p:grpSpPr>
        <a:xfrm>
          <a:off x="0" y="0"/>
          <a:ext cx="0" cy="0"/>
          <a:chOff x="0" y="0"/>
          <a:chExt cx="0" cy="0"/>
        </a:xfrm>
      </p:grpSpPr>
      <p:sp>
        <p:nvSpPr>
          <p:cNvPr id="292" name="Google Shape;292;p22"/>
          <p:cNvSpPr/>
          <p:nvPr/>
        </p:nvSpPr>
        <p:spPr>
          <a:xfrm>
            <a:off x="0" y="0"/>
            <a:ext cx="164700" cy="6858000"/>
          </a:xfrm>
          <a:prstGeom prst="rect">
            <a:avLst/>
          </a:prstGeom>
          <a:solidFill>
            <a:srgbClr val="0EA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3" name="Google Shape;293;p22"/>
          <p:cNvSpPr txBox="1"/>
          <p:nvPr/>
        </p:nvSpPr>
        <p:spPr>
          <a:xfrm>
            <a:off x="609443" y="2000250"/>
            <a:ext cx="73152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1800">
                <a:solidFill>
                  <a:srgbClr val="0EA5E9"/>
                </a:solidFill>
                <a:latin typeface="Calibri"/>
                <a:ea typeface="Calibri"/>
                <a:cs typeface="Calibri"/>
                <a:sym typeface="Calibri"/>
              </a:rPr>
              <a:t>OPENSEARCHCON NORTH AMERICA 2026</a:t>
            </a:r>
            <a:endParaRPr b="1" i="0" sz="1800">
              <a:solidFill>
                <a:srgbClr val="0EA5E9"/>
              </a:solidFill>
              <a:latin typeface="Calibri"/>
              <a:ea typeface="Calibri"/>
              <a:cs typeface="Calibri"/>
              <a:sym typeface="Calibri"/>
            </a:endParaRPr>
          </a:p>
        </p:txBody>
      </p:sp>
      <p:sp>
        <p:nvSpPr>
          <p:cNvPr id="294" name="Google Shape;294;p22"/>
          <p:cNvSpPr txBox="1"/>
          <p:nvPr/>
        </p:nvSpPr>
        <p:spPr>
          <a:xfrm>
            <a:off x="609443" y="2381250"/>
            <a:ext cx="10972800" cy="7851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5100">
                <a:solidFill>
                  <a:srgbClr val="FFFFFF"/>
                </a:solidFill>
                <a:latin typeface="Calibri"/>
                <a:ea typeface="Calibri"/>
                <a:cs typeface="Calibri"/>
                <a:sym typeface="Calibri"/>
              </a:rPr>
              <a:t>DEMO</a:t>
            </a:r>
            <a:endParaRPr b="1" i="0" sz="5100">
              <a:solidFill>
                <a:srgbClr val="FFFFFF"/>
              </a:solidFill>
              <a:latin typeface="Calibri"/>
              <a:ea typeface="Calibri"/>
              <a:cs typeface="Calibri"/>
              <a:sym typeface="Calibri"/>
            </a:endParaRPr>
          </a:p>
        </p:txBody>
      </p:sp>
      <p:sp>
        <p:nvSpPr>
          <p:cNvPr id="295" name="Google Shape;295;p22"/>
          <p:cNvSpPr txBox="1"/>
          <p:nvPr/>
        </p:nvSpPr>
        <p:spPr>
          <a:xfrm>
            <a:off x="609443" y="3286125"/>
            <a:ext cx="10972800" cy="5850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3800">
                <a:solidFill>
                  <a:srgbClr val="FFFFFF"/>
                </a:solidFill>
                <a:latin typeface="Calibri"/>
                <a:ea typeface="Calibri"/>
                <a:cs typeface="Calibri"/>
                <a:sym typeface="Calibri"/>
              </a:rPr>
              <a:t>Reimagining search from ingestion to relevancy</a:t>
            </a:r>
            <a:endParaRPr b="1" i="0" sz="3800">
              <a:solidFill>
                <a:srgbClr val="FFFFFF"/>
              </a:solidFill>
              <a:latin typeface="Calibri"/>
              <a:ea typeface="Calibri"/>
              <a:cs typeface="Calibri"/>
              <a:sym typeface="Calibri"/>
            </a:endParaRPr>
          </a:p>
        </p:txBody>
      </p:sp>
      <p:sp>
        <p:nvSpPr>
          <p:cNvPr id="296" name="Google Shape;296;p22"/>
          <p:cNvSpPr txBox="1"/>
          <p:nvPr/>
        </p:nvSpPr>
        <p:spPr>
          <a:xfrm>
            <a:off x="609443" y="4095750"/>
            <a:ext cx="10972800" cy="313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2035">
                <a:solidFill>
                  <a:srgbClr val="7DD3FC"/>
                </a:solidFill>
                <a:latin typeface="Calibri"/>
                <a:ea typeface="Calibri"/>
                <a:cs typeface="Calibri"/>
                <a:sym typeface="Calibri"/>
              </a:rPr>
              <a:t>One live LangGraph agent — adaptive retrieval, real ESCI-judged proof, and a catalog it enriches live.</a:t>
            </a:r>
            <a:endParaRPr b="0" i="0" sz="2035">
              <a:solidFill>
                <a:srgbClr val="7DD3FC"/>
              </a:solidFill>
              <a:latin typeface="Calibri"/>
              <a:ea typeface="Calibri"/>
              <a:cs typeface="Calibri"/>
              <a:sym typeface="Calibri"/>
            </a:endParaRPr>
          </a:p>
        </p:txBody>
      </p:sp>
      <p:sp>
        <p:nvSpPr>
          <p:cNvPr id="297" name="Google Shape;297;p22"/>
          <p:cNvSpPr txBox="1"/>
          <p:nvPr/>
        </p:nvSpPr>
        <p:spPr>
          <a:xfrm>
            <a:off x="609443" y="5000625"/>
            <a:ext cx="10972800" cy="3417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220">
                <a:solidFill>
                  <a:srgbClr val="FFFFFF"/>
                </a:solidFill>
                <a:latin typeface="Calibri"/>
                <a:ea typeface="Calibri"/>
                <a:cs typeface="Calibri"/>
                <a:sym typeface="Calibri"/>
              </a:rPr>
              <a:t>Kevin M. Butler</a:t>
            </a:r>
            <a:endParaRPr b="1" i="0" sz="2220">
              <a:solidFill>
                <a:srgbClr val="FFFFFF"/>
              </a:solidFill>
              <a:latin typeface="Calibri"/>
              <a:ea typeface="Calibri"/>
              <a:cs typeface="Calibri"/>
              <a:sym typeface="Calibri"/>
            </a:endParaRPr>
          </a:p>
        </p:txBody>
      </p:sp>
      <p:sp>
        <p:nvSpPr>
          <p:cNvPr id="298" name="Google Shape;298;p22"/>
          <p:cNvSpPr txBox="1"/>
          <p:nvPr/>
        </p:nvSpPr>
        <p:spPr>
          <a:xfrm>
            <a:off x="609443" y="5429250"/>
            <a:ext cx="73152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800">
                <a:solidFill>
                  <a:srgbClr val="B8C5D1"/>
                </a:solidFill>
                <a:latin typeface="Calibri"/>
                <a:ea typeface="Calibri"/>
                <a:cs typeface="Calibri"/>
                <a:sym typeface="Calibri"/>
              </a:rPr>
              <a:t>Senior Search and AI Engineer</a:t>
            </a:r>
            <a:endParaRPr b="0" i="0" sz="1800">
              <a:solidFill>
                <a:srgbClr val="B8C5D1"/>
              </a:solidFill>
              <a:latin typeface="Calibri"/>
              <a:ea typeface="Calibri"/>
              <a:cs typeface="Calibri"/>
              <a:sym typeface="Calibri"/>
            </a:endParaRPr>
          </a:p>
        </p:txBody>
      </p:sp>
      <p:pic>
        <p:nvPicPr>
          <p:cNvPr id="299" name="Google Shape;299;p22" title="KMWLogo_white.png"/>
          <p:cNvPicPr preferRelativeResize="0"/>
          <p:nvPr/>
        </p:nvPicPr>
        <p:blipFill>
          <a:blip r:embed="rId3">
            <a:alphaModFix/>
          </a:blip>
          <a:stretch>
            <a:fillRect/>
          </a:stretch>
        </p:blipFill>
        <p:spPr>
          <a:xfrm>
            <a:off x="640075" y="402350"/>
            <a:ext cx="3593551" cy="1101525"/>
          </a:xfrm>
          <a:prstGeom prst="rect">
            <a:avLst/>
          </a:prstGeom>
          <a:noFill/>
          <a:ln>
            <a:noFill/>
          </a:ln>
        </p:spPr>
      </p:pic>
      <p:sp>
        <p:nvSpPr>
          <p:cNvPr id="300" name="Google Shape;300;p22"/>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04" name="Shape 304"/>
        <p:cNvGrpSpPr/>
        <p:nvPr/>
      </p:nvGrpSpPr>
      <p:grpSpPr>
        <a:xfrm>
          <a:off x="0" y="0"/>
          <a:ext cx="0" cy="0"/>
          <a:chOff x="0" y="0"/>
          <a:chExt cx="0" cy="0"/>
        </a:xfrm>
      </p:grpSpPr>
      <p:sp>
        <p:nvSpPr>
          <p:cNvPr id="305" name="Google Shape;305;p23"/>
          <p:cNvSpPr txBox="1"/>
          <p:nvPr/>
        </p:nvSpPr>
        <p:spPr>
          <a:xfrm>
            <a:off x="457200" y="4953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DEMO 1 RECAP</a:t>
            </a:r>
            <a:endParaRPr b="1" i="0" sz="1400">
              <a:solidFill>
                <a:srgbClr val="0369A1"/>
              </a:solidFill>
              <a:latin typeface="Calibri"/>
              <a:ea typeface="Calibri"/>
              <a:cs typeface="Calibri"/>
              <a:sym typeface="Calibri"/>
            </a:endParaRPr>
          </a:p>
        </p:txBody>
      </p:sp>
      <p:sp>
        <p:nvSpPr>
          <p:cNvPr id="306" name="Google Shape;306;p23"/>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800">
                <a:solidFill>
                  <a:srgbClr val="0A2540"/>
                </a:solidFill>
                <a:latin typeface="Calibri"/>
                <a:ea typeface="Calibri"/>
                <a:cs typeface="Calibri"/>
                <a:sym typeface="Calibri"/>
              </a:rPr>
              <a:t>Adaptive Query Enhancements</a:t>
            </a:r>
            <a:endParaRPr b="1" i="0" sz="3800">
              <a:solidFill>
                <a:srgbClr val="0A2540"/>
              </a:solidFill>
              <a:latin typeface="Calibri"/>
              <a:ea typeface="Calibri"/>
              <a:cs typeface="Calibri"/>
              <a:sym typeface="Calibri"/>
            </a:endParaRPr>
          </a:p>
        </p:txBody>
      </p:sp>
      <p:grpSp>
        <p:nvGrpSpPr>
          <p:cNvPr id="307" name="Google Shape;307;p23"/>
          <p:cNvGrpSpPr/>
          <p:nvPr/>
        </p:nvGrpSpPr>
        <p:grpSpPr>
          <a:xfrm>
            <a:off x="457200" y="1714500"/>
            <a:ext cx="3600600" cy="1857600"/>
            <a:chOff x="0" y="0"/>
            <a:chExt cx="3600600" cy="1857600"/>
          </a:xfrm>
        </p:grpSpPr>
        <p:sp>
          <p:nvSpPr>
            <p:cNvPr id="308" name="Google Shape;308;p23"/>
            <p:cNvSpPr/>
            <p:nvPr/>
          </p:nvSpPr>
          <p:spPr>
            <a:xfrm>
              <a:off x="0" y="0"/>
              <a:ext cx="3600600" cy="1857600"/>
            </a:xfrm>
            <a:prstGeom prst="roundRect">
              <a:avLst>
                <a:gd fmla="val 410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9" name="Google Shape;309;p23"/>
            <p:cNvSpPr txBox="1"/>
            <p:nvPr/>
          </p:nvSpPr>
          <p:spPr>
            <a:xfrm>
              <a:off x="228600" y="152400"/>
              <a:ext cx="3143400" cy="1543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TURN 01</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800">
                  <a:solidFill>
                    <a:srgbClr val="0A2540"/>
                  </a:solidFill>
                  <a:latin typeface="Calibri"/>
                  <a:ea typeface="Calibri"/>
                  <a:cs typeface="Calibri"/>
                  <a:sym typeface="Calibri"/>
                </a:rPr>
                <a:t>“blue running shoes”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350">
                  <a:solidFill>
                    <a:srgbClr val="475569"/>
                  </a:solidFill>
                  <a:latin typeface="Calibri"/>
                  <a:ea typeface="Calibri"/>
                  <a:cs typeface="Calibri"/>
                  <a:sym typeface="Calibri"/>
                </a:rPr>
                <a:t>α 0.25</a:t>
              </a:r>
              <a:r>
                <a:rPr b="0" i="0" lang="en-US" sz="1350">
                  <a:solidFill>
                    <a:srgbClr val="475569"/>
                  </a:solidFill>
                  <a:latin typeface="Calibri"/>
                  <a:ea typeface="Calibri"/>
                  <a:cs typeface="Calibri"/>
                  <a:sym typeface="Calibri"/>
                </a:rPr>
                <a:t> · Lexical priority</a:t>
              </a:r>
              <a:endParaRPr b="1" i="0" sz="13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350">
                  <a:solidFill>
                    <a:srgbClr val="475569"/>
                  </a:solidFill>
                  <a:latin typeface="Calibri"/>
                  <a:ea typeface="Calibri"/>
                  <a:cs typeface="Calibri"/>
                  <a:sym typeface="Calibri"/>
                </a:rPr>
                <a:t>Filters applied: color, feature</a:t>
              </a:r>
              <a:endParaRPr b="1" i="0" sz="1300">
                <a:solidFill>
                  <a:srgbClr val="0EA5E9"/>
                </a:solidFill>
                <a:latin typeface="Calibri"/>
                <a:ea typeface="Calibri"/>
                <a:cs typeface="Calibri"/>
                <a:sym typeface="Calibri"/>
              </a:endParaRPr>
            </a:p>
          </p:txBody>
        </p:sp>
      </p:grpSp>
      <p:grpSp>
        <p:nvGrpSpPr>
          <p:cNvPr id="310" name="Google Shape;310;p23"/>
          <p:cNvGrpSpPr/>
          <p:nvPr/>
        </p:nvGrpSpPr>
        <p:grpSpPr>
          <a:xfrm>
            <a:off x="4295775" y="1714500"/>
            <a:ext cx="3600600" cy="1857600"/>
            <a:chOff x="0" y="0"/>
            <a:chExt cx="3600600" cy="1857600"/>
          </a:xfrm>
        </p:grpSpPr>
        <p:sp>
          <p:nvSpPr>
            <p:cNvPr id="311" name="Google Shape;311;p23"/>
            <p:cNvSpPr/>
            <p:nvPr/>
          </p:nvSpPr>
          <p:spPr>
            <a:xfrm>
              <a:off x="0" y="0"/>
              <a:ext cx="3600600" cy="1857600"/>
            </a:xfrm>
            <a:prstGeom prst="roundRect">
              <a:avLst>
                <a:gd fmla="val 410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2" name="Google Shape;312;p23"/>
            <p:cNvSpPr txBox="1"/>
            <p:nvPr/>
          </p:nvSpPr>
          <p:spPr>
            <a:xfrm>
              <a:off x="228600" y="152400"/>
              <a:ext cx="3143400" cy="1543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TURN 02</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800">
                  <a:solidFill>
                    <a:srgbClr val="0A2540"/>
                  </a:solidFill>
                  <a:latin typeface="Calibri"/>
                  <a:ea typeface="Calibri"/>
                  <a:cs typeface="Calibri"/>
                  <a:sym typeface="Calibri"/>
                </a:rPr>
                <a:t>“only size 10”</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350">
                  <a:solidFill>
                    <a:srgbClr val="475569"/>
                  </a:solidFill>
                  <a:latin typeface="Calibri"/>
                  <a:ea typeface="Calibri"/>
                  <a:cs typeface="Calibri"/>
                  <a:sym typeface="Calibri"/>
                </a:rPr>
                <a:t>α 0.35</a:t>
              </a:r>
              <a:endParaRPr b="1" i="0" sz="13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350">
                  <a:solidFill>
                    <a:srgbClr val="475569"/>
                  </a:solidFill>
                  <a:latin typeface="Calibri"/>
                  <a:ea typeface="Calibri"/>
                  <a:cs typeface="Calibri"/>
                  <a:sym typeface="Calibri"/>
                </a:rPr>
                <a:t>Narrowed the same 10 results without re-searching</a:t>
              </a:r>
              <a:endParaRPr b="1" i="0" sz="1300">
                <a:solidFill>
                  <a:srgbClr val="0EA5E9"/>
                </a:solidFill>
                <a:latin typeface="Calibri"/>
                <a:ea typeface="Calibri"/>
                <a:cs typeface="Calibri"/>
                <a:sym typeface="Calibri"/>
              </a:endParaRPr>
            </a:p>
          </p:txBody>
        </p:sp>
      </p:grpSp>
      <p:grpSp>
        <p:nvGrpSpPr>
          <p:cNvPr id="313" name="Google Shape;313;p23"/>
          <p:cNvGrpSpPr/>
          <p:nvPr/>
        </p:nvGrpSpPr>
        <p:grpSpPr>
          <a:xfrm>
            <a:off x="8134350" y="1714500"/>
            <a:ext cx="3600600" cy="1857600"/>
            <a:chOff x="0" y="0"/>
            <a:chExt cx="3600600" cy="1857600"/>
          </a:xfrm>
        </p:grpSpPr>
        <p:sp>
          <p:nvSpPr>
            <p:cNvPr id="314" name="Google Shape;314;p23"/>
            <p:cNvSpPr/>
            <p:nvPr/>
          </p:nvSpPr>
          <p:spPr>
            <a:xfrm>
              <a:off x="0" y="0"/>
              <a:ext cx="3600600" cy="1857600"/>
            </a:xfrm>
            <a:prstGeom prst="roundRect">
              <a:avLst>
                <a:gd fmla="val 4102"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5" name="Google Shape;315;p23"/>
            <p:cNvSpPr txBox="1"/>
            <p:nvPr/>
          </p:nvSpPr>
          <p:spPr>
            <a:xfrm>
              <a:off x="228600" y="152400"/>
              <a:ext cx="3143400" cy="1543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TURN 03</a:t>
              </a:r>
              <a:endParaRPr b="1" i="0" sz="13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800">
                  <a:solidFill>
                    <a:srgbClr val="0A2540"/>
                  </a:solidFill>
                  <a:latin typeface="Calibri"/>
                  <a:ea typeface="Calibri"/>
                  <a:cs typeface="Calibri"/>
                  <a:sym typeface="Calibri"/>
                </a:rPr>
                <a:t>“what about trail running?”</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350">
                  <a:solidFill>
                    <a:srgbClr val="475569"/>
                  </a:solidFill>
                  <a:latin typeface="Calibri"/>
                  <a:ea typeface="Calibri"/>
                  <a:cs typeface="Calibri"/>
                  <a:sym typeface="Calibri"/>
                </a:rPr>
                <a:t>α 0.70</a:t>
              </a:r>
              <a:r>
                <a:rPr b="0" i="0" lang="en-US" sz="1350">
                  <a:solidFill>
                    <a:srgbClr val="475569"/>
                  </a:solidFill>
                  <a:latin typeface="Calibri"/>
                  <a:ea typeface="Calibri"/>
                  <a:cs typeface="Calibri"/>
                  <a:sym typeface="Calibri"/>
                </a:rPr>
                <a:t> · Semantic priority</a:t>
              </a:r>
              <a:endParaRPr b="1" i="0" sz="13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350">
                  <a:solidFill>
                    <a:srgbClr val="475569"/>
                  </a:solidFill>
                  <a:latin typeface="Calibri"/>
                  <a:ea typeface="Calibri"/>
                  <a:cs typeface="Calibri"/>
                  <a:sym typeface="Calibri"/>
                </a:rPr>
                <a:t>Rewritten to carry both previous filters forward</a:t>
              </a:r>
              <a:endParaRPr b="1" i="0" sz="1300">
                <a:solidFill>
                  <a:srgbClr val="0EA5E9"/>
                </a:solidFill>
                <a:latin typeface="Calibri"/>
                <a:ea typeface="Calibri"/>
                <a:cs typeface="Calibri"/>
                <a:sym typeface="Calibri"/>
              </a:endParaRPr>
            </a:p>
          </p:txBody>
        </p:sp>
      </p:grpSp>
      <p:grpSp>
        <p:nvGrpSpPr>
          <p:cNvPr id="316" name="Google Shape;316;p23"/>
          <p:cNvGrpSpPr/>
          <p:nvPr/>
        </p:nvGrpSpPr>
        <p:grpSpPr>
          <a:xfrm>
            <a:off x="457200" y="3733800"/>
            <a:ext cx="5524500" cy="1238400"/>
            <a:chOff x="0" y="0"/>
            <a:chExt cx="5524500" cy="1238400"/>
          </a:xfrm>
        </p:grpSpPr>
        <p:sp>
          <p:nvSpPr>
            <p:cNvPr id="317" name="Google Shape;317;p23"/>
            <p:cNvSpPr/>
            <p:nvPr/>
          </p:nvSpPr>
          <p:spPr>
            <a:xfrm>
              <a:off x="0" y="0"/>
              <a:ext cx="5524500" cy="1238400"/>
            </a:xfrm>
            <a:prstGeom prst="roundRect">
              <a:avLst>
                <a:gd fmla="val 615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8" name="Google Shape;318;p23"/>
            <p:cNvSpPr txBox="1"/>
            <p:nvPr/>
          </p:nvSpPr>
          <p:spPr>
            <a:xfrm>
              <a:off x="190500" y="95250"/>
              <a:ext cx="5143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00">
                  <a:solidFill>
                    <a:srgbClr val="0EA5E9"/>
                  </a:solidFill>
                  <a:latin typeface="Calibri"/>
                  <a:ea typeface="Calibri"/>
                  <a:cs typeface="Calibri"/>
                  <a:sym typeface="Calibri"/>
                </a:rPr>
                <a:t>QUERY TRANSLATION</a:t>
              </a:r>
              <a:endParaRPr b="1" i="0" sz="1200">
                <a:solidFill>
                  <a:srgbClr val="0EA5E9"/>
                </a:solidFill>
                <a:latin typeface="Calibri"/>
                <a:ea typeface="Calibri"/>
                <a:cs typeface="Calibri"/>
                <a:sym typeface="Calibri"/>
              </a:endParaRPr>
            </a:p>
            <a:p>
              <a:pPr indent="0" lvl="0" marL="0" rtl="0" algn="l">
                <a:spcBef>
                  <a:spcPts val="500"/>
                </a:spcBef>
                <a:spcAft>
                  <a:spcPts val="0"/>
                </a:spcAft>
                <a:buNone/>
              </a:pPr>
              <a:r>
                <a:rPr b="1" i="0" lang="en-US" sz="1100">
                  <a:solidFill>
                    <a:srgbClr val="DC2626"/>
                  </a:solidFill>
                  <a:latin typeface="Calibri"/>
                  <a:ea typeface="Calibri"/>
                  <a:cs typeface="Calibri"/>
                  <a:sym typeface="Calibri"/>
                </a:rPr>
                <a:t>BEFORE: </a:t>
              </a:r>
              <a:r>
                <a:rPr b="1" i="0" lang="en-US" sz="1250">
                  <a:solidFill>
                    <a:srgbClr val="0A2540"/>
                  </a:solidFill>
                  <a:latin typeface="Calibri"/>
                  <a:ea typeface="Calibri"/>
                  <a:cs typeface="Calibri"/>
                  <a:sym typeface="Calibri"/>
                </a:rPr>
                <a:t>query="trail running"</a:t>
              </a:r>
              <a:r>
                <a:rPr b="1" i="0" lang="en-US" sz="1200">
                  <a:solidFill>
                    <a:srgbClr val="0EA5E9"/>
                  </a:solidFill>
                  <a:latin typeface="Calibri"/>
                  <a:ea typeface="Calibri"/>
                  <a:cs typeface="Calibri"/>
                  <a:sym typeface="Calibri"/>
                </a:rPr>
                <a:t> </a:t>
              </a:r>
              <a:r>
                <a:rPr b="0" i="0" lang="en-US" sz="1100">
                  <a:solidFill>
                    <a:srgbClr val="64748B"/>
                  </a:solidFill>
                  <a:latin typeface="Calibri"/>
                  <a:ea typeface="Calibri"/>
                  <a:cs typeface="Calibri"/>
                  <a:sym typeface="Calibri"/>
                </a:rPr>
                <a:t>(filters: none)</a:t>
              </a:r>
              <a:endParaRPr b="1" i="0" sz="1200">
                <a:solidFill>
                  <a:srgbClr val="0EA5E9"/>
                </a:solidFill>
                <a:latin typeface="Calibri"/>
                <a:ea typeface="Calibri"/>
                <a:cs typeface="Calibri"/>
                <a:sym typeface="Calibri"/>
              </a:endParaRPr>
            </a:p>
            <a:p>
              <a:pPr indent="0" lvl="0" marL="0" rtl="0" algn="l">
                <a:spcBef>
                  <a:spcPts val="400"/>
                </a:spcBef>
                <a:spcAft>
                  <a:spcPts val="0"/>
                </a:spcAft>
                <a:buNone/>
              </a:pPr>
              <a:r>
                <a:rPr b="1" i="0" lang="en-US" sz="1100">
                  <a:solidFill>
                    <a:srgbClr val="16A34A"/>
                  </a:solidFill>
                  <a:latin typeface="Calibri"/>
                  <a:ea typeface="Calibri"/>
                  <a:cs typeface="Calibri"/>
                  <a:sym typeface="Calibri"/>
                </a:rPr>
                <a:t>AFTER: </a:t>
              </a:r>
              <a:r>
                <a:rPr b="1" i="0" lang="en-US" sz="1250">
                  <a:solidFill>
                    <a:srgbClr val="0A2540"/>
                  </a:solidFill>
                  <a:latin typeface="Calibri"/>
                  <a:ea typeface="Calibri"/>
                  <a:cs typeface="Calibri"/>
                  <a:sym typeface="Calibri"/>
                </a:rPr>
                <a:t>query="blue trail running shoes"</a:t>
              </a:r>
              <a:endParaRPr b="1" i="0" sz="1200">
                <a:solidFill>
                  <a:srgbClr val="0EA5E9"/>
                </a:solidFill>
                <a:latin typeface="Calibri"/>
                <a:ea typeface="Calibri"/>
                <a:cs typeface="Calibri"/>
                <a:sym typeface="Calibri"/>
              </a:endParaRPr>
            </a:p>
            <a:p>
              <a:pPr indent="0" lvl="0" marL="0" rtl="0" algn="l">
                <a:spcBef>
                  <a:spcPts val="300"/>
                </a:spcBef>
                <a:spcAft>
                  <a:spcPts val="0"/>
                </a:spcAft>
                <a:buNone/>
              </a:pPr>
              <a:r>
                <a:rPr b="0" i="0" lang="en-US" sz="1150">
                  <a:solidFill>
                    <a:srgbClr val="475569"/>
                  </a:solidFill>
                  <a:latin typeface="Calibri"/>
                  <a:ea typeface="Calibri"/>
                  <a:cs typeface="Calibri"/>
                  <a:sym typeface="Calibri"/>
                </a:rPr>
                <a:t>filters: color=blue, size=10 — carried forward from Turns 01–02</a:t>
              </a:r>
              <a:endParaRPr b="1" i="0" sz="1200">
                <a:solidFill>
                  <a:srgbClr val="0EA5E9"/>
                </a:solidFill>
                <a:latin typeface="Calibri"/>
                <a:ea typeface="Calibri"/>
                <a:cs typeface="Calibri"/>
                <a:sym typeface="Calibri"/>
              </a:endParaRPr>
            </a:p>
          </p:txBody>
        </p:sp>
      </p:grpSp>
      <p:grpSp>
        <p:nvGrpSpPr>
          <p:cNvPr id="319" name="Google Shape;319;p23"/>
          <p:cNvGrpSpPr/>
          <p:nvPr/>
        </p:nvGrpSpPr>
        <p:grpSpPr>
          <a:xfrm>
            <a:off x="6210300" y="3733800"/>
            <a:ext cx="5524500" cy="1238400"/>
            <a:chOff x="0" y="0"/>
            <a:chExt cx="5524500" cy="1238400"/>
          </a:xfrm>
        </p:grpSpPr>
        <p:sp>
          <p:nvSpPr>
            <p:cNvPr id="320" name="Google Shape;320;p23"/>
            <p:cNvSpPr/>
            <p:nvPr/>
          </p:nvSpPr>
          <p:spPr>
            <a:xfrm>
              <a:off x="0" y="0"/>
              <a:ext cx="5524500" cy="1238400"/>
            </a:xfrm>
            <a:prstGeom prst="roundRect">
              <a:avLst>
                <a:gd fmla="val 615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1" name="Google Shape;321;p23"/>
            <p:cNvSpPr txBox="1"/>
            <p:nvPr/>
          </p:nvSpPr>
          <p:spPr>
            <a:xfrm>
              <a:off x="190500" y="95250"/>
              <a:ext cx="51435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00">
                  <a:solidFill>
                    <a:srgbClr val="0EA5E9"/>
                  </a:solidFill>
                  <a:latin typeface="Calibri"/>
                  <a:ea typeface="Calibri"/>
                  <a:cs typeface="Calibri"/>
                  <a:sym typeface="Calibri"/>
                </a:rPr>
                <a:t>HOW THE AGENT REWRITES A QUERY</a:t>
              </a:r>
              <a:endParaRPr b="1" i="0" sz="1200">
                <a:solidFill>
                  <a:srgbClr val="0EA5E9"/>
                </a:solidFill>
                <a:latin typeface="Calibri"/>
                <a:ea typeface="Calibri"/>
                <a:cs typeface="Calibri"/>
                <a:sym typeface="Calibri"/>
              </a:endParaRPr>
            </a:p>
            <a:p>
              <a:pPr indent="0" lvl="0" marL="0" rtl="0" algn="l">
                <a:spcBef>
                  <a:spcPts val="500"/>
                </a:spcBef>
                <a:spcAft>
                  <a:spcPts val="0"/>
                </a:spcAft>
                <a:buNone/>
              </a:pPr>
              <a:r>
                <a:rPr b="0" i="0" lang="en-US" sz="1200">
                  <a:solidFill>
                    <a:srgbClr val="475569"/>
                  </a:solidFill>
                  <a:latin typeface="Calibri"/>
                  <a:ea typeface="Calibri"/>
                  <a:cs typeface="Calibri"/>
                  <a:sym typeface="Calibri"/>
                </a:rPr>
                <a:t>Before hybrid search ever runs, the retriever node resolves pronouns and comparatives against conversation history — </a:t>
              </a:r>
              <a:r>
                <a:rPr b="1" i="0" lang="en-US" sz="1200">
                  <a:solidFill>
                    <a:srgbClr val="0A2540"/>
                  </a:solidFill>
                  <a:latin typeface="Calibri"/>
                  <a:ea typeface="Calibri"/>
                  <a:cs typeface="Calibri"/>
                  <a:sym typeface="Calibri"/>
                </a:rPr>
                <a:t>“what about trail running?”</a:t>
              </a:r>
              <a:r>
                <a:rPr b="0" i="0" lang="en-US" sz="1200">
                  <a:solidFill>
                    <a:srgbClr val="475569"/>
                  </a:solidFill>
                  <a:latin typeface="Calibri"/>
                  <a:ea typeface="Calibri"/>
                  <a:cs typeface="Calibri"/>
                  <a:sym typeface="Calibri"/>
                </a:rPr>
                <a:t> plus the prior two turns becomes </a:t>
              </a:r>
              <a:r>
                <a:rPr b="1" i="0" lang="en-US" sz="1200">
                  <a:solidFill>
                    <a:srgbClr val="0A2540"/>
                  </a:solidFill>
                  <a:latin typeface="Calibri"/>
                  <a:ea typeface="Calibri"/>
                  <a:cs typeface="Calibri"/>
                  <a:sym typeface="Calibri"/>
                </a:rPr>
                <a:t>“blue trail running shoes, size 10.”</a:t>
              </a:r>
              <a:r>
                <a:rPr b="0" i="0" lang="en-US" sz="1200">
                  <a:solidFill>
                    <a:srgbClr val="475569"/>
                  </a:solidFill>
                  <a:latin typeface="Calibri"/>
                  <a:ea typeface="Calibri"/>
                  <a:cs typeface="Calibri"/>
                  <a:sym typeface="Calibri"/>
                </a:rPr>
                <a:t> The rewrite happens inside retrieval, not as a separate step the user sees.</a:t>
              </a:r>
              <a:endParaRPr b="1" i="0" sz="1200">
                <a:solidFill>
                  <a:srgbClr val="0EA5E9"/>
                </a:solidFill>
                <a:latin typeface="Calibri"/>
                <a:ea typeface="Calibri"/>
                <a:cs typeface="Calibri"/>
                <a:sym typeface="Calibri"/>
              </a:endParaRPr>
            </a:p>
          </p:txBody>
        </p:sp>
      </p:grpSp>
      <p:grpSp>
        <p:nvGrpSpPr>
          <p:cNvPr id="322" name="Google Shape;322;p23"/>
          <p:cNvGrpSpPr/>
          <p:nvPr/>
        </p:nvGrpSpPr>
        <p:grpSpPr>
          <a:xfrm>
            <a:off x="457200" y="5143500"/>
            <a:ext cx="11277600" cy="952500"/>
            <a:chOff x="0" y="0"/>
            <a:chExt cx="11277600" cy="952500"/>
          </a:xfrm>
        </p:grpSpPr>
        <p:sp>
          <p:nvSpPr>
            <p:cNvPr id="323" name="Google Shape;323;p23"/>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4" name="Google Shape;324;p23"/>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350">
                  <a:solidFill>
                    <a:srgbClr val="0EA5E9"/>
                  </a:solidFill>
                  <a:latin typeface="Calibri"/>
                  <a:ea typeface="Calibri"/>
                  <a:cs typeface="Calibri"/>
                  <a:sym typeface="Calibri"/>
                </a:rPr>
                <a:t>KEY TAKEAWAY</a:t>
              </a:r>
              <a:endParaRPr b="1" i="0" sz="1350">
                <a:solidFill>
                  <a:srgbClr val="0EA5E9"/>
                </a:solidFill>
                <a:latin typeface="Calibri"/>
                <a:ea typeface="Calibri"/>
                <a:cs typeface="Calibri"/>
                <a:sym typeface="Calibri"/>
              </a:endParaRPr>
            </a:p>
            <a:p>
              <a:pPr indent="0" lvl="0" marL="0" rtl="0" algn="l">
                <a:spcBef>
                  <a:spcPts val="300"/>
                </a:spcBef>
                <a:spcAft>
                  <a:spcPts val="0"/>
                </a:spcAft>
                <a:buNone/>
              </a:pPr>
              <a:r>
                <a:rPr b="1" i="0" lang="en-US" sz="2400">
                  <a:solidFill>
                    <a:srgbClr val="FFFFFF"/>
                  </a:solidFill>
                  <a:latin typeface="Calibri"/>
                  <a:ea typeface="Calibri"/>
                  <a:cs typeface="Calibri"/>
                  <a:sym typeface="Calibri"/>
                </a:rPr>
                <a:t>Alpha climbed as questions got less literal — nobody set that per query.</a:t>
              </a:r>
              <a:endParaRPr b="1" i="0" sz="1350">
                <a:solidFill>
                  <a:srgbClr val="0EA5E9"/>
                </a:solidFill>
                <a:latin typeface="Calibri"/>
                <a:ea typeface="Calibri"/>
                <a:cs typeface="Calibri"/>
                <a:sym typeface="Calibri"/>
              </a:endParaRPr>
            </a:p>
          </p:txBody>
        </p:sp>
      </p:grpSp>
      <p:sp>
        <p:nvSpPr>
          <p:cNvPr id="325" name="Google Shape;325;p23"/>
          <p:cNvSpPr txBox="1"/>
          <p:nvPr/>
        </p:nvSpPr>
        <p:spPr>
          <a:xfrm>
            <a:off x="365760" y="228600"/>
            <a:ext cx="13716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lang="en-US" sz="900">
                <a:solidFill>
                  <a:srgbClr val="94A3B8"/>
                </a:solidFill>
                <a:latin typeface="Calibri"/>
                <a:ea typeface="Calibri"/>
                <a:cs typeface="Calibri"/>
                <a:sym typeface="Calibri"/>
              </a:rPr>
              <a:t>6 / 11</a:t>
            </a:r>
            <a:endParaRPr b="0" i="0" sz="1400" u="none" cap="none" strike="noStrike">
              <a:solidFill>
                <a:srgbClr val="000000"/>
              </a:solidFill>
              <a:latin typeface="Arial"/>
              <a:ea typeface="Arial"/>
              <a:cs typeface="Arial"/>
              <a:sym typeface="Arial"/>
            </a:endParaRPr>
          </a:p>
        </p:txBody>
      </p:sp>
      <p:pic>
        <p:nvPicPr>
          <p:cNvPr id="326" name="Google Shape;326;p23"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327" name="Google Shape;327;p23"/>
          <p:cNvSpPr txBox="1"/>
          <p:nvPr/>
        </p:nvSpPr>
        <p:spPr>
          <a:xfrm>
            <a:off x="1921298" y="6513375"/>
            <a:ext cx="10058400" cy="138600"/>
          </a:xfrm>
          <a:prstGeom prst="rect">
            <a:avLst/>
          </a:prstGeom>
          <a:noFill/>
          <a:ln>
            <a:noFill/>
          </a:ln>
        </p:spPr>
        <p:txBody>
          <a:bodyPr anchorCtr="0" anchor="t" bIns="0" lIns="0" spcFirstLastPara="1" rIns="0" wrap="square" tIns="0">
            <a:spAutoFit/>
          </a:bodyPr>
          <a:lstStyle/>
          <a:p>
            <a:pPr indent="0" lvl="0" marL="0" marR="0" rtl="0" algn="r">
              <a:lnSpc>
                <a:spcPct val="100000"/>
              </a:lnSpc>
              <a:spcBef>
                <a:spcPts val="0"/>
              </a:spcBef>
              <a:spcAft>
                <a:spcPts val="0"/>
              </a:spcAft>
              <a:buClr>
                <a:srgbClr val="000000"/>
              </a:buClr>
              <a:buSzPts val="900"/>
              <a:buFont typeface="Arial"/>
              <a:buNone/>
            </a:pPr>
            <a:r>
              <a:rPr b="0" i="0" lang="en-US" sz="900" u="none" cap="none" strike="noStrike">
                <a:solidFill>
                  <a:srgbClr val="94A3B8"/>
                </a:solidFill>
                <a:latin typeface="Calibri"/>
                <a:ea typeface="Calibri"/>
                <a:cs typeface="Calibri"/>
                <a:sym typeface="Calibri"/>
              </a:rPr>
              <a:t>OpenSearchCon N</a:t>
            </a:r>
            <a:r>
              <a:rPr lang="en-US" sz="900">
                <a:solidFill>
                  <a:srgbClr val="94A3B8"/>
                </a:solidFill>
                <a:latin typeface="Calibri"/>
                <a:ea typeface="Calibri"/>
                <a:cs typeface="Calibri"/>
                <a:sym typeface="Calibri"/>
              </a:rPr>
              <a:t>orth America</a:t>
            </a:r>
            <a:r>
              <a:rPr b="0" i="0" lang="en-US" sz="900" u="none" cap="none" strike="noStrike">
                <a:solidFill>
                  <a:srgbClr val="94A3B8"/>
                </a:solidFill>
                <a:latin typeface="Calibri"/>
                <a:ea typeface="Calibri"/>
                <a:cs typeface="Calibri"/>
                <a:sym typeface="Calibri"/>
              </a:rPr>
              <a:t> </a:t>
            </a:r>
            <a:r>
              <a:rPr lang="en-US" sz="900">
                <a:solidFill>
                  <a:srgbClr val="94A3B8"/>
                </a:solidFill>
                <a:latin typeface="Calibri"/>
                <a:ea typeface="Calibri"/>
                <a:cs typeface="Calibri"/>
                <a:sym typeface="Calibri"/>
              </a:rPr>
              <a:t>· </a:t>
            </a:r>
            <a:r>
              <a:rPr b="0" i="0" lang="en-US" sz="900" u="none" cap="none" strike="noStrike">
                <a:solidFill>
                  <a:srgbClr val="94A3B8"/>
                </a:solidFill>
                <a:latin typeface="Calibri"/>
                <a:ea typeface="Calibri"/>
                <a:cs typeface="Calibri"/>
                <a:sym typeface="Calibri"/>
              </a:rPr>
              <a:t>2026  ·  Agentic Search: Reimagining Search from Ingestion to Relevancy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31" name="Shape 331"/>
        <p:cNvGrpSpPr/>
        <p:nvPr/>
      </p:nvGrpSpPr>
      <p:grpSpPr>
        <a:xfrm>
          <a:off x="0" y="0"/>
          <a:ext cx="0" cy="0"/>
          <a:chOff x="0" y="0"/>
          <a:chExt cx="0" cy="0"/>
        </a:xfrm>
      </p:grpSpPr>
      <p:sp>
        <p:nvSpPr>
          <p:cNvPr id="332" name="Google Shape;332;p24"/>
          <p:cNvSpPr txBox="1"/>
          <p:nvPr/>
        </p:nvSpPr>
        <p:spPr>
          <a:xfrm>
            <a:off x="457200" y="533400"/>
            <a:ext cx="11239500" cy="2286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369A1"/>
                </a:solidFill>
                <a:latin typeface="Calibri"/>
                <a:ea typeface="Calibri"/>
                <a:cs typeface="Calibri"/>
                <a:sym typeface="Calibri"/>
              </a:rPr>
              <a:t>DEMO 2 RECAP</a:t>
            </a:r>
            <a:endParaRPr b="1" i="0" sz="1300" u="none" strike="noStrike">
              <a:solidFill>
                <a:srgbClr val="0369A1"/>
              </a:solidFill>
              <a:latin typeface="Calibri"/>
              <a:ea typeface="Calibri"/>
              <a:cs typeface="Calibri"/>
              <a:sym typeface="Calibri"/>
            </a:endParaRPr>
          </a:p>
        </p:txBody>
      </p:sp>
      <p:sp>
        <p:nvSpPr>
          <p:cNvPr id="333" name="Google Shape;333;p24"/>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600" u="none" strike="noStrike">
                <a:solidFill>
                  <a:srgbClr val="0A2540"/>
                </a:solidFill>
                <a:latin typeface="Calibri"/>
                <a:ea typeface="Calibri"/>
                <a:cs typeface="Calibri"/>
                <a:sym typeface="Calibri"/>
              </a:rPr>
              <a:t>Proving It With Real Judgments</a:t>
            </a:r>
            <a:endParaRPr b="1" i="0" sz="3600" u="none" strike="noStrike">
              <a:solidFill>
                <a:srgbClr val="0A2540"/>
              </a:solidFill>
              <a:latin typeface="Calibri"/>
              <a:ea typeface="Calibri"/>
              <a:cs typeface="Calibri"/>
              <a:sym typeface="Calibri"/>
            </a:endParaRPr>
          </a:p>
        </p:txBody>
      </p:sp>
      <p:grpSp>
        <p:nvGrpSpPr>
          <p:cNvPr id="334" name="Google Shape;334;p24"/>
          <p:cNvGrpSpPr/>
          <p:nvPr/>
        </p:nvGrpSpPr>
        <p:grpSpPr>
          <a:xfrm>
            <a:off x="457200" y="1714500"/>
            <a:ext cx="3600600" cy="3143400"/>
            <a:chOff x="0" y="0"/>
            <a:chExt cx="3600600" cy="3143400"/>
          </a:xfrm>
        </p:grpSpPr>
        <p:sp>
          <p:nvSpPr>
            <p:cNvPr id="335" name="Google Shape;335;p24"/>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6" name="Google Shape;336;p24"/>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QUERY SETUP</a:t>
              </a:r>
              <a:endParaRPr b="1" i="0" sz="1400" u="none" strike="noStrike">
                <a:solidFill>
                  <a:srgbClr val="0EA5E9"/>
                </a:solidFill>
                <a:latin typeface="Calibri"/>
                <a:ea typeface="Calibri"/>
                <a:cs typeface="Calibri"/>
                <a:sym typeface="Calibri"/>
              </a:endParaRPr>
            </a:p>
            <a:p>
              <a:pPr indent="0" lvl="0" marL="0" rtl="0" algn="l">
                <a:spcBef>
                  <a:spcPts val="1000"/>
                </a:spcBef>
                <a:spcAft>
                  <a:spcPts val="0"/>
                </a:spcAft>
                <a:buNone/>
              </a:pPr>
              <a:r>
                <a:rPr b="1" i="0" lang="en-US" sz="2600" u="none" strike="noStrike">
                  <a:solidFill>
                    <a:srgbClr val="0A2540"/>
                  </a:solidFill>
                  <a:latin typeface="Calibri"/>
                  <a:ea typeface="Calibri"/>
                  <a:cs typeface="Calibri"/>
                  <a:sym typeface="Calibri"/>
                </a:rPr>
                <a:t>“sewing machine”</a:t>
              </a:r>
              <a:endParaRPr b="1" i="0" sz="1400" u="none" strike="noStrike">
                <a:solidFill>
                  <a:srgbClr val="0EA5E9"/>
                </a:solidFill>
                <a:latin typeface="Calibri"/>
                <a:ea typeface="Calibri"/>
                <a:cs typeface="Calibri"/>
                <a:sym typeface="Calibri"/>
              </a:endParaRPr>
            </a:p>
            <a:p>
              <a:pPr indent="0" lvl="0" marL="0" rtl="0" algn="l">
                <a:spcBef>
                  <a:spcPts val="1400"/>
                </a:spcBef>
                <a:spcAft>
                  <a:spcPts val="0"/>
                </a:spcAft>
                <a:buNone/>
              </a:pPr>
              <a:r>
                <a:rPr b="1" i="0" lang="en-US" sz="1500" u="none" strike="noStrike">
                  <a:solidFill>
                    <a:srgbClr val="0284C7"/>
                  </a:solidFill>
                  <a:latin typeface="Calibri"/>
                  <a:ea typeface="Calibri"/>
                  <a:cs typeface="Calibri"/>
                  <a:sym typeface="Calibri"/>
                </a:rPr>
                <a:t>has_ground_truth</a:t>
              </a:r>
              <a:r>
                <a:rPr b="0" i="0" lang="en-US" sz="1500" u="none" strike="noStrike">
                  <a:solidFill>
                    <a:srgbClr val="334155"/>
                  </a:solidFill>
                  <a:latin typeface="Calibri"/>
                  <a:ea typeface="Calibri"/>
                  <a:cs typeface="Calibri"/>
                  <a:sym typeface="Calibri"/>
                </a:rPr>
                <a:t> → true</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0" i="0" lang="en-US" sz="1500" u="none" strike="noStrike">
                  <a:solidFill>
                    <a:srgbClr val="475569"/>
                  </a:solidFill>
                  <a:latin typeface="Calibri"/>
                  <a:ea typeface="Calibri"/>
                  <a:cs typeface="Calibri"/>
                  <a:sym typeface="Calibri"/>
                </a:rPr>
                <a:t>Scored directly against real ESCI ground truth, not internal metrics.</a:t>
              </a:r>
              <a:endParaRPr b="1" i="0" sz="1400" u="none" strike="noStrike">
                <a:solidFill>
                  <a:srgbClr val="0EA5E9"/>
                </a:solidFill>
                <a:latin typeface="Calibri"/>
                <a:ea typeface="Calibri"/>
                <a:cs typeface="Calibri"/>
                <a:sym typeface="Calibri"/>
              </a:endParaRPr>
            </a:p>
          </p:txBody>
        </p:sp>
      </p:grpSp>
      <p:grpSp>
        <p:nvGrpSpPr>
          <p:cNvPr id="337" name="Google Shape;337;p24"/>
          <p:cNvGrpSpPr/>
          <p:nvPr/>
        </p:nvGrpSpPr>
        <p:grpSpPr>
          <a:xfrm>
            <a:off x="4295775" y="1714500"/>
            <a:ext cx="3600600" cy="3143400"/>
            <a:chOff x="0" y="0"/>
            <a:chExt cx="3600600" cy="3143400"/>
          </a:xfrm>
        </p:grpSpPr>
        <p:sp>
          <p:nvSpPr>
            <p:cNvPr id="338" name="Google Shape;338;p24"/>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9" name="Google Shape;339;p24"/>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NDCG@10 PROGRESSION</a:t>
              </a:r>
              <a:endParaRPr b="1" i="0" sz="1400" u="none" strike="noStrike">
                <a:solidFill>
                  <a:srgbClr val="0EA5E9"/>
                </a:solidFill>
                <a:latin typeface="Calibri"/>
                <a:ea typeface="Calibri"/>
                <a:cs typeface="Calibri"/>
                <a:sym typeface="Calibri"/>
              </a:endParaRPr>
            </a:p>
            <a:p>
              <a:pPr indent="0" lvl="0" marL="0" rtl="0" algn="l">
                <a:spcBef>
                  <a:spcPts val="1400"/>
                </a:spcBef>
                <a:spcAft>
                  <a:spcPts val="0"/>
                </a:spcAft>
                <a:buNone/>
              </a:pPr>
              <a:r>
                <a:rPr b="0" i="0" lang="en-US" sz="1600" u="none" strike="noStrike">
                  <a:solidFill>
                    <a:srgbClr val="475569"/>
                  </a:solidFill>
                  <a:latin typeface="Calibri"/>
                  <a:ea typeface="Calibri"/>
                  <a:cs typeface="Calibri"/>
                  <a:sym typeface="Calibri"/>
                </a:rPr>
                <a:t>Stock BM25: </a:t>
              </a:r>
              <a:r>
                <a:rPr b="1" i="0" lang="en-US" sz="1600" u="none" strike="noStrike">
                  <a:solidFill>
                    <a:srgbClr val="0A2540"/>
                  </a:solidFill>
                  <a:latin typeface="Calibri"/>
                  <a:ea typeface="Calibri"/>
                  <a:cs typeface="Calibri"/>
                  <a:sym typeface="Calibri"/>
                </a:rPr>
                <a:t>0.81</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0" i="0" lang="en-US" sz="1600" u="none" strike="noStrike">
                  <a:solidFill>
                    <a:srgbClr val="475569"/>
                  </a:solidFill>
                  <a:latin typeface="Calibri"/>
                  <a:ea typeface="Calibri"/>
                  <a:cs typeface="Calibri"/>
                  <a:sym typeface="Calibri"/>
                </a:rPr>
                <a:t>Optimized BM25: </a:t>
              </a:r>
              <a:r>
                <a:rPr b="1" i="0" lang="en-US" sz="1600" u="none" strike="noStrike">
                  <a:solidFill>
                    <a:srgbClr val="0A2540"/>
                  </a:solidFill>
                  <a:latin typeface="Calibri"/>
                  <a:ea typeface="Calibri"/>
                  <a:cs typeface="Calibri"/>
                  <a:sym typeface="Calibri"/>
                </a:rPr>
                <a:t>0.91</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1" i="0" lang="en-US" sz="1600" u="none" strike="noStrike">
                  <a:solidFill>
                    <a:srgbClr val="0EA5E9"/>
                  </a:solidFill>
                  <a:latin typeface="Calibri"/>
                  <a:ea typeface="Calibri"/>
                  <a:cs typeface="Calibri"/>
                  <a:sym typeface="Calibri"/>
                </a:rPr>
                <a:t>Hybrid Search: 0.95</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1400"/>
                </a:spcAft>
                <a:buNone/>
              </a:pPr>
              <a:r>
                <a:rPr b="0" i="0" lang="en-US" sz="1600" u="none" strike="noStrike">
                  <a:solidFill>
                    <a:srgbClr val="475569"/>
                  </a:solidFill>
                  <a:latin typeface="Calibri"/>
                  <a:ea typeface="Calibri"/>
                  <a:cs typeface="Calibri"/>
                  <a:sym typeface="Calibri"/>
                </a:rPr>
                <a:t>Reranked: </a:t>
              </a:r>
              <a:r>
                <a:rPr b="1" i="0" lang="en-US" sz="1600" u="none" strike="noStrike">
                  <a:solidFill>
                    <a:srgbClr val="0A2540"/>
                  </a:solidFill>
                  <a:latin typeface="Calibri"/>
                  <a:ea typeface="Calibri"/>
                  <a:cs typeface="Calibri"/>
                  <a:sym typeface="Calibri"/>
                </a:rPr>
                <a:t>0.92</a:t>
              </a:r>
              <a:endParaRPr b="1" i="0" sz="1400" u="none" strike="noStrike">
                <a:solidFill>
                  <a:srgbClr val="0EA5E9"/>
                </a:solidFill>
                <a:latin typeface="Calibri"/>
                <a:ea typeface="Calibri"/>
                <a:cs typeface="Calibri"/>
                <a:sym typeface="Calibri"/>
              </a:endParaRPr>
            </a:p>
          </p:txBody>
        </p:sp>
      </p:grpSp>
      <p:grpSp>
        <p:nvGrpSpPr>
          <p:cNvPr id="340" name="Google Shape;340;p24"/>
          <p:cNvGrpSpPr/>
          <p:nvPr/>
        </p:nvGrpSpPr>
        <p:grpSpPr>
          <a:xfrm>
            <a:off x="8134350" y="1714500"/>
            <a:ext cx="3600600" cy="3143400"/>
            <a:chOff x="0" y="0"/>
            <a:chExt cx="3600600" cy="3143400"/>
          </a:xfrm>
        </p:grpSpPr>
        <p:sp>
          <p:nvSpPr>
            <p:cNvPr id="341" name="Google Shape;341;p24"/>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2" name="Google Shape;342;p24"/>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u="none" strike="noStrike">
                  <a:solidFill>
                    <a:srgbClr val="0EA5E9"/>
                  </a:solidFill>
                  <a:latin typeface="Calibri"/>
                  <a:ea typeface="Calibri"/>
                  <a:cs typeface="Calibri"/>
                  <a:sym typeface="Calibri"/>
                </a:rPr>
                <a:t>BENCHMARK COMPARISON</a:t>
              </a:r>
              <a:endParaRPr b="1" i="0" sz="1400" u="none" strike="noStrike">
                <a:solidFill>
                  <a:srgbClr val="0EA5E9"/>
                </a:solidFill>
                <a:latin typeface="Calibri"/>
                <a:ea typeface="Calibri"/>
                <a:cs typeface="Calibri"/>
                <a:sym typeface="Calibri"/>
              </a:endParaRPr>
            </a:p>
            <a:p>
              <a:pPr indent="0" lvl="0" marL="0" rtl="0" algn="l">
                <a:spcBef>
                  <a:spcPts val="1000"/>
                </a:spcBef>
                <a:spcAft>
                  <a:spcPts val="0"/>
                </a:spcAft>
                <a:buNone/>
              </a:pPr>
              <a:r>
                <a:rPr b="1" i="0" lang="en-US" sz="2600" u="none" strike="noStrike">
                  <a:solidFill>
                    <a:srgbClr val="0A2540"/>
                  </a:solidFill>
                  <a:latin typeface="Calibri"/>
                  <a:ea typeface="Calibri"/>
                  <a:cs typeface="Calibri"/>
                  <a:sym typeface="Calibri"/>
                </a:rPr>
                <a:t>+0.14 Max Gain</a:t>
              </a:r>
              <a:endParaRPr b="1" i="0" sz="1400" u="none" strike="noStrike">
                <a:solidFill>
                  <a:srgbClr val="0EA5E9"/>
                </a:solidFill>
                <a:latin typeface="Calibri"/>
                <a:ea typeface="Calibri"/>
                <a:cs typeface="Calibri"/>
                <a:sym typeface="Calibri"/>
              </a:endParaRPr>
            </a:p>
            <a:p>
              <a:pPr indent="0" lvl="0" marL="0" rtl="0" algn="l">
                <a:spcBef>
                  <a:spcPts val="1400"/>
                </a:spcBef>
                <a:spcAft>
                  <a:spcPts val="0"/>
                </a:spcAft>
                <a:buNone/>
              </a:pPr>
              <a:r>
                <a:rPr b="1" i="0" lang="en-US" sz="1550" u="none" strike="noStrike">
                  <a:solidFill>
                    <a:srgbClr val="0EA5E9"/>
                  </a:solidFill>
                  <a:latin typeface="Calibri"/>
                  <a:ea typeface="Calibri"/>
                  <a:cs typeface="Calibri"/>
                  <a:sym typeface="Calibri"/>
                </a:rPr>
                <a:t>Hybrid 0.95</a:t>
              </a:r>
              <a:r>
                <a:rPr b="0" i="0" lang="en-US" sz="1550" u="none" strike="noStrike">
                  <a:solidFill>
                    <a:srgbClr val="475569"/>
                  </a:solidFill>
                  <a:latin typeface="Calibri"/>
                  <a:ea typeface="Calibri"/>
                  <a:cs typeface="Calibri"/>
                  <a:sym typeface="Calibri"/>
                </a:rPr>
                <a:t> vs Stock 0.81</a:t>
              </a:r>
              <a:endParaRPr b="1" i="0" sz="1400" u="none" strike="noStrike">
                <a:solidFill>
                  <a:srgbClr val="0EA5E9"/>
                </a:solidFill>
                <a:latin typeface="Calibri"/>
                <a:ea typeface="Calibri"/>
                <a:cs typeface="Calibri"/>
                <a:sym typeface="Calibri"/>
              </a:endParaRPr>
            </a:p>
            <a:p>
              <a:pPr indent="0" lvl="0" marL="0" rtl="0" algn="l">
                <a:spcBef>
                  <a:spcPts val="1200"/>
                </a:spcBef>
                <a:spcAft>
                  <a:spcPts val="0"/>
                </a:spcAft>
                <a:buNone/>
              </a:pPr>
              <a:r>
                <a:rPr b="0" i="0" lang="en-US" sz="1500" u="none" strike="noStrike">
                  <a:solidFill>
                    <a:srgbClr val="475569"/>
                  </a:solidFill>
                  <a:latin typeface="Calibri"/>
                  <a:ea typeface="Calibri"/>
                  <a:cs typeface="Calibri"/>
                  <a:sym typeface="Calibri"/>
                </a:rPr>
                <a:t>Significant relevance increase across all pipeline stages over standard default search.</a:t>
              </a:r>
              <a:endParaRPr b="1" i="0" sz="1400" u="none" strike="noStrike">
                <a:solidFill>
                  <a:srgbClr val="0EA5E9"/>
                </a:solidFill>
                <a:latin typeface="Calibri"/>
                <a:ea typeface="Calibri"/>
                <a:cs typeface="Calibri"/>
                <a:sym typeface="Calibri"/>
              </a:endParaRPr>
            </a:p>
          </p:txBody>
        </p:sp>
      </p:grpSp>
      <p:grpSp>
        <p:nvGrpSpPr>
          <p:cNvPr id="343" name="Google Shape;343;p24"/>
          <p:cNvGrpSpPr/>
          <p:nvPr/>
        </p:nvGrpSpPr>
        <p:grpSpPr>
          <a:xfrm>
            <a:off x="457200" y="5143500"/>
            <a:ext cx="11277600" cy="952500"/>
            <a:chOff x="0" y="0"/>
            <a:chExt cx="11277600" cy="952500"/>
          </a:xfrm>
        </p:grpSpPr>
        <p:sp>
          <p:nvSpPr>
            <p:cNvPr id="344" name="Google Shape;344;p24"/>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5" name="Google Shape;345;p24"/>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105" u="none" strike="noStrike">
                  <a:solidFill>
                    <a:srgbClr val="0EA5E9"/>
                  </a:solidFill>
                  <a:latin typeface="Calibri"/>
                  <a:ea typeface="Calibri"/>
                  <a:cs typeface="Calibri"/>
                  <a:sym typeface="Calibri"/>
                </a:rPr>
                <a:t>KEY TAKEAWAY</a:t>
              </a:r>
              <a:endParaRPr b="1" i="0" sz="1105"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1955" u="none" strike="noStrike">
                  <a:solidFill>
                    <a:srgbClr val="FFFFFF"/>
                  </a:solidFill>
                  <a:latin typeface="Calibri"/>
                  <a:ea typeface="Calibri"/>
                  <a:cs typeface="Calibri"/>
                  <a:sym typeface="Calibri"/>
                </a:rPr>
                <a:t>Every optimized stage beat the stock baseline — graded by Amazon's own relevance judgments.</a:t>
              </a:r>
              <a:endParaRPr b="1" i="0" sz="1105" u="none" strike="noStrike">
                <a:solidFill>
                  <a:srgbClr val="0EA5E9"/>
                </a:solidFill>
                <a:latin typeface="Calibri"/>
                <a:ea typeface="Calibri"/>
                <a:cs typeface="Calibri"/>
                <a:sym typeface="Calibri"/>
              </a:endParaRPr>
            </a:p>
          </p:txBody>
        </p:sp>
      </p:grpSp>
      <p:sp>
        <p:nvSpPr>
          <p:cNvPr id="346" name="Google Shape;346;p24"/>
          <p:cNvSpPr txBox="1"/>
          <p:nvPr/>
        </p:nvSpPr>
        <p:spPr>
          <a:xfrm>
            <a:off x="365760" y="1905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7 / 11</a:t>
            </a:r>
            <a:endParaRPr b="0" i="0" sz="1100" u="none" strike="noStrike">
              <a:solidFill>
                <a:srgbClr val="94A3B8"/>
              </a:solidFill>
              <a:latin typeface="Calibri"/>
              <a:ea typeface="Calibri"/>
              <a:cs typeface="Calibri"/>
              <a:sym typeface="Calibri"/>
            </a:endParaRPr>
          </a:p>
        </p:txBody>
      </p:sp>
      <p:pic>
        <p:nvPicPr>
          <p:cNvPr id="347" name="Google Shape;347;p24"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348" name="Google Shape;348;p24"/>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52" name="Shape 352"/>
        <p:cNvGrpSpPr/>
        <p:nvPr/>
      </p:nvGrpSpPr>
      <p:grpSpPr>
        <a:xfrm>
          <a:off x="0" y="0"/>
          <a:ext cx="0" cy="0"/>
          <a:chOff x="0" y="0"/>
          <a:chExt cx="0" cy="0"/>
        </a:xfrm>
      </p:grpSpPr>
      <p:sp>
        <p:nvSpPr>
          <p:cNvPr id="353" name="Google Shape;353;p25"/>
          <p:cNvSpPr txBox="1"/>
          <p:nvPr/>
        </p:nvSpPr>
        <p:spPr>
          <a:xfrm>
            <a:off x="457200" y="4953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369A1"/>
                </a:solidFill>
                <a:latin typeface="Calibri"/>
                <a:ea typeface="Calibri"/>
                <a:cs typeface="Calibri"/>
                <a:sym typeface="Calibri"/>
              </a:rPr>
              <a:t>DEMO 3 RECAP</a:t>
            </a:r>
            <a:endParaRPr b="1" i="0" sz="1300" u="none" strike="noStrike">
              <a:solidFill>
                <a:srgbClr val="0369A1"/>
              </a:solidFill>
              <a:latin typeface="Calibri"/>
              <a:ea typeface="Calibri"/>
              <a:cs typeface="Calibri"/>
              <a:sym typeface="Calibri"/>
            </a:endParaRPr>
          </a:p>
        </p:txBody>
      </p:sp>
      <p:sp>
        <p:nvSpPr>
          <p:cNvPr id="354" name="Google Shape;354;p25"/>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3800">
                <a:solidFill>
                  <a:srgbClr val="0A2540"/>
                </a:solidFill>
                <a:latin typeface="Calibri"/>
                <a:ea typeface="Calibri"/>
                <a:cs typeface="Calibri"/>
                <a:sym typeface="Calibri"/>
              </a:rPr>
              <a:t>Re-</a:t>
            </a:r>
            <a:r>
              <a:rPr b="1" i="0" lang="en-US" sz="3800" u="none" strike="noStrike">
                <a:solidFill>
                  <a:srgbClr val="0A2540"/>
                </a:solidFill>
                <a:latin typeface="Calibri"/>
                <a:ea typeface="Calibri"/>
                <a:cs typeface="Calibri"/>
                <a:sym typeface="Calibri"/>
              </a:rPr>
              <a:t>Classification &amp; Ingestion</a:t>
            </a:r>
            <a:endParaRPr b="1" i="0" sz="3800" u="none" strike="noStrike">
              <a:solidFill>
                <a:srgbClr val="0A2540"/>
              </a:solidFill>
              <a:latin typeface="Calibri"/>
              <a:ea typeface="Calibri"/>
              <a:cs typeface="Calibri"/>
              <a:sym typeface="Calibri"/>
            </a:endParaRPr>
          </a:p>
        </p:txBody>
      </p:sp>
      <p:grpSp>
        <p:nvGrpSpPr>
          <p:cNvPr id="355" name="Google Shape;355;p25"/>
          <p:cNvGrpSpPr/>
          <p:nvPr/>
        </p:nvGrpSpPr>
        <p:grpSpPr>
          <a:xfrm>
            <a:off x="457200" y="1714500"/>
            <a:ext cx="3600600" cy="3143400"/>
            <a:chOff x="0" y="0"/>
            <a:chExt cx="3600600" cy="3143400"/>
          </a:xfrm>
        </p:grpSpPr>
        <p:sp>
          <p:nvSpPr>
            <p:cNvPr id="356" name="Google Shape;356;p25"/>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7" name="Google Shape;357;p25"/>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PHASE 1: THE DISPUTE</a:t>
              </a:r>
              <a:endParaRPr b="1" i="0" sz="1300" u="none" strike="noStrike">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u="none" strike="noStrike">
                  <a:solidFill>
                    <a:srgbClr val="0A2540"/>
                  </a:solidFill>
                  <a:latin typeface="Calibri"/>
                  <a:ea typeface="Calibri"/>
                  <a:cs typeface="Calibri"/>
                  <a:sym typeface="Calibri"/>
                </a:rPr>
                <a:t>“show me tan boots”</a:t>
              </a:r>
              <a:endParaRPr b="1" i="0" sz="130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0" i="0" lang="en-US" sz="1150" u="none" strike="noStrike">
                  <a:solidFill>
                    <a:srgbClr val="475569"/>
                  </a:solidFill>
                  <a:latin typeface="Calibri"/>
                  <a:ea typeface="Calibri"/>
                  <a:cs typeface="Calibri"/>
                  <a:sym typeface="Calibri"/>
                </a:rPr>
                <a:t>Filter resolves to </a:t>
              </a:r>
              <a:r>
                <a:rPr b="1" i="0" lang="en-US" sz="1150" u="none" strike="noStrike">
                  <a:solidFill>
                    <a:srgbClr val="475569"/>
                  </a:solidFill>
                  <a:latin typeface="Calibri"/>
                  <a:ea typeface="Calibri"/>
                  <a:cs typeface="Calibri"/>
                  <a:sym typeface="Calibri"/>
                </a:rPr>
                <a:t>yellow</a:t>
              </a:r>
              <a:r>
                <a:rPr b="0" i="0" lang="en-US" sz="1150" u="none" strike="noStrike">
                  <a:solidFill>
                    <a:srgbClr val="475569"/>
                  </a:solidFill>
                  <a:latin typeface="Calibri"/>
                  <a:ea typeface="Calibri"/>
                  <a:cs typeface="Calibri"/>
                  <a:sym typeface="Calibri"/>
                </a:rPr>
                <a:t>, passes quality gate anyway.</a:t>
              </a:r>
              <a:endParaRPr b="1" i="0" sz="1150" u="none" strike="noStrike">
                <a:solidFill>
                  <a:srgbClr val="0EA5E9"/>
                </a:solidFill>
                <a:latin typeface="Calibri"/>
                <a:ea typeface="Calibri"/>
                <a:cs typeface="Calibri"/>
                <a:sym typeface="Calibri"/>
              </a:endParaRPr>
            </a:p>
            <a:p>
              <a:pPr indent="0" lvl="0" marL="0" rtl="0" algn="l">
                <a:spcBef>
                  <a:spcPts val="600"/>
                </a:spcBef>
                <a:spcAft>
                  <a:spcPts val="0"/>
                </a:spcAft>
                <a:buNone/>
              </a:pPr>
              <a:r>
                <a:rPr b="1" i="0" lang="en-US" sz="1150" u="none" strike="noStrike">
                  <a:solidFill>
                    <a:srgbClr val="475569"/>
                  </a:solidFill>
                  <a:latin typeface="Calibri"/>
                  <a:ea typeface="Calibri"/>
                  <a:cs typeface="Calibri"/>
                  <a:sym typeface="Calibri"/>
                </a:rPr>
                <a:t>User Feedback:</a:t>
              </a:r>
              <a:r>
                <a:rPr b="0" i="0" lang="en-US" sz="1150" u="none" strike="noStrike">
                  <a:solidFill>
                    <a:srgbClr val="475569"/>
                  </a:solidFill>
                  <a:latin typeface="Calibri"/>
                  <a:ea typeface="Calibri"/>
                  <a:cs typeface="Calibri"/>
                  <a:sym typeface="Calibri"/>
                </a:rPr>
                <a:t> “that’s not tan, that’s tagged yellow which is wrong”</a:t>
              </a:r>
              <a:endParaRPr b="1" i="0" sz="115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u="none" strike="noStrike">
                  <a:solidFill>
                    <a:srgbClr val="B91C1C"/>
                  </a:solidFill>
                  <a:latin typeface="Calibri"/>
                  <a:ea typeface="Calibri"/>
                  <a:cs typeface="Calibri"/>
                  <a:sym typeface="Calibri"/>
                </a:rPr>
                <a:t>BEFORE RECORD (Catalog Error):</a:t>
              </a:r>
              <a:endParaRPr b="1" i="0" sz="11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1100" u="none" strike="noStrike">
                  <a:solidFill>
                    <a:srgbClr val="991B1B"/>
                  </a:solidFill>
                  <a:highlight>
                    <a:srgbClr val="FEE2E2"/>
                  </a:highlight>
                  <a:latin typeface="Courier New"/>
                  <a:ea typeface="Courier New"/>
                  <a:cs typeface="Courier New"/>
                  <a:sym typeface="Courier New"/>
                </a:rPr>
                <a:t>product_color_primary: yellow</a:t>
              </a:r>
              <a:endParaRPr b="1" i="0" sz="1100" u="none" strike="noStrike">
                <a:solidFill>
                  <a:srgbClr val="0EA5E9"/>
                </a:solidFill>
                <a:latin typeface="Calibri"/>
                <a:ea typeface="Calibri"/>
                <a:cs typeface="Calibri"/>
                <a:sym typeface="Calibri"/>
              </a:endParaRPr>
            </a:p>
          </p:txBody>
        </p:sp>
      </p:grpSp>
      <p:grpSp>
        <p:nvGrpSpPr>
          <p:cNvPr id="358" name="Google Shape;358;p25"/>
          <p:cNvGrpSpPr/>
          <p:nvPr/>
        </p:nvGrpSpPr>
        <p:grpSpPr>
          <a:xfrm>
            <a:off x="4295775" y="1714500"/>
            <a:ext cx="3600600" cy="3143400"/>
            <a:chOff x="0" y="0"/>
            <a:chExt cx="3600600" cy="3143400"/>
          </a:xfrm>
        </p:grpSpPr>
        <p:sp>
          <p:nvSpPr>
            <p:cNvPr id="359" name="Google Shape;359;p25"/>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0" name="Google Shape;360;p25"/>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PHASE 2: LIVE RE-INDEX</a:t>
              </a:r>
              <a:endParaRPr b="1" i="0" sz="1300" u="none" strike="noStrike">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u="none" strike="noStrike">
                  <a:solidFill>
                    <a:srgbClr val="0A2540"/>
                  </a:solidFill>
                  <a:latin typeface="Calibri"/>
                  <a:ea typeface="Calibri"/>
                  <a:cs typeface="Calibri"/>
                  <a:sym typeface="Calibri"/>
                </a:rPr>
                <a:t>Lucille Ingest Pipeline</a:t>
              </a:r>
              <a:endParaRPr b="1" i="0" sz="130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0" i="0" lang="en-US" sz="1150" u="none" strike="noStrike">
                  <a:solidFill>
                    <a:srgbClr val="475569"/>
                  </a:solidFill>
                  <a:latin typeface="Calibri"/>
                  <a:ea typeface="Calibri"/>
                  <a:cs typeface="Calibri"/>
                  <a:sym typeface="Calibri"/>
                </a:rPr>
                <a:t>Correction verified dynamically step-by-step.</a:t>
              </a:r>
              <a:endParaRPr b="1" i="0" sz="1150" u="none" strike="noStrike">
                <a:solidFill>
                  <a:srgbClr val="0EA5E9"/>
                </a:solidFill>
                <a:latin typeface="Calibri"/>
                <a:ea typeface="Calibri"/>
                <a:cs typeface="Calibri"/>
                <a:sym typeface="Calibri"/>
              </a:endParaRPr>
            </a:p>
            <a:p>
              <a:pPr indent="0" lvl="0" marL="0" rtl="0" algn="l">
                <a:spcBef>
                  <a:spcPts val="600"/>
                </a:spcBef>
                <a:spcAft>
                  <a:spcPts val="0"/>
                </a:spcAft>
                <a:buNone/>
              </a:pPr>
              <a:r>
                <a:rPr b="1" i="0" lang="en-US" sz="1150" u="none" strike="noStrike">
                  <a:solidFill>
                    <a:srgbClr val="475569"/>
                  </a:solidFill>
                  <a:latin typeface="Calibri"/>
                  <a:ea typeface="Calibri"/>
                  <a:cs typeface="Calibri"/>
                  <a:sym typeface="Calibri"/>
                </a:rPr>
                <a:t>Action:</a:t>
              </a:r>
              <a:r>
                <a:rPr b="0" i="0" lang="en-US" sz="1150" u="none" strike="noStrike">
                  <a:solidFill>
                    <a:srgbClr val="475569"/>
                  </a:solidFill>
                  <a:latin typeface="Calibri"/>
                  <a:ea typeface="Calibri"/>
                  <a:cs typeface="Calibri"/>
                  <a:sym typeface="Calibri"/>
                </a:rPr>
                <a:t> Triggered real Lucille re-index across </a:t>
              </a:r>
              <a:r>
                <a:rPr b="1" i="0" lang="en-US" sz="1150" u="none" strike="noStrike">
                  <a:solidFill>
                    <a:srgbClr val="475569"/>
                  </a:solidFill>
                  <a:latin typeface="Calibri"/>
                  <a:ea typeface="Calibri"/>
                  <a:cs typeface="Calibri"/>
                  <a:sym typeface="Calibri"/>
                </a:rPr>
                <a:t>9,618 products</a:t>
              </a:r>
              <a:r>
                <a:rPr b="0" i="0" lang="en-US" sz="1150" u="none" strike="noStrike">
                  <a:solidFill>
                    <a:srgbClr val="475569"/>
                  </a:solidFill>
                  <a:latin typeface="Calibri"/>
                  <a:ea typeface="Calibri"/>
                  <a:cs typeface="Calibri"/>
                  <a:sym typeface="Calibri"/>
                </a:rPr>
                <a:t> without manual query tuning.</a:t>
              </a:r>
              <a:endParaRPr b="1" i="0" sz="115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u="none" strike="noStrike">
                  <a:solidFill>
                    <a:srgbClr val="0369A1"/>
                  </a:solidFill>
                  <a:latin typeface="Calibri"/>
                  <a:ea typeface="Calibri"/>
                  <a:cs typeface="Calibri"/>
                  <a:sym typeface="Calibri"/>
                </a:rPr>
                <a:t>PIPELINE RE-INDEX EXECUTION:</a:t>
              </a:r>
              <a:endParaRPr b="1" i="0" sz="11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1100" u="none" strike="noStrike">
                  <a:solidFill>
                    <a:srgbClr val="0284C7"/>
                  </a:solidFill>
                  <a:latin typeface="Courier New"/>
                  <a:ea typeface="Courier New"/>
                  <a:cs typeface="Courier New"/>
                  <a:sym typeface="Courier New"/>
                </a:rPr>
                <a:t>reclassify_field(color_primary)</a:t>
              </a:r>
              <a:endParaRPr b="1" i="0" sz="1100" u="none" strike="noStrike">
                <a:solidFill>
                  <a:srgbClr val="0EA5E9"/>
                </a:solidFill>
                <a:latin typeface="Calibri"/>
                <a:ea typeface="Calibri"/>
                <a:cs typeface="Calibri"/>
                <a:sym typeface="Calibri"/>
              </a:endParaRPr>
            </a:p>
          </p:txBody>
        </p:sp>
      </p:grpSp>
      <p:grpSp>
        <p:nvGrpSpPr>
          <p:cNvPr id="361" name="Google Shape;361;p25"/>
          <p:cNvGrpSpPr/>
          <p:nvPr/>
        </p:nvGrpSpPr>
        <p:grpSpPr>
          <a:xfrm>
            <a:off x="8134350" y="1714500"/>
            <a:ext cx="3600600" cy="3143400"/>
            <a:chOff x="0" y="0"/>
            <a:chExt cx="3600600" cy="3143400"/>
          </a:xfrm>
        </p:grpSpPr>
        <p:sp>
          <p:nvSpPr>
            <p:cNvPr id="362" name="Google Shape;362;p25"/>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3" name="Google Shape;363;p25"/>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u="none" strike="noStrike">
                  <a:solidFill>
                    <a:srgbClr val="0EA5E9"/>
                  </a:solidFill>
                  <a:latin typeface="Calibri"/>
                  <a:ea typeface="Calibri"/>
                  <a:cs typeface="Calibri"/>
                  <a:sym typeface="Calibri"/>
                </a:rPr>
                <a:t>PHASE 3: PERMANENT FIX</a:t>
              </a:r>
              <a:endParaRPr b="1" i="0" sz="1300" u="none" strike="noStrike">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u="none" strike="noStrike">
                  <a:solidFill>
                    <a:srgbClr val="0A2540"/>
                  </a:solidFill>
                  <a:latin typeface="Calibri"/>
                  <a:ea typeface="Calibri"/>
                  <a:cs typeface="Calibri"/>
                  <a:sym typeface="Calibri"/>
                </a:rPr>
                <a:t>“show me tan boots”</a:t>
              </a:r>
              <a:endParaRPr b="1" i="0" sz="130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50" u="none" strike="noStrike">
                  <a:solidFill>
                    <a:srgbClr val="475569"/>
                  </a:solidFill>
                  <a:latin typeface="Calibri"/>
                  <a:ea typeface="Calibri"/>
                  <a:cs typeface="Calibri"/>
                  <a:sym typeface="Calibri"/>
                </a:rPr>
                <a:t>New Session:</a:t>
              </a:r>
              <a:r>
                <a:rPr b="0" i="0" lang="en-US" sz="1150" u="none" strike="noStrike">
                  <a:solidFill>
                    <a:srgbClr val="475569"/>
                  </a:solidFill>
                  <a:latin typeface="Calibri"/>
                  <a:ea typeface="Calibri"/>
                  <a:cs typeface="Calibri"/>
                  <a:sym typeface="Calibri"/>
                </a:rPr>
                <a:t> Filter now correctly reads </a:t>
              </a:r>
              <a:r>
                <a:rPr b="1" i="0" lang="en-US" sz="1150" u="none" strike="noStrike">
                  <a:solidFill>
                    <a:srgbClr val="475569"/>
                  </a:solidFill>
                  <a:latin typeface="Calibri"/>
                  <a:ea typeface="Calibri"/>
                  <a:cs typeface="Calibri"/>
                  <a:sym typeface="Calibri"/>
                </a:rPr>
                <a:t>brown</a:t>
              </a:r>
              <a:r>
                <a:rPr b="0" i="0" lang="en-US" sz="1150" u="none" strike="noStrike">
                  <a:solidFill>
                    <a:srgbClr val="475569"/>
                  </a:solidFill>
                  <a:latin typeface="Calibri"/>
                  <a:ea typeface="Calibri"/>
                  <a:cs typeface="Calibri"/>
                  <a:sym typeface="Calibri"/>
                </a:rPr>
                <a:t> — permanently updated in catalog.</a:t>
              </a:r>
              <a:endParaRPr b="1" i="0" sz="1150" u="none" strike="noStrike">
                <a:solidFill>
                  <a:srgbClr val="0EA5E9"/>
                </a:solidFill>
                <a:latin typeface="Calibri"/>
                <a:ea typeface="Calibri"/>
                <a:cs typeface="Calibri"/>
                <a:sym typeface="Calibri"/>
              </a:endParaRPr>
            </a:p>
            <a:p>
              <a:pPr indent="0" lvl="0" marL="0" rtl="0" algn="l">
                <a:spcBef>
                  <a:spcPts val="600"/>
                </a:spcBef>
                <a:spcAft>
                  <a:spcPts val="0"/>
                </a:spcAft>
                <a:buNone/>
              </a:pPr>
              <a:r>
                <a:rPr b="0" i="0" lang="en-US" sz="1150" u="none" strike="noStrike">
                  <a:solidFill>
                    <a:srgbClr val="475569"/>
                  </a:solidFill>
                  <a:latin typeface="Calibri"/>
                  <a:ea typeface="Calibri"/>
                  <a:cs typeface="Calibri"/>
                  <a:sym typeface="Calibri"/>
                </a:rPr>
                <a:t>Resolved systemic catalog error at the source.</a:t>
              </a:r>
              <a:endParaRPr b="1" i="0" sz="1150" u="none" strike="noStrike">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u="none" strike="noStrike">
                  <a:solidFill>
                    <a:srgbClr val="15803D"/>
                  </a:solidFill>
                  <a:latin typeface="Calibri"/>
                  <a:ea typeface="Calibri"/>
                  <a:cs typeface="Calibri"/>
                  <a:sym typeface="Calibri"/>
                </a:rPr>
                <a:t>AFTER RECORD (Catalog </a:t>
              </a:r>
              <a:r>
                <a:rPr b="1" lang="en-US" sz="1100">
                  <a:solidFill>
                    <a:srgbClr val="15803D"/>
                  </a:solidFill>
                  <a:latin typeface="Calibri"/>
                  <a:ea typeface="Calibri"/>
                  <a:cs typeface="Calibri"/>
                  <a:sym typeface="Calibri"/>
                </a:rPr>
                <a:t>Enriched</a:t>
              </a:r>
              <a:r>
                <a:rPr b="1" i="0" lang="en-US" sz="1100" u="none" strike="noStrike">
                  <a:solidFill>
                    <a:srgbClr val="15803D"/>
                  </a:solidFill>
                  <a:latin typeface="Calibri"/>
                  <a:ea typeface="Calibri"/>
                  <a:cs typeface="Calibri"/>
                  <a:sym typeface="Calibri"/>
                </a:rPr>
                <a:t>):</a:t>
              </a:r>
              <a:endParaRPr b="1" i="0" sz="1100" u="none" strike="noStrike">
                <a:solidFill>
                  <a:srgbClr val="0EA5E9"/>
                </a:solidFill>
                <a:latin typeface="Calibri"/>
                <a:ea typeface="Calibri"/>
                <a:cs typeface="Calibri"/>
                <a:sym typeface="Calibri"/>
              </a:endParaRPr>
            </a:p>
            <a:p>
              <a:pPr indent="0" lvl="0" marL="0" rtl="0" algn="l">
                <a:spcBef>
                  <a:spcPts val="200"/>
                </a:spcBef>
                <a:spcAft>
                  <a:spcPts val="0"/>
                </a:spcAft>
                <a:buNone/>
              </a:pPr>
              <a:r>
                <a:rPr b="1" i="0" lang="en-US" sz="1100" u="none" strike="noStrike">
                  <a:solidFill>
                    <a:srgbClr val="166534"/>
                  </a:solidFill>
                  <a:highlight>
                    <a:srgbClr val="DCFCE7"/>
                  </a:highlight>
                  <a:latin typeface="Courier New"/>
                  <a:ea typeface="Courier New"/>
                  <a:cs typeface="Courier New"/>
                  <a:sym typeface="Courier New"/>
                </a:rPr>
                <a:t>product_color_primary: brown</a:t>
              </a:r>
              <a:endParaRPr b="1" i="0" sz="1100" u="none" strike="noStrike">
                <a:solidFill>
                  <a:srgbClr val="0EA5E9"/>
                </a:solidFill>
                <a:latin typeface="Calibri"/>
                <a:ea typeface="Calibri"/>
                <a:cs typeface="Calibri"/>
                <a:sym typeface="Calibri"/>
              </a:endParaRPr>
            </a:p>
          </p:txBody>
        </p:sp>
      </p:grpSp>
      <p:grpSp>
        <p:nvGrpSpPr>
          <p:cNvPr id="364" name="Google Shape;364;p25"/>
          <p:cNvGrpSpPr/>
          <p:nvPr/>
        </p:nvGrpSpPr>
        <p:grpSpPr>
          <a:xfrm>
            <a:off x="457200" y="5143500"/>
            <a:ext cx="11277600" cy="952500"/>
            <a:chOff x="0" y="0"/>
            <a:chExt cx="11277600" cy="952500"/>
          </a:xfrm>
        </p:grpSpPr>
        <p:sp>
          <p:nvSpPr>
            <p:cNvPr id="365" name="Google Shape;365;p25"/>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6" name="Google Shape;366;p25"/>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020" u="none" strike="noStrike">
                  <a:solidFill>
                    <a:srgbClr val="0EA5E9"/>
                  </a:solidFill>
                  <a:latin typeface="Calibri"/>
                  <a:ea typeface="Calibri"/>
                  <a:cs typeface="Calibri"/>
                  <a:sym typeface="Calibri"/>
                </a:rPr>
                <a:t>KEY TAKEAWAY</a:t>
              </a:r>
              <a:endParaRPr b="1" i="0" sz="1020" u="none" strike="noStrike">
                <a:solidFill>
                  <a:srgbClr val="0EA5E9"/>
                </a:solidFill>
                <a:latin typeface="Calibri"/>
                <a:ea typeface="Calibri"/>
                <a:cs typeface="Calibri"/>
                <a:sym typeface="Calibri"/>
              </a:endParaRPr>
            </a:p>
            <a:p>
              <a:pPr indent="0" lvl="0" marL="0" rtl="0" algn="l">
                <a:spcBef>
                  <a:spcPts val="300"/>
                </a:spcBef>
                <a:spcAft>
                  <a:spcPts val="0"/>
                </a:spcAft>
                <a:buNone/>
              </a:pPr>
              <a:r>
                <a:rPr b="1" i="0" lang="en-US" sz="1785" u="none" strike="noStrike">
                  <a:solidFill>
                    <a:srgbClr val="FFFFFF"/>
                  </a:solidFill>
                  <a:latin typeface="Calibri"/>
                  <a:ea typeface="Calibri"/>
                  <a:cs typeface="Calibri"/>
                  <a:sym typeface="Calibri"/>
                </a:rPr>
                <a:t>A confidently wrong result that passed every automated check —  </a:t>
              </a:r>
              <a:r>
                <a:rPr b="1" lang="en-US" sz="1785">
                  <a:solidFill>
                    <a:srgbClr val="FFFFFF"/>
                  </a:solidFill>
                  <a:latin typeface="Calibri"/>
                  <a:ea typeface="Calibri"/>
                  <a:cs typeface="Calibri"/>
                  <a:sym typeface="Calibri"/>
                </a:rPr>
                <a:t>changed the catalog</a:t>
              </a:r>
              <a:r>
                <a:rPr b="1" i="0" lang="en-US" sz="1785" u="none" strike="noStrike">
                  <a:solidFill>
                    <a:srgbClr val="FFFFFF"/>
                  </a:solidFill>
                  <a:latin typeface="Calibri"/>
                  <a:ea typeface="Calibri"/>
                  <a:cs typeface="Calibri"/>
                  <a:sym typeface="Calibri"/>
                </a:rPr>
                <a:t>, not the query.</a:t>
              </a:r>
              <a:endParaRPr b="1" i="0" sz="1020" u="none" strike="noStrike">
                <a:solidFill>
                  <a:srgbClr val="0EA5E9"/>
                </a:solidFill>
                <a:latin typeface="Calibri"/>
                <a:ea typeface="Calibri"/>
                <a:cs typeface="Calibri"/>
                <a:sym typeface="Calibri"/>
              </a:endParaRPr>
            </a:p>
          </p:txBody>
        </p:sp>
      </p:grpSp>
      <p:sp>
        <p:nvSpPr>
          <p:cNvPr id="367" name="Google Shape;367;p25"/>
          <p:cNvSpPr txBox="1"/>
          <p:nvPr/>
        </p:nvSpPr>
        <p:spPr>
          <a:xfrm>
            <a:off x="365760" y="1905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8 / 11</a:t>
            </a:r>
            <a:endParaRPr b="0" i="0" sz="1100" u="none" strike="noStrike">
              <a:solidFill>
                <a:srgbClr val="94A3B8"/>
              </a:solidFill>
              <a:latin typeface="Calibri"/>
              <a:ea typeface="Calibri"/>
              <a:cs typeface="Calibri"/>
              <a:sym typeface="Calibri"/>
            </a:endParaRPr>
          </a:p>
        </p:txBody>
      </p:sp>
      <p:pic>
        <p:nvPicPr>
          <p:cNvPr id="368" name="Google Shape;368;p25"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369" name="Google Shape;369;p25"/>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73" name="Shape 373"/>
        <p:cNvGrpSpPr/>
        <p:nvPr/>
      </p:nvGrpSpPr>
      <p:grpSpPr>
        <a:xfrm>
          <a:off x="0" y="0"/>
          <a:ext cx="0" cy="0"/>
          <a:chOff x="0" y="0"/>
          <a:chExt cx="0" cy="0"/>
        </a:xfrm>
      </p:grpSpPr>
      <p:sp>
        <p:nvSpPr>
          <p:cNvPr id="374" name="Google Shape;374;p26"/>
          <p:cNvSpPr txBox="1"/>
          <p:nvPr/>
        </p:nvSpPr>
        <p:spPr>
          <a:xfrm>
            <a:off x="457200" y="4953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200">
                <a:solidFill>
                  <a:srgbClr val="0369A1"/>
                </a:solidFill>
                <a:latin typeface="Calibri"/>
                <a:ea typeface="Calibri"/>
                <a:cs typeface="Calibri"/>
                <a:sym typeface="Calibri"/>
              </a:rPr>
              <a:t>DEMO 3 EXTENSION (OPTIONAL)</a:t>
            </a:r>
            <a:endParaRPr b="1" i="0" sz="1200">
              <a:solidFill>
                <a:srgbClr val="0369A1"/>
              </a:solidFill>
              <a:latin typeface="Calibri"/>
              <a:ea typeface="Calibri"/>
              <a:cs typeface="Calibri"/>
              <a:sym typeface="Calibri"/>
            </a:endParaRPr>
          </a:p>
        </p:txBody>
      </p:sp>
      <p:sp>
        <p:nvSpPr>
          <p:cNvPr id="375" name="Google Shape;375;p26"/>
          <p:cNvSpPr txBox="1"/>
          <p:nvPr/>
        </p:nvSpPr>
        <p:spPr>
          <a:xfrm>
            <a:off x="457200" y="8382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600">
                <a:solidFill>
                  <a:srgbClr val="0A2540"/>
                </a:solidFill>
                <a:latin typeface="Calibri"/>
                <a:ea typeface="Calibri"/>
                <a:cs typeface="Calibri"/>
                <a:sym typeface="Calibri"/>
              </a:rPr>
              <a:t>Data Enrichment - Growth &amp; Schema Evolution</a:t>
            </a:r>
            <a:endParaRPr b="1" i="0" sz="3600">
              <a:solidFill>
                <a:srgbClr val="0A2540"/>
              </a:solidFill>
              <a:latin typeface="Calibri"/>
              <a:ea typeface="Calibri"/>
              <a:cs typeface="Calibri"/>
              <a:sym typeface="Calibri"/>
            </a:endParaRPr>
          </a:p>
        </p:txBody>
      </p:sp>
      <p:grpSp>
        <p:nvGrpSpPr>
          <p:cNvPr id="376" name="Google Shape;376;p26"/>
          <p:cNvGrpSpPr/>
          <p:nvPr/>
        </p:nvGrpSpPr>
        <p:grpSpPr>
          <a:xfrm>
            <a:off x="457200" y="1714500"/>
            <a:ext cx="3600600" cy="3143400"/>
            <a:chOff x="0" y="0"/>
            <a:chExt cx="3600600" cy="3143400"/>
          </a:xfrm>
        </p:grpSpPr>
        <p:sp>
          <p:nvSpPr>
            <p:cNvPr id="377" name="Google Shape;377;p26"/>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8" name="Google Shape;378;p26"/>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PHASE 1: ATTRIBUTE GAP</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a:solidFill>
                    <a:srgbClr val="0A2540"/>
                  </a:solidFill>
                  <a:latin typeface="Calibri"/>
                  <a:ea typeface="Calibri"/>
                  <a:cs typeface="Calibri"/>
                  <a:sym typeface="Calibri"/>
                </a:rPr>
                <a:t>“waterproof hiking boots”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0" i="0" lang="en-US" sz="1100">
                  <a:solidFill>
                    <a:srgbClr val="475569"/>
                  </a:solidFill>
                  <a:latin typeface="Calibri"/>
                  <a:ea typeface="Calibri"/>
                  <a:cs typeface="Calibri"/>
                  <a:sym typeface="Calibri"/>
                </a:rPr>
                <a:t>Query expects direct </a:t>
              </a:r>
              <a:r>
                <a:rPr b="1" i="0" lang="en-US" sz="1100">
                  <a:solidFill>
                    <a:srgbClr val="475569"/>
                  </a:solidFill>
                  <a:latin typeface="Calibri"/>
                  <a:ea typeface="Calibri"/>
                  <a:cs typeface="Calibri"/>
                  <a:sym typeface="Calibri"/>
                </a:rPr>
                <a:t>waterproof</a:t>
              </a:r>
              <a:r>
                <a:rPr b="0" i="0" lang="en-US" sz="1100">
                  <a:solidFill>
                    <a:srgbClr val="475569"/>
                  </a:solidFill>
                  <a:latin typeface="Calibri"/>
                  <a:ea typeface="Calibri"/>
                  <a:cs typeface="Calibri"/>
                  <a:sym typeface="Calibri"/>
                </a:rPr>
                <a:t> metadata filter.</a:t>
              </a:r>
              <a:endParaRPr b="1" i="0" sz="11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100">
                  <a:solidFill>
                    <a:srgbClr val="475569"/>
                  </a:solidFill>
                  <a:latin typeface="Calibri"/>
                  <a:ea typeface="Calibri"/>
                  <a:cs typeface="Calibri"/>
                  <a:sym typeface="Calibri"/>
                </a:rPr>
                <a:t>Catalog State:</a:t>
              </a:r>
              <a:r>
                <a:rPr b="0" i="0" lang="en-US" sz="1100">
                  <a:solidFill>
                    <a:srgbClr val="475569"/>
                  </a:solidFill>
                  <a:latin typeface="Calibri"/>
                  <a:ea typeface="Calibri"/>
                  <a:cs typeface="Calibri"/>
                  <a:sym typeface="Calibri"/>
                </a:rPr>
                <a:t> Feature unindexed; relies solely on unstructured text matching.</a:t>
              </a:r>
              <a:endParaRPr b="1" i="0" sz="11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050">
                  <a:solidFill>
                    <a:srgbClr val="0369A1"/>
                  </a:solidFill>
                  <a:latin typeface="Calibri"/>
                  <a:ea typeface="Calibri"/>
                  <a:cs typeface="Calibri"/>
                  <a:sym typeface="Calibri"/>
                </a:rPr>
                <a:t>CURRENT SCHEMA (Missing Field):</a:t>
              </a:r>
              <a:endParaRPr b="1" i="0" sz="1050">
                <a:solidFill>
                  <a:srgbClr val="0EA5E9"/>
                </a:solidFill>
                <a:latin typeface="Calibri"/>
                <a:ea typeface="Calibri"/>
                <a:cs typeface="Calibri"/>
                <a:sym typeface="Calibri"/>
              </a:endParaRPr>
            </a:p>
            <a:p>
              <a:pPr indent="0" lvl="0" marL="0" rtl="0" algn="l">
                <a:spcBef>
                  <a:spcPts val="200"/>
                </a:spcBef>
                <a:spcAft>
                  <a:spcPts val="0"/>
                </a:spcAft>
                <a:buNone/>
              </a:pPr>
              <a:r>
                <a:rPr b="1" i="0" lang="en-US" sz="1050">
                  <a:solidFill>
                    <a:srgbClr val="0284C7"/>
                  </a:solidFill>
                  <a:latin typeface="Courier New"/>
                  <a:ea typeface="Courier New"/>
                  <a:cs typeface="Courier New"/>
                  <a:sym typeface="Courier New"/>
                </a:rPr>
                <a:t>is_waterproof: undefined</a:t>
              </a:r>
              <a:endParaRPr b="1" i="0" sz="1050">
                <a:solidFill>
                  <a:srgbClr val="0EA5E9"/>
                </a:solidFill>
                <a:latin typeface="Calibri"/>
                <a:ea typeface="Calibri"/>
                <a:cs typeface="Calibri"/>
                <a:sym typeface="Calibri"/>
              </a:endParaRPr>
            </a:p>
          </p:txBody>
        </p:sp>
      </p:grpSp>
      <p:grpSp>
        <p:nvGrpSpPr>
          <p:cNvPr id="379" name="Google Shape;379;p26"/>
          <p:cNvGrpSpPr/>
          <p:nvPr/>
        </p:nvGrpSpPr>
        <p:grpSpPr>
          <a:xfrm>
            <a:off x="4295775" y="1714500"/>
            <a:ext cx="3600600" cy="3143400"/>
            <a:chOff x="0" y="0"/>
            <a:chExt cx="3600600" cy="3143400"/>
          </a:xfrm>
        </p:grpSpPr>
        <p:sp>
          <p:nvSpPr>
            <p:cNvPr id="380" name="Google Shape;380;p26"/>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1" name="Google Shape;381;p26"/>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PHASE 2: SCHEMA EXTENSION</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a:solidFill>
                    <a:srgbClr val="0A2540"/>
                  </a:solidFill>
                  <a:latin typeface="Calibri"/>
                  <a:ea typeface="Calibri"/>
                  <a:cs typeface="Calibri"/>
                  <a:sym typeface="Calibri"/>
                </a:rPr>
                <a:t>Lucille I</a:t>
              </a:r>
              <a:r>
                <a:rPr b="1" lang="en-US" sz="1800">
                  <a:solidFill>
                    <a:srgbClr val="0A2540"/>
                  </a:solidFill>
                  <a:latin typeface="Calibri"/>
                  <a:ea typeface="Calibri"/>
                  <a:cs typeface="Calibri"/>
                  <a:sym typeface="Calibri"/>
                </a:rPr>
                <a:t>ngest </a:t>
              </a:r>
              <a:r>
                <a:rPr b="1" i="0" lang="en-US" sz="1800">
                  <a:solidFill>
                    <a:srgbClr val="0A2540"/>
                  </a:solidFill>
                  <a:latin typeface="Calibri"/>
                  <a:ea typeface="Calibri"/>
                  <a:cs typeface="Calibri"/>
                  <a:sym typeface="Calibri"/>
                </a:rPr>
                <a:t>Pipeline</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0" i="0" lang="en-US" sz="1100">
                  <a:solidFill>
                    <a:srgbClr val="475569"/>
                  </a:solidFill>
                  <a:latin typeface="Calibri"/>
                  <a:ea typeface="Calibri"/>
                  <a:cs typeface="Calibri"/>
                  <a:sym typeface="Calibri"/>
                </a:rPr>
                <a:t>Extracted new attribute from specs &amp; product descriptions.</a:t>
              </a:r>
              <a:endParaRPr b="1" i="0" sz="1100">
                <a:solidFill>
                  <a:srgbClr val="0EA5E9"/>
                </a:solidFill>
                <a:latin typeface="Calibri"/>
                <a:ea typeface="Calibri"/>
                <a:cs typeface="Calibri"/>
                <a:sym typeface="Calibri"/>
              </a:endParaRPr>
            </a:p>
            <a:p>
              <a:pPr indent="0" lvl="0" marL="0" rtl="0" algn="l">
                <a:spcBef>
                  <a:spcPts val="600"/>
                </a:spcBef>
                <a:spcAft>
                  <a:spcPts val="0"/>
                </a:spcAft>
                <a:buNone/>
              </a:pPr>
              <a:r>
                <a:rPr b="1" i="0" lang="en-US" sz="1100">
                  <a:solidFill>
                    <a:srgbClr val="475569"/>
                  </a:solidFill>
                  <a:latin typeface="Calibri"/>
                  <a:ea typeface="Calibri"/>
                  <a:cs typeface="Calibri"/>
                  <a:sym typeface="Calibri"/>
                </a:rPr>
                <a:t>Action:</a:t>
              </a:r>
              <a:r>
                <a:rPr b="0" i="0" lang="en-US" sz="1100">
                  <a:solidFill>
                    <a:srgbClr val="475569"/>
                  </a:solidFill>
                  <a:latin typeface="Calibri"/>
                  <a:ea typeface="Calibri"/>
                  <a:cs typeface="Calibri"/>
                  <a:sym typeface="Calibri"/>
                </a:rPr>
                <a:t> Bulk-augmented catalog across </a:t>
              </a:r>
              <a:r>
                <a:rPr b="1" i="0" lang="en-US" sz="1100">
                  <a:solidFill>
                    <a:srgbClr val="475569"/>
                  </a:solidFill>
                  <a:latin typeface="Calibri"/>
                  <a:ea typeface="Calibri"/>
                  <a:cs typeface="Calibri"/>
                  <a:sym typeface="Calibri"/>
                </a:rPr>
                <a:t>9,618 products</a:t>
              </a:r>
              <a:r>
                <a:rPr b="0" i="0" lang="en-US" sz="1100">
                  <a:solidFill>
                    <a:srgbClr val="475569"/>
                  </a:solidFill>
                  <a:latin typeface="Calibri"/>
                  <a:ea typeface="Calibri"/>
                  <a:cs typeface="Calibri"/>
                  <a:sym typeface="Calibri"/>
                </a:rPr>
                <a:t> to add derived attribute.</a:t>
              </a:r>
              <a:endParaRPr b="1" i="0" sz="11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050">
                  <a:solidFill>
                    <a:srgbClr val="0369A1"/>
                  </a:solidFill>
                  <a:latin typeface="Calibri"/>
                  <a:ea typeface="Calibri"/>
                  <a:cs typeface="Calibri"/>
                  <a:sym typeface="Calibri"/>
                </a:rPr>
                <a:t>AUGMENTATION EXECUTION:</a:t>
              </a:r>
              <a:endParaRPr b="1" i="0" sz="1050">
                <a:solidFill>
                  <a:srgbClr val="0EA5E9"/>
                </a:solidFill>
                <a:latin typeface="Calibri"/>
                <a:ea typeface="Calibri"/>
                <a:cs typeface="Calibri"/>
                <a:sym typeface="Calibri"/>
              </a:endParaRPr>
            </a:p>
            <a:p>
              <a:pPr indent="0" lvl="0" marL="0" rtl="0" algn="l">
                <a:spcBef>
                  <a:spcPts val="200"/>
                </a:spcBef>
                <a:spcAft>
                  <a:spcPts val="0"/>
                </a:spcAft>
                <a:buNone/>
              </a:pPr>
              <a:r>
                <a:rPr b="1" i="0" lang="en-US" sz="1050">
                  <a:solidFill>
                    <a:srgbClr val="0284C7"/>
                  </a:solidFill>
                  <a:latin typeface="Courier New"/>
                  <a:ea typeface="Courier New"/>
                  <a:cs typeface="Courier New"/>
                  <a:sym typeface="Courier New"/>
                </a:rPr>
                <a:t>add_derived_field(is_waterproof)</a:t>
              </a:r>
              <a:endParaRPr b="1" i="0" sz="1050">
                <a:solidFill>
                  <a:srgbClr val="0EA5E9"/>
                </a:solidFill>
                <a:latin typeface="Calibri"/>
                <a:ea typeface="Calibri"/>
                <a:cs typeface="Calibri"/>
                <a:sym typeface="Calibri"/>
              </a:endParaRPr>
            </a:p>
          </p:txBody>
        </p:sp>
      </p:grpSp>
      <p:grpSp>
        <p:nvGrpSpPr>
          <p:cNvPr id="382" name="Google Shape;382;p26"/>
          <p:cNvGrpSpPr/>
          <p:nvPr/>
        </p:nvGrpSpPr>
        <p:grpSpPr>
          <a:xfrm>
            <a:off x="8134350" y="1714500"/>
            <a:ext cx="3600600" cy="3143400"/>
            <a:chOff x="0" y="0"/>
            <a:chExt cx="3600600" cy="3143400"/>
          </a:xfrm>
        </p:grpSpPr>
        <p:sp>
          <p:nvSpPr>
            <p:cNvPr id="383" name="Google Shape;383;p26"/>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4" name="Google Shape;384;p26"/>
            <p:cNvSpPr txBox="1"/>
            <p:nvPr/>
          </p:nvSpPr>
          <p:spPr>
            <a:xfrm>
              <a:off x="228600" y="1905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00">
                  <a:solidFill>
                    <a:srgbClr val="0EA5E9"/>
                  </a:solidFill>
                  <a:latin typeface="Calibri"/>
                  <a:ea typeface="Calibri"/>
                  <a:cs typeface="Calibri"/>
                  <a:sym typeface="Calibri"/>
                </a:rPr>
                <a:t>PHASE 3: ENHANCED SEARCH</a:t>
              </a:r>
              <a:endParaRPr b="1" i="0" sz="1300">
                <a:solidFill>
                  <a:srgbClr val="0EA5E9"/>
                </a:solidFill>
                <a:latin typeface="Calibri"/>
                <a:ea typeface="Calibri"/>
                <a:cs typeface="Calibri"/>
                <a:sym typeface="Calibri"/>
              </a:endParaRPr>
            </a:p>
            <a:p>
              <a:pPr indent="0" lvl="0" marL="0" rtl="0" algn="l">
                <a:spcBef>
                  <a:spcPts val="450"/>
                </a:spcBef>
                <a:spcAft>
                  <a:spcPts val="0"/>
                </a:spcAft>
                <a:buNone/>
              </a:pPr>
              <a:r>
                <a:rPr b="1" i="0" lang="en-US" sz="1800">
                  <a:solidFill>
                    <a:srgbClr val="0A2540"/>
                  </a:solidFill>
                  <a:latin typeface="Calibri"/>
                  <a:ea typeface="Calibri"/>
                  <a:cs typeface="Calibri"/>
                  <a:sym typeface="Calibri"/>
                </a:rPr>
                <a:t>“waterproof hiking boots”</a:t>
              </a:r>
              <a:endParaRPr b="1" i="0" sz="13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100">
                  <a:solidFill>
                    <a:srgbClr val="475569"/>
                  </a:solidFill>
                  <a:latin typeface="Calibri"/>
                  <a:ea typeface="Calibri"/>
                  <a:cs typeface="Calibri"/>
                  <a:sym typeface="Calibri"/>
                </a:rPr>
                <a:t>New Session:</a:t>
              </a:r>
              <a:r>
                <a:rPr b="0" i="0" lang="en-US" sz="1100">
                  <a:solidFill>
                    <a:srgbClr val="475569"/>
                  </a:solidFill>
                  <a:latin typeface="Calibri"/>
                  <a:ea typeface="Calibri"/>
                  <a:cs typeface="Calibri"/>
                  <a:sym typeface="Calibri"/>
                </a:rPr>
                <a:t> Filter explicitly matches </a:t>
              </a:r>
              <a:r>
                <a:rPr b="1" i="0" lang="en-US" sz="1100">
                  <a:solidFill>
                    <a:srgbClr val="475569"/>
                  </a:solidFill>
                  <a:latin typeface="Calibri"/>
                  <a:ea typeface="Calibri"/>
                  <a:cs typeface="Calibri"/>
                  <a:sym typeface="Calibri"/>
                </a:rPr>
                <a:t>is_waterproof: true</a:t>
              </a:r>
              <a:r>
                <a:rPr b="0" i="0" lang="en-US" sz="1100">
                  <a:solidFill>
                    <a:srgbClr val="475569"/>
                  </a:solidFill>
                  <a:latin typeface="Calibri"/>
                  <a:ea typeface="Calibri"/>
                  <a:cs typeface="Calibri"/>
                  <a:sym typeface="Calibri"/>
                </a:rPr>
                <a:t> across full catalog.</a:t>
              </a:r>
              <a:endParaRPr b="1" i="0" sz="1100">
                <a:solidFill>
                  <a:srgbClr val="0EA5E9"/>
                </a:solidFill>
                <a:latin typeface="Calibri"/>
                <a:ea typeface="Calibri"/>
                <a:cs typeface="Calibri"/>
                <a:sym typeface="Calibri"/>
              </a:endParaRPr>
            </a:p>
            <a:p>
              <a:pPr indent="0" lvl="0" marL="0" rtl="0" algn="l">
                <a:spcBef>
                  <a:spcPts val="600"/>
                </a:spcBef>
                <a:spcAft>
                  <a:spcPts val="0"/>
                </a:spcAft>
                <a:buNone/>
              </a:pPr>
              <a:r>
                <a:rPr b="0" i="0" lang="en-US" sz="1100">
                  <a:solidFill>
                    <a:srgbClr val="475569"/>
                  </a:solidFill>
                  <a:latin typeface="Calibri"/>
                  <a:ea typeface="Calibri"/>
                  <a:cs typeface="Calibri"/>
                  <a:sym typeface="Calibri"/>
                </a:rPr>
                <a:t>Expanded </a:t>
              </a:r>
              <a:r>
                <a:rPr lang="en-US" sz="1100">
                  <a:solidFill>
                    <a:srgbClr val="475569"/>
                  </a:solidFill>
                  <a:latin typeface="Calibri"/>
                  <a:ea typeface="Calibri"/>
                  <a:cs typeface="Calibri"/>
                  <a:sym typeface="Calibri"/>
                </a:rPr>
                <a:t>attributes</a:t>
              </a:r>
              <a:r>
                <a:rPr b="0" i="0" lang="en-US" sz="1100">
                  <a:solidFill>
                    <a:srgbClr val="475569"/>
                  </a:solidFill>
                  <a:latin typeface="Calibri"/>
                  <a:ea typeface="Calibri"/>
                  <a:cs typeface="Calibri"/>
                  <a:sym typeface="Calibri"/>
                </a:rPr>
                <a:t> to support new structured search dimensions.</a:t>
              </a:r>
              <a:endParaRPr b="1" i="0" sz="11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050">
                  <a:solidFill>
                    <a:srgbClr val="15803D"/>
                  </a:solidFill>
                  <a:latin typeface="Calibri"/>
                  <a:ea typeface="Calibri"/>
                  <a:cs typeface="Calibri"/>
                  <a:sym typeface="Calibri"/>
                </a:rPr>
                <a:t>AFTER RECORD (Catalog Enhanced):</a:t>
              </a:r>
              <a:endParaRPr b="1" i="0" sz="1050">
                <a:solidFill>
                  <a:srgbClr val="0EA5E9"/>
                </a:solidFill>
                <a:latin typeface="Calibri"/>
                <a:ea typeface="Calibri"/>
                <a:cs typeface="Calibri"/>
                <a:sym typeface="Calibri"/>
              </a:endParaRPr>
            </a:p>
            <a:p>
              <a:pPr indent="0" lvl="0" marL="0" rtl="0" algn="l">
                <a:spcBef>
                  <a:spcPts val="200"/>
                </a:spcBef>
                <a:spcAft>
                  <a:spcPts val="0"/>
                </a:spcAft>
                <a:buNone/>
              </a:pPr>
              <a:r>
                <a:rPr b="1" i="0" lang="en-US" sz="1050">
                  <a:solidFill>
                    <a:srgbClr val="166534"/>
                  </a:solidFill>
                  <a:highlight>
                    <a:srgbClr val="DCFCE7"/>
                  </a:highlight>
                  <a:latin typeface="Courier New"/>
                  <a:ea typeface="Courier New"/>
                  <a:cs typeface="Courier New"/>
                  <a:sym typeface="Courier New"/>
                </a:rPr>
                <a:t>is_waterproof: true</a:t>
              </a:r>
              <a:endParaRPr b="1" i="0" sz="1050">
                <a:solidFill>
                  <a:srgbClr val="0EA5E9"/>
                </a:solidFill>
                <a:latin typeface="Calibri"/>
                <a:ea typeface="Calibri"/>
                <a:cs typeface="Calibri"/>
                <a:sym typeface="Calibri"/>
              </a:endParaRPr>
            </a:p>
          </p:txBody>
        </p:sp>
      </p:grpSp>
      <p:grpSp>
        <p:nvGrpSpPr>
          <p:cNvPr id="385" name="Google Shape;385;p26"/>
          <p:cNvGrpSpPr/>
          <p:nvPr/>
        </p:nvGrpSpPr>
        <p:grpSpPr>
          <a:xfrm>
            <a:off x="457200" y="5143500"/>
            <a:ext cx="11277600" cy="952500"/>
            <a:chOff x="0" y="0"/>
            <a:chExt cx="11277600" cy="952500"/>
          </a:xfrm>
        </p:grpSpPr>
        <p:sp>
          <p:nvSpPr>
            <p:cNvPr id="386" name="Google Shape;386;p26"/>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7" name="Google Shape;387;p26"/>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018">
                  <a:solidFill>
                    <a:srgbClr val="0EA5E9"/>
                  </a:solidFill>
                  <a:latin typeface="Calibri"/>
                  <a:ea typeface="Calibri"/>
                  <a:cs typeface="Calibri"/>
                  <a:sym typeface="Calibri"/>
                </a:rPr>
                <a:t>KEY TAKEAWAY</a:t>
              </a:r>
              <a:endParaRPr b="1" i="0" sz="1018">
                <a:solidFill>
                  <a:srgbClr val="0EA5E9"/>
                </a:solidFill>
                <a:latin typeface="Calibri"/>
                <a:ea typeface="Calibri"/>
                <a:cs typeface="Calibri"/>
                <a:sym typeface="Calibri"/>
              </a:endParaRPr>
            </a:p>
            <a:p>
              <a:pPr indent="0" lvl="0" marL="0" rtl="0" algn="l">
                <a:spcBef>
                  <a:spcPts val="300"/>
                </a:spcBef>
                <a:spcAft>
                  <a:spcPts val="0"/>
                </a:spcAft>
                <a:buNone/>
              </a:pPr>
              <a:r>
                <a:rPr b="0" i="0" lang="en-US" sz="1804">
                  <a:solidFill>
                    <a:srgbClr val="FFFFFF"/>
                  </a:solidFill>
                  <a:latin typeface="Calibri"/>
                  <a:ea typeface="Calibri"/>
                  <a:cs typeface="Calibri"/>
                  <a:sym typeface="Calibri"/>
                </a:rPr>
                <a:t>Agentic search isn't just correcting errors — it continuously evolves schema to unlock new filter dimensions.</a:t>
              </a:r>
              <a:endParaRPr b="1" i="0" sz="1018">
                <a:solidFill>
                  <a:srgbClr val="0EA5E9"/>
                </a:solidFill>
                <a:latin typeface="Calibri"/>
                <a:ea typeface="Calibri"/>
                <a:cs typeface="Calibri"/>
                <a:sym typeface="Calibri"/>
              </a:endParaRPr>
            </a:p>
          </p:txBody>
        </p:sp>
      </p:grpSp>
      <p:pic>
        <p:nvPicPr>
          <p:cNvPr id="388" name="Google Shape;388;p26"/>
          <p:cNvPicPr preferRelativeResize="0"/>
          <p:nvPr/>
        </p:nvPicPr>
        <p:blipFill rotWithShape="1">
          <a:blip r:embed="rId4">
            <a:alphaModFix/>
          </a:blip>
          <a:srcRect b="0" l="0" r="0" t="0"/>
          <a:stretch/>
        </p:blipFill>
        <p:spPr>
          <a:xfrm>
            <a:off x="10059924" y="314175"/>
            <a:ext cx="1644300" cy="645900"/>
          </a:xfrm>
          <a:prstGeom prst="rect">
            <a:avLst/>
          </a:prstGeom>
          <a:noFill/>
          <a:ln>
            <a:noFill/>
          </a:ln>
        </p:spPr>
      </p:pic>
      <p:sp>
        <p:nvSpPr>
          <p:cNvPr id="389" name="Google Shape;389;p26"/>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93" name="Shape 393"/>
        <p:cNvGrpSpPr/>
        <p:nvPr/>
      </p:nvGrpSpPr>
      <p:grpSpPr>
        <a:xfrm>
          <a:off x="0" y="0"/>
          <a:ext cx="0" cy="0"/>
          <a:chOff x="0" y="0"/>
          <a:chExt cx="0" cy="0"/>
        </a:xfrm>
      </p:grpSpPr>
      <p:sp>
        <p:nvSpPr>
          <p:cNvPr id="394" name="Google Shape;394;p27"/>
          <p:cNvSpPr txBox="1"/>
          <p:nvPr/>
        </p:nvSpPr>
        <p:spPr>
          <a:xfrm>
            <a:off x="457200" y="85725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600" u="none" strike="noStrike">
                <a:solidFill>
                  <a:srgbClr val="0A2540"/>
                </a:solidFill>
                <a:latin typeface="Calibri"/>
                <a:ea typeface="Calibri"/>
                <a:cs typeface="Calibri"/>
                <a:sym typeface="Calibri"/>
              </a:rPr>
              <a:t>One live application, three demos, one thesis</a:t>
            </a:r>
            <a:endParaRPr b="1" i="0" sz="3600" u="none" strike="noStrike">
              <a:solidFill>
                <a:srgbClr val="0A2540"/>
              </a:solidFill>
              <a:latin typeface="Calibri"/>
              <a:ea typeface="Calibri"/>
              <a:cs typeface="Calibri"/>
              <a:sym typeface="Calibri"/>
            </a:endParaRPr>
          </a:p>
        </p:txBody>
      </p:sp>
      <p:grpSp>
        <p:nvGrpSpPr>
          <p:cNvPr id="395" name="Google Shape;395;p27"/>
          <p:cNvGrpSpPr/>
          <p:nvPr/>
        </p:nvGrpSpPr>
        <p:grpSpPr>
          <a:xfrm>
            <a:off x="457200" y="1714500"/>
            <a:ext cx="3600600" cy="1476300"/>
            <a:chOff x="0" y="0"/>
            <a:chExt cx="3600600" cy="1476300"/>
          </a:xfrm>
        </p:grpSpPr>
        <p:sp>
          <p:nvSpPr>
            <p:cNvPr id="396" name="Google Shape;396;p27"/>
            <p:cNvSpPr/>
            <p:nvPr/>
          </p:nvSpPr>
          <p:spPr>
            <a:xfrm>
              <a:off x="0" y="0"/>
              <a:ext cx="3600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7" name="Google Shape;397;p27"/>
            <p:cNvSpPr txBox="1"/>
            <p:nvPr/>
          </p:nvSpPr>
          <p:spPr>
            <a:xfrm>
              <a:off x="190500" y="133350"/>
              <a:ext cx="32196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01</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Hybrid retrieval, reranking, one bounded retry — never an unconstrained loop</a:t>
              </a:r>
              <a:endParaRPr b="1" i="0" sz="1650" u="none" strike="noStrike">
                <a:solidFill>
                  <a:srgbClr val="0EA5E9"/>
                </a:solidFill>
                <a:latin typeface="Calibri"/>
                <a:ea typeface="Calibri"/>
                <a:cs typeface="Calibri"/>
                <a:sym typeface="Calibri"/>
              </a:endParaRPr>
            </a:p>
          </p:txBody>
        </p:sp>
      </p:grpSp>
      <p:grpSp>
        <p:nvGrpSpPr>
          <p:cNvPr id="398" name="Google Shape;398;p27"/>
          <p:cNvGrpSpPr/>
          <p:nvPr/>
        </p:nvGrpSpPr>
        <p:grpSpPr>
          <a:xfrm>
            <a:off x="4295775" y="1714500"/>
            <a:ext cx="3600600" cy="1476300"/>
            <a:chOff x="0" y="0"/>
            <a:chExt cx="3600600" cy="1476300"/>
          </a:xfrm>
        </p:grpSpPr>
        <p:sp>
          <p:nvSpPr>
            <p:cNvPr id="399" name="Google Shape;399;p27"/>
            <p:cNvSpPr/>
            <p:nvPr/>
          </p:nvSpPr>
          <p:spPr>
            <a:xfrm>
              <a:off x="0" y="0"/>
              <a:ext cx="3600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0" name="Google Shape;400;p27"/>
            <p:cNvSpPr txBox="1"/>
            <p:nvPr/>
          </p:nvSpPr>
          <p:spPr>
            <a:xfrm>
              <a:off x="190500" y="133350"/>
              <a:ext cx="32196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02</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Judgments diagnose when they exist; a confidence proxy carries every other query</a:t>
              </a:r>
              <a:endParaRPr b="1" i="0" sz="1650" u="none" strike="noStrike">
                <a:solidFill>
                  <a:srgbClr val="0EA5E9"/>
                </a:solidFill>
                <a:latin typeface="Calibri"/>
                <a:ea typeface="Calibri"/>
                <a:cs typeface="Calibri"/>
                <a:sym typeface="Calibri"/>
              </a:endParaRPr>
            </a:p>
          </p:txBody>
        </p:sp>
      </p:grpSp>
      <p:grpSp>
        <p:nvGrpSpPr>
          <p:cNvPr id="401" name="Google Shape;401;p27"/>
          <p:cNvGrpSpPr/>
          <p:nvPr/>
        </p:nvGrpSpPr>
        <p:grpSpPr>
          <a:xfrm>
            <a:off x="8134350" y="1714500"/>
            <a:ext cx="3600600" cy="1476300"/>
            <a:chOff x="0" y="0"/>
            <a:chExt cx="3600600" cy="1476300"/>
          </a:xfrm>
        </p:grpSpPr>
        <p:sp>
          <p:nvSpPr>
            <p:cNvPr id="402" name="Google Shape;402;p27"/>
            <p:cNvSpPr/>
            <p:nvPr/>
          </p:nvSpPr>
          <p:spPr>
            <a:xfrm>
              <a:off x="0" y="0"/>
              <a:ext cx="3600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3" name="Google Shape;403;p27"/>
            <p:cNvSpPr txBox="1"/>
            <p:nvPr/>
          </p:nvSpPr>
          <p:spPr>
            <a:xfrm>
              <a:off x="190500" y="133350"/>
              <a:ext cx="32196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03</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The centerpiece: an agent that enriches the catalog, not just the answer</a:t>
              </a:r>
              <a:endParaRPr b="1" i="0" sz="1650" u="none" strike="noStrike">
                <a:solidFill>
                  <a:srgbClr val="0EA5E9"/>
                </a:solidFill>
                <a:latin typeface="Calibri"/>
                <a:ea typeface="Calibri"/>
                <a:cs typeface="Calibri"/>
                <a:sym typeface="Calibri"/>
              </a:endParaRPr>
            </a:p>
          </p:txBody>
        </p:sp>
      </p:grpSp>
      <p:grpSp>
        <p:nvGrpSpPr>
          <p:cNvPr id="404" name="Google Shape;404;p27"/>
          <p:cNvGrpSpPr/>
          <p:nvPr/>
        </p:nvGrpSpPr>
        <p:grpSpPr>
          <a:xfrm>
            <a:off x="457200" y="3381375"/>
            <a:ext cx="11277600" cy="1476300"/>
            <a:chOff x="0" y="0"/>
            <a:chExt cx="11277600" cy="1476300"/>
          </a:xfrm>
        </p:grpSpPr>
        <p:sp>
          <p:nvSpPr>
            <p:cNvPr id="405" name="Google Shape;405;p27"/>
            <p:cNvSpPr/>
            <p:nvPr/>
          </p:nvSpPr>
          <p:spPr>
            <a:xfrm>
              <a:off x="0" y="0"/>
              <a:ext cx="11277600" cy="1476300"/>
            </a:xfrm>
            <a:prstGeom prst="roundRect">
              <a:avLst>
                <a:gd fmla="val 5161"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6" name="Google Shape;406;p27"/>
            <p:cNvSpPr txBox="1"/>
            <p:nvPr/>
          </p:nvSpPr>
          <p:spPr>
            <a:xfrm>
              <a:off x="228600" y="133350"/>
              <a:ext cx="10820400" cy="1181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400" u="none" strike="noStrike">
                  <a:solidFill>
                    <a:srgbClr val="0EA5E9"/>
                  </a:solidFill>
                  <a:latin typeface="Calibri"/>
                  <a:ea typeface="Calibri"/>
                  <a:cs typeface="Calibri"/>
                  <a:sym typeface="Calibri"/>
                </a:rPr>
                <a:t>04</a:t>
              </a:r>
              <a:endParaRPr b="1" i="0" sz="2400" u="none" strike="noStrike">
                <a:solidFill>
                  <a:srgbClr val="0EA5E9"/>
                </a:solidFill>
                <a:latin typeface="Calibri"/>
                <a:ea typeface="Calibri"/>
                <a:cs typeface="Calibri"/>
                <a:sym typeface="Calibri"/>
              </a:endParaRPr>
            </a:p>
            <a:p>
              <a:pPr indent="0" lvl="0" marL="0" rtl="0" algn="l">
                <a:spcBef>
                  <a:spcPts val="400"/>
                </a:spcBef>
                <a:spcAft>
                  <a:spcPts val="400"/>
                </a:spcAft>
                <a:buNone/>
              </a:pPr>
              <a:r>
                <a:rPr b="0" i="0" lang="en-US" sz="1650" u="none" strike="noStrike">
                  <a:solidFill>
                    <a:srgbClr val="334155"/>
                  </a:solidFill>
                  <a:latin typeface="Calibri"/>
                  <a:ea typeface="Calibri"/>
                  <a:cs typeface="Calibri"/>
                  <a:sym typeface="Calibri"/>
                </a:rPr>
                <a:t>Every decision — intent, α, retry, repair — visible in the observability panel</a:t>
              </a:r>
              <a:endParaRPr b="1" i="0" sz="1650" u="none" strike="noStrike">
                <a:solidFill>
                  <a:srgbClr val="0EA5E9"/>
                </a:solidFill>
                <a:latin typeface="Calibri"/>
                <a:ea typeface="Calibri"/>
                <a:cs typeface="Calibri"/>
                <a:sym typeface="Calibri"/>
              </a:endParaRPr>
            </a:p>
          </p:txBody>
        </p:sp>
      </p:grpSp>
      <p:grpSp>
        <p:nvGrpSpPr>
          <p:cNvPr id="407" name="Google Shape;407;p27"/>
          <p:cNvGrpSpPr/>
          <p:nvPr/>
        </p:nvGrpSpPr>
        <p:grpSpPr>
          <a:xfrm>
            <a:off x="457200" y="5143500"/>
            <a:ext cx="11277600" cy="952500"/>
            <a:chOff x="0" y="0"/>
            <a:chExt cx="11277600" cy="952500"/>
          </a:xfrm>
        </p:grpSpPr>
        <p:sp>
          <p:nvSpPr>
            <p:cNvPr id="408" name="Google Shape;408;p27"/>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9" name="Google Shape;409;p27"/>
            <p:cNvSpPr txBox="1"/>
            <p:nvPr/>
          </p:nvSpPr>
          <p:spPr>
            <a:xfrm>
              <a:off x="304800" y="133350"/>
              <a:ext cx="10668000" cy="6858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935" u="none" strike="noStrike">
                  <a:solidFill>
                    <a:srgbClr val="0EA5E9"/>
                  </a:solidFill>
                  <a:latin typeface="Calibri"/>
                  <a:ea typeface="Calibri"/>
                  <a:cs typeface="Calibri"/>
                  <a:sym typeface="Calibri"/>
                </a:rPr>
                <a:t>KEY TAKEAWAY</a:t>
              </a:r>
              <a:endParaRPr b="1" i="0" sz="935" u="none" strike="noStrike">
                <a:solidFill>
                  <a:srgbClr val="0EA5E9"/>
                </a:solidFill>
                <a:latin typeface="Calibri"/>
                <a:ea typeface="Calibri"/>
                <a:cs typeface="Calibri"/>
                <a:sym typeface="Calibri"/>
              </a:endParaRPr>
            </a:p>
            <a:p>
              <a:pPr indent="0" lvl="0" marL="0" rtl="0" algn="l">
                <a:spcBef>
                  <a:spcPts val="400"/>
                </a:spcBef>
                <a:spcAft>
                  <a:spcPts val="0"/>
                </a:spcAft>
                <a:buNone/>
              </a:pPr>
              <a:r>
                <a:rPr b="0" i="0" lang="en-US" sz="1488" u="none" strike="noStrike">
                  <a:solidFill>
                    <a:srgbClr val="FFFFFF"/>
                  </a:solidFill>
                  <a:latin typeface="Calibri"/>
                  <a:ea typeface="Calibri"/>
                  <a:cs typeface="Calibri"/>
                  <a:sym typeface="Calibri"/>
                </a:rPr>
                <a:t>Agentic search doesn't replace relevancy tuning — it's the layer that knows when your retrieval, your reranker, or your catalog itself is the thing that</a:t>
              </a:r>
              <a:r>
                <a:rPr lang="en-US" sz="1488">
                  <a:solidFill>
                    <a:srgbClr val="FFFFFF"/>
                  </a:solidFill>
                  <a:latin typeface="Calibri"/>
                  <a:ea typeface="Calibri"/>
                  <a:cs typeface="Calibri"/>
                  <a:sym typeface="Calibri"/>
                </a:rPr>
                <a:t> needs enrichment.</a:t>
              </a:r>
              <a:endParaRPr b="1" i="0" sz="935" u="none" strike="noStrike">
                <a:solidFill>
                  <a:srgbClr val="0EA5E9"/>
                </a:solidFill>
                <a:latin typeface="Calibri"/>
                <a:ea typeface="Calibri"/>
                <a:cs typeface="Calibri"/>
                <a:sym typeface="Calibri"/>
              </a:endParaRPr>
            </a:p>
          </p:txBody>
        </p:sp>
      </p:grpSp>
      <p:sp>
        <p:nvSpPr>
          <p:cNvPr id="410" name="Google Shape;410;p27"/>
          <p:cNvSpPr txBox="1"/>
          <p:nvPr/>
        </p:nvSpPr>
        <p:spPr>
          <a:xfrm>
            <a:off x="457200" y="51435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350" u="none" strike="noStrike">
                <a:solidFill>
                  <a:srgbClr val="0369A1"/>
                </a:solidFill>
                <a:latin typeface="Calibri"/>
                <a:ea typeface="Calibri"/>
                <a:cs typeface="Calibri"/>
                <a:sym typeface="Calibri"/>
              </a:rPr>
              <a:t>CLOSING — TAKEAWAYS</a:t>
            </a:r>
            <a:endParaRPr b="1" i="0" sz="1350" u="none" strike="noStrike">
              <a:solidFill>
                <a:srgbClr val="0369A1"/>
              </a:solidFill>
              <a:latin typeface="Calibri"/>
              <a:ea typeface="Calibri"/>
              <a:cs typeface="Calibri"/>
              <a:sym typeface="Calibri"/>
            </a:endParaRPr>
          </a:p>
        </p:txBody>
      </p:sp>
      <p:sp>
        <p:nvSpPr>
          <p:cNvPr id="411" name="Google Shape;411;p27"/>
          <p:cNvSpPr txBox="1"/>
          <p:nvPr/>
        </p:nvSpPr>
        <p:spPr>
          <a:xfrm>
            <a:off x="365760" y="1905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u="none" strike="noStrike">
                <a:solidFill>
                  <a:srgbClr val="94A3B8"/>
                </a:solidFill>
                <a:latin typeface="Calibri"/>
                <a:ea typeface="Calibri"/>
                <a:cs typeface="Calibri"/>
                <a:sym typeface="Calibri"/>
              </a:rPr>
              <a:t>9 / 11</a:t>
            </a:r>
            <a:endParaRPr b="0" i="0" sz="1100" u="none" strike="noStrike">
              <a:solidFill>
                <a:srgbClr val="94A3B8"/>
              </a:solidFill>
              <a:latin typeface="Calibri"/>
              <a:ea typeface="Calibri"/>
              <a:cs typeface="Calibri"/>
              <a:sym typeface="Calibri"/>
            </a:endParaRPr>
          </a:p>
        </p:txBody>
      </p:sp>
      <p:pic>
        <p:nvPicPr>
          <p:cNvPr id="412" name="Google Shape;412;p27" title="KMWLogo_blk_blue.png"/>
          <p:cNvPicPr preferRelativeResize="0"/>
          <p:nvPr/>
        </p:nvPicPr>
        <p:blipFill>
          <a:blip r:embed="rId4">
            <a:alphaModFix/>
          </a:blip>
          <a:stretch>
            <a:fillRect/>
          </a:stretch>
        </p:blipFill>
        <p:spPr>
          <a:xfrm>
            <a:off x="10059924" y="314175"/>
            <a:ext cx="1644399" cy="645950"/>
          </a:xfrm>
          <a:prstGeom prst="rect">
            <a:avLst/>
          </a:prstGeom>
          <a:noFill/>
          <a:ln>
            <a:noFill/>
          </a:ln>
        </p:spPr>
      </p:pic>
      <p:sp>
        <p:nvSpPr>
          <p:cNvPr id="413" name="Google Shape;413;p27"/>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u="none" strike="noStrike">
                <a:solidFill>
                  <a:srgbClr val="94A3B8"/>
                </a:solidFill>
                <a:latin typeface="Calibri"/>
                <a:ea typeface="Calibri"/>
                <a:cs typeface="Calibri"/>
                <a:sym typeface="Calibri"/>
              </a:rPr>
              <a:t>OpenSearchCon North America · 2026 · Agentic Search: Reimagining Search from Ingestion to Relevancy</a:t>
            </a:r>
            <a:endParaRPr b="0" i="0" sz="1100" u="none" strike="noStrike">
              <a:solidFill>
                <a:srgbClr val="94A3B8"/>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7" name="Shape 417"/>
        <p:cNvGrpSpPr/>
        <p:nvPr/>
      </p:nvGrpSpPr>
      <p:grpSpPr>
        <a:xfrm>
          <a:off x="0" y="0"/>
          <a:ext cx="0" cy="0"/>
          <a:chOff x="0" y="0"/>
          <a:chExt cx="0" cy="0"/>
        </a:xfrm>
      </p:grpSpPr>
      <p:grpSp>
        <p:nvGrpSpPr>
          <p:cNvPr id="418" name="Google Shape;418;p28"/>
          <p:cNvGrpSpPr/>
          <p:nvPr/>
        </p:nvGrpSpPr>
        <p:grpSpPr>
          <a:xfrm>
            <a:off x="457200" y="1714500"/>
            <a:ext cx="3600600" cy="3143400"/>
            <a:chOff x="0" y="0"/>
            <a:chExt cx="3600600" cy="3143400"/>
          </a:xfrm>
        </p:grpSpPr>
        <p:sp>
          <p:nvSpPr>
            <p:cNvPr id="419" name="Google Shape;419;p28"/>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20" name="Google Shape;420;p28"/>
            <p:cNvSpPr txBox="1"/>
            <p:nvPr/>
          </p:nvSpPr>
          <p:spPr>
            <a:xfrm>
              <a:off x="228600" y="2286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800">
                  <a:solidFill>
                    <a:srgbClr val="0EA5E9"/>
                  </a:solidFill>
                  <a:latin typeface="Calibri"/>
                  <a:ea typeface="Calibri"/>
                  <a:cs typeface="Calibri"/>
                  <a:sym typeface="Calibri"/>
                </a:rPr>
                <a:t>01</a:t>
              </a:r>
              <a:endParaRPr b="1" i="0" sz="28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900">
                  <a:solidFill>
                    <a:srgbClr val="0A2540"/>
                  </a:solidFill>
                  <a:latin typeface="Calibri"/>
                  <a:ea typeface="Calibri"/>
                  <a:cs typeface="Calibri"/>
                  <a:sym typeface="Calibri"/>
                </a:rPr>
                <a:t>Multi-Attribute Loop</a:t>
              </a:r>
              <a:endParaRPr b="1" i="0" sz="1900">
                <a:solidFill>
                  <a:srgbClr val="0EA5E9"/>
                </a:solidFill>
                <a:latin typeface="Calibri"/>
                <a:ea typeface="Calibri"/>
                <a:cs typeface="Calibri"/>
                <a:sym typeface="Calibri"/>
              </a:endParaRPr>
            </a:p>
            <a:p>
              <a:pPr indent="0" lvl="0" marL="0" rtl="0" algn="l">
                <a:spcBef>
                  <a:spcPts val="800"/>
                </a:spcBef>
                <a:spcAft>
                  <a:spcPts val="600"/>
                </a:spcAft>
                <a:buNone/>
              </a:pPr>
              <a:r>
                <a:rPr b="0" i="0" lang="en-US" sz="1500">
                  <a:solidFill>
                    <a:srgbClr val="334155"/>
                  </a:solidFill>
                  <a:latin typeface="Calibri"/>
                  <a:ea typeface="Calibri"/>
                  <a:cs typeface="Calibri"/>
                  <a:sym typeface="Calibri"/>
                </a:rPr>
                <a:t>Extending the autonomous correction loop beyond simple fields to complex nested schemas, compatibility matrices, and multi-value attribute types.</a:t>
              </a:r>
              <a:endParaRPr b="1" i="0" sz="1500">
                <a:solidFill>
                  <a:srgbClr val="0EA5E9"/>
                </a:solidFill>
                <a:latin typeface="Calibri"/>
                <a:ea typeface="Calibri"/>
                <a:cs typeface="Calibri"/>
                <a:sym typeface="Calibri"/>
              </a:endParaRPr>
            </a:p>
          </p:txBody>
        </p:sp>
      </p:grpSp>
      <p:grpSp>
        <p:nvGrpSpPr>
          <p:cNvPr id="421" name="Google Shape;421;p28"/>
          <p:cNvGrpSpPr/>
          <p:nvPr/>
        </p:nvGrpSpPr>
        <p:grpSpPr>
          <a:xfrm>
            <a:off x="4295775" y="1714500"/>
            <a:ext cx="3600600" cy="3143400"/>
            <a:chOff x="0" y="0"/>
            <a:chExt cx="3600600" cy="3143400"/>
          </a:xfrm>
        </p:grpSpPr>
        <p:sp>
          <p:nvSpPr>
            <p:cNvPr id="422" name="Google Shape;422;p28"/>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23" name="Google Shape;423;p28"/>
            <p:cNvSpPr txBox="1"/>
            <p:nvPr/>
          </p:nvSpPr>
          <p:spPr>
            <a:xfrm>
              <a:off x="228600" y="2286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800">
                  <a:solidFill>
                    <a:srgbClr val="0EA5E9"/>
                  </a:solidFill>
                  <a:latin typeface="Calibri"/>
                  <a:ea typeface="Calibri"/>
                  <a:cs typeface="Calibri"/>
                  <a:sym typeface="Calibri"/>
                </a:rPr>
                <a:t>02</a:t>
              </a:r>
              <a:endParaRPr b="1" i="0" sz="2800">
                <a:solidFill>
                  <a:srgbClr val="0EA5E9"/>
                </a:solidFill>
                <a:latin typeface="Calibri"/>
                <a:ea typeface="Calibri"/>
                <a:cs typeface="Calibri"/>
                <a:sym typeface="Calibri"/>
              </a:endParaRPr>
            </a:p>
            <a:p>
              <a:pPr indent="0" lvl="0" marL="0" rtl="0" algn="l">
                <a:spcBef>
                  <a:spcPts val="800"/>
                </a:spcBef>
                <a:spcAft>
                  <a:spcPts val="0"/>
                </a:spcAft>
                <a:buNone/>
              </a:pPr>
              <a:r>
                <a:rPr b="1" i="0" lang="en-US" sz="1900">
                  <a:solidFill>
                    <a:srgbClr val="0A2540"/>
                  </a:solidFill>
                  <a:latin typeface="Calibri"/>
                  <a:ea typeface="Calibri"/>
                  <a:cs typeface="Calibri"/>
                  <a:sym typeface="Calibri"/>
                </a:rPr>
                <a:t>Auto-Tuning Alpha</a:t>
              </a:r>
              <a:endParaRPr b="1" i="0" sz="1900">
                <a:solidFill>
                  <a:srgbClr val="0EA5E9"/>
                </a:solidFill>
                <a:latin typeface="Calibri"/>
                <a:ea typeface="Calibri"/>
                <a:cs typeface="Calibri"/>
                <a:sym typeface="Calibri"/>
              </a:endParaRPr>
            </a:p>
            <a:p>
              <a:pPr indent="0" lvl="0" marL="0" rtl="0" algn="l">
                <a:spcBef>
                  <a:spcPts val="800"/>
                </a:spcBef>
                <a:spcAft>
                  <a:spcPts val="600"/>
                </a:spcAft>
                <a:buNone/>
              </a:pPr>
              <a:r>
                <a:rPr b="0" i="0" lang="en-US" sz="1500">
                  <a:solidFill>
                    <a:srgbClr val="334155"/>
                  </a:solidFill>
                  <a:latin typeface="Calibri"/>
                  <a:ea typeface="Calibri"/>
                  <a:cs typeface="Calibri"/>
                  <a:sym typeface="Calibri"/>
                </a:rPr>
                <a:t>Evaluator-driven dynamic adjustment of hybrid search weighting () based on real-time query intent, implicit feedback, and live confidence scores.</a:t>
              </a:r>
              <a:endParaRPr b="1" i="0" sz="1500">
                <a:solidFill>
                  <a:srgbClr val="0EA5E9"/>
                </a:solidFill>
                <a:latin typeface="Calibri"/>
                <a:ea typeface="Calibri"/>
                <a:cs typeface="Calibri"/>
                <a:sym typeface="Calibri"/>
              </a:endParaRPr>
            </a:p>
          </p:txBody>
        </p:sp>
      </p:grpSp>
      <p:grpSp>
        <p:nvGrpSpPr>
          <p:cNvPr id="424" name="Google Shape;424;p28"/>
          <p:cNvGrpSpPr/>
          <p:nvPr/>
        </p:nvGrpSpPr>
        <p:grpSpPr>
          <a:xfrm>
            <a:off x="8134350" y="1714500"/>
            <a:ext cx="3600600" cy="3143400"/>
            <a:chOff x="0" y="0"/>
            <a:chExt cx="3600600" cy="3143400"/>
          </a:xfrm>
        </p:grpSpPr>
        <p:sp>
          <p:nvSpPr>
            <p:cNvPr id="425" name="Google Shape;425;p28"/>
            <p:cNvSpPr/>
            <p:nvPr/>
          </p:nvSpPr>
          <p:spPr>
            <a:xfrm>
              <a:off x="0" y="0"/>
              <a:ext cx="3600600" cy="3143400"/>
            </a:xfrm>
            <a:prstGeom prst="roundRect">
              <a:avLst>
                <a:gd fmla="val 2424"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26" name="Google Shape;426;p28"/>
            <p:cNvSpPr txBox="1"/>
            <p:nvPr/>
          </p:nvSpPr>
          <p:spPr>
            <a:xfrm>
              <a:off x="228600" y="228600"/>
              <a:ext cx="3143400" cy="2667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2800">
                  <a:solidFill>
                    <a:srgbClr val="0EA5E9"/>
                  </a:solidFill>
                  <a:latin typeface="Calibri"/>
                  <a:ea typeface="Calibri"/>
                  <a:cs typeface="Calibri"/>
                  <a:sym typeface="Calibri"/>
                </a:rPr>
                <a:t>03</a:t>
              </a:r>
              <a:endParaRPr b="1" i="0" sz="2800">
                <a:solidFill>
                  <a:srgbClr val="0EA5E9"/>
                </a:solidFill>
                <a:latin typeface="Calibri"/>
                <a:ea typeface="Calibri"/>
                <a:cs typeface="Calibri"/>
                <a:sym typeface="Calibri"/>
              </a:endParaRPr>
            </a:p>
            <a:p>
              <a:pPr indent="0" lvl="0" marL="0" rtl="0" algn="l">
                <a:spcBef>
                  <a:spcPts val="800"/>
                </a:spcBef>
                <a:spcAft>
                  <a:spcPts val="0"/>
                </a:spcAft>
                <a:buNone/>
              </a:pPr>
              <a:r>
                <a:rPr b="1" lang="en-US" sz="1900">
                  <a:solidFill>
                    <a:srgbClr val="0A2540"/>
                  </a:solidFill>
                  <a:latin typeface="Calibri"/>
                  <a:ea typeface="Calibri"/>
                  <a:cs typeface="Calibri"/>
                  <a:sym typeface="Calibri"/>
                </a:rPr>
                <a:t>Attribute</a:t>
              </a:r>
              <a:r>
                <a:rPr b="1" i="0" lang="en-US" sz="1900">
                  <a:solidFill>
                    <a:srgbClr val="0A2540"/>
                  </a:solidFill>
                  <a:latin typeface="Calibri"/>
                  <a:ea typeface="Calibri"/>
                  <a:cs typeface="Calibri"/>
                  <a:sym typeface="Calibri"/>
                </a:rPr>
                <a:t> Expansion</a:t>
              </a:r>
              <a:endParaRPr b="1" i="0" sz="1900">
                <a:solidFill>
                  <a:srgbClr val="0EA5E9"/>
                </a:solidFill>
                <a:latin typeface="Calibri"/>
                <a:ea typeface="Calibri"/>
                <a:cs typeface="Calibri"/>
                <a:sym typeface="Calibri"/>
              </a:endParaRPr>
            </a:p>
            <a:p>
              <a:pPr indent="0" lvl="0" marL="0" rtl="0" algn="l">
                <a:spcBef>
                  <a:spcPts val="800"/>
                </a:spcBef>
                <a:spcAft>
                  <a:spcPts val="600"/>
                </a:spcAft>
                <a:buNone/>
              </a:pPr>
              <a:r>
                <a:rPr b="0" i="0" lang="en-US" sz="1500">
                  <a:solidFill>
                    <a:srgbClr val="334155"/>
                  </a:solidFill>
                  <a:latin typeface="Calibri"/>
                  <a:ea typeface="Calibri"/>
                  <a:cs typeface="Calibri"/>
                  <a:sym typeface="Calibri"/>
                </a:rPr>
                <a:t>Scaling automated </a:t>
              </a:r>
              <a:r>
                <a:rPr lang="en-US" sz="1500">
                  <a:solidFill>
                    <a:srgbClr val="334155"/>
                  </a:solidFill>
                  <a:latin typeface="Calibri"/>
                  <a:ea typeface="Calibri"/>
                  <a:cs typeface="Calibri"/>
                  <a:sym typeface="Calibri"/>
                </a:rPr>
                <a:t>attribute</a:t>
              </a:r>
              <a:r>
                <a:rPr b="0" i="0" lang="en-US" sz="1500">
                  <a:solidFill>
                    <a:srgbClr val="334155"/>
                  </a:solidFill>
                  <a:latin typeface="Calibri"/>
                  <a:ea typeface="Calibri"/>
                  <a:cs typeface="Calibri"/>
                  <a:sym typeface="Calibri"/>
                </a:rPr>
                <a:t> growth beyond color and material, unlocking entirely new filtering dimensions across diverse product categories.</a:t>
              </a:r>
              <a:endParaRPr b="1" i="0" sz="1500">
                <a:solidFill>
                  <a:srgbClr val="0EA5E9"/>
                </a:solidFill>
                <a:latin typeface="Calibri"/>
                <a:ea typeface="Calibri"/>
                <a:cs typeface="Calibri"/>
                <a:sym typeface="Calibri"/>
              </a:endParaRPr>
            </a:p>
          </p:txBody>
        </p:sp>
      </p:grpSp>
      <p:grpSp>
        <p:nvGrpSpPr>
          <p:cNvPr id="427" name="Google Shape;427;p28"/>
          <p:cNvGrpSpPr/>
          <p:nvPr/>
        </p:nvGrpSpPr>
        <p:grpSpPr>
          <a:xfrm>
            <a:off x="457200" y="5143500"/>
            <a:ext cx="11277600" cy="952500"/>
            <a:chOff x="0" y="0"/>
            <a:chExt cx="11277600" cy="952500"/>
          </a:xfrm>
        </p:grpSpPr>
        <p:sp>
          <p:nvSpPr>
            <p:cNvPr id="428" name="Google Shape;428;p28"/>
            <p:cNvSpPr/>
            <p:nvPr/>
          </p:nvSpPr>
          <p:spPr>
            <a:xfrm>
              <a:off x="0" y="0"/>
              <a:ext cx="11277600" cy="952500"/>
            </a:xfrm>
            <a:prstGeom prst="roundRect">
              <a:avLst>
                <a:gd fmla="val 8000" name="adj"/>
              </a:avLst>
            </a:prstGeom>
            <a:solidFill>
              <a:srgbClr val="0A254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29" name="Google Shape;429;p28"/>
            <p:cNvSpPr txBox="1"/>
            <p:nvPr/>
          </p:nvSpPr>
          <p:spPr>
            <a:xfrm>
              <a:off x="304800" y="152400"/>
              <a:ext cx="10668000" cy="647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i="0" lang="en-US" sz="1110">
                  <a:solidFill>
                    <a:srgbClr val="0EA5E9"/>
                  </a:solidFill>
                  <a:latin typeface="Calibri"/>
                  <a:ea typeface="Calibri"/>
                  <a:cs typeface="Calibri"/>
                  <a:sym typeface="Calibri"/>
                </a:rPr>
                <a:t>DISCUSSION RUNWAY</a:t>
              </a:r>
              <a:endParaRPr b="1" i="0" sz="1110">
                <a:solidFill>
                  <a:srgbClr val="0EA5E9"/>
                </a:solidFill>
                <a:latin typeface="Calibri"/>
                <a:ea typeface="Calibri"/>
                <a:cs typeface="Calibri"/>
                <a:sym typeface="Calibri"/>
              </a:endParaRPr>
            </a:p>
            <a:p>
              <a:pPr indent="0" lvl="0" marL="0" rtl="0" algn="l">
                <a:spcBef>
                  <a:spcPts val="400"/>
                </a:spcBef>
                <a:spcAft>
                  <a:spcPts val="0"/>
                </a:spcAft>
                <a:buNone/>
              </a:pPr>
              <a:r>
                <a:rPr b="0" i="0" lang="en-US" sz="1573">
                  <a:solidFill>
                    <a:srgbClr val="FFFFFF"/>
                  </a:solidFill>
                  <a:latin typeface="Calibri"/>
                  <a:ea typeface="Calibri"/>
                  <a:cs typeface="Calibri"/>
                  <a:sym typeface="Calibri"/>
                </a:rPr>
                <a:t>The roadmap focuses on shifting from reactive query fixes to proactive, continuous catalog evolution across all discovery facets.</a:t>
              </a:r>
              <a:endParaRPr b="1" i="0" sz="1110">
                <a:solidFill>
                  <a:srgbClr val="0EA5E9"/>
                </a:solidFill>
                <a:latin typeface="Calibri"/>
                <a:ea typeface="Calibri"/>
                <a:cs typeface="Calibri"/>
                <a:sym typeface="Calibri"/>
              </a:endParaRPr>
            </a:p>
          </p:txBody>
        </p:sp>
      </p:grpSp>
      <p:pic>
        <p:nvPicPr>
          <p:cNvPr id="430" name="Google Shape;430;p28"/>
          <p:cNvPicPr preferRelativeResize="0"/>
          <p:nvPr/>
        </p:nvPicPr>
        <p:blipFill rotWithShape="1">
          <a:blip r:embed="rId4">
            <a:alphaModFix/>
          </a:blip>
          <a:srcRect b="0" l="0" r="0" t="0"/>
          <a:stretch/>
        </p:blipFill>
        <p:spPr>
          <a:xfrm>
            <a:off x="10059924" y="314175"/>
            <a:ext cx="1644300" cy="645900"/>
          </a:xfrm>
          <a:prstGeom prst="rect">
            <a:avLst/>
          </a:prstGeom>
          <a:noFill/>
          <a:ln>
            <a:noFill/>
          </a:ln>
        </p:spPr>
      </p:pic>
      <p:sp>
        <p:nvSpPr>
          <p:cNvPr id="431" name="Google Shape;431;p28"/>
          <p:cNvSpPr txBox="1"/>
          <p:nvPr/>
        </p:nvSpPr>
        <p:spPr>
          <a:xfrm>
            <a:off x="457200" y="533400"/>
            <a:ext cx="11239500" cy="266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LOOKING AHEAD — Q&amp;A RUNWAY</a:t>
            </a:r>
            <a:endParaRPr b="1" i="0" sz="1400">
              <a:solidFill>
                <a:srgbClr val="0369A1"/>
              </a:solidFill>
              <a:latin typeface="Calibri"/>
              <a:ea typeface="Calibri"/>
              <a:cs typeface="Calibri"/>
              <a:sym typeface="Calibri"/>
            </a:endParaRPr>
          </a:p>
        </p:txBody>
      </p:sp>
      <p:sp>
        <p:nvSpPr>
          <p:cNvPr id="432" name="Google Shape;432;p28"/>
          <p:cNvSpPr txBox="1"/>
          <p:nvPr/>
        </p:nvSpPr>
        <p:spPr>
          <a:xfrm>
            <a:off x="457200" y="876300"/>
            <a:ext cx="11239500" cy="6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i="0" lang="en-US" sz="3800">
                <a:solidFill>
                  <a:srgbClr val="0A2540"/>
                </a:solidFill>
                <a:latin typeface="Calibri"/>
                <a:ea typeface="Calibri"/>
                <a:cs typeface="Calibri"/>
                <a:sym typeface="Calibri"/>
              </a:rPr>
              <a:t>What's Next for Agentic Search?</a:t>
            </a:r>
            <a:endParaRPr b="1" i="0" sz="3800">
              <a:solidFill>
                <a:srgbClr val="0A2540"/>
              </a:solidFill>
              <a:latin typeface="Calibri"/>
              <a:ea typeface="Calibri"/>
              <a:cs typeface="Calibri"/>
              <a:sym typeface="Calibri"/>
            </a:endParaRPr>
          </a:p>
        </p:txBody>
      </p:sp>
      <p:sp>
        <p:nvSpPr>
          <p:cNvPr id="433" name="Google Shape;433;p28"/>
          <p:cNvSpPr txBox="1"/>
          <p:nvPr/>
        </p:nvSpPr>
        <p:spPr>
          <a:xfrm>
            <a:off x="1921297" y="6513376"/>
            <a:ext cx="10058400" cy="131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853">
                <a:solidFill>
                  <a:srgbClr val="94A3B8"/>
                </a:solidFill>
                <a:latin typeface="Calibri"/>
                <a:ea typeface="Calibri"/>
                <a:cs typeface="Calibri"/>
                <a:sym typeface="Calibri"/>
              </a:rPr>
              <a:t>OpenSearchCon North America · 2026 · Agentic Search: Reimagining Search from Ingestion to Relevancy</a:t>
            </a:r>
            <a:endParaRPr b="0" i="0" sz="853">
              <a:solidFill>
                <a:srgbClr val="94A3B8"/>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2540"/>
        </a:solidFill>
      </p:bgPr>
    </p:bg>
    <p:spTree>
      <p:nvGrpSpPr>
        <p:cNvPr id="437" name="Shape 437"/>
        <p:cNvGrpSpPr/>
        <p:nvPr/>
      </p:nvGrpSpPr>
      <p:grpSpPr>
        <a:xfrm>
          <a:off x="0" y="0"/>
          <a:ext cx="0" cy="0"/>
          <a:chOff x="0" y="0"/>
          <a:chExt cx="0" cy="0"/>
        </a:xfrm>
      </p:grpSpPr>
      <p:sp>
        <p:nvSpPr>
          <p:cNvPr id="438" name="Google Shape;438;p29"/>
          <p:cNvSpPr/>
          <p:nvPr/>
        </p:nvSpPr>
        <p:spPr>
          <a:xfrm>
            <a:off x="0" y="0"/>
            <a:ext cx="164700" cy="6858000"/>
          </a:xfrm>
          <a:prstGeom prst="rect">
            <a:avLst/>
          </a:prstGeom>
          <a:solidFill>
            <a:srgbClr val="0EA5E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9" name="Google Shape;439;p29"/>
          <p:cNvSpPr txBox="1"/>
          <p:nvPr/>
        </p:nvSpPr>
        <p:spPr>
          <a:xfrm>
            <a:off x="640080" y="1762125"/>
            <a:ext cx="7620000" cy="400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2600">
                <a:solidFill>
                  <a:srgbClr val="0EA5E9"/>
                </a:solidFill>
                <a:latin typeface="Calibri"/>
                <a:ea typeface="Calibri"/>
                <a:cs typeface="Calibri"/>
                <a:sym typeface="Calibri"/>
              </a:rPr>
              <a:t>THANK YOU</a:t>
            </a:r>
            <a:endParaRPr b="1" i="0" sz="2600">
              <a:solidFill>
                <a:srgbClr val="0EA5E9"/>
              </a:solidFill>
              <a:latin typeface="Calibri"/>
              <a:ea typeface="Calibri"/>
              <a:cs typeface="Calibri"/>
              <a:sym typeface="Calibri"/>
            </a:endParaRPr>
          </a:p>
        </p:txBody>
      </p:sp>
      <p:sp>
        <p:nvSpPr>
          <p:cNvPr id="440" name="Google Shape;440;p29"/>
          <p:cNvSpPr txBox="1"/>
          <p:nvPr/>
        </p:nvSpPr>
        <p:spPr>
          <a:xfrm>
            <a:off x="609455" y="2190750"/>
            <a:ext cx="7620000" cy="1082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7030">
                <a:solidFill>
                  <a:srgbClr val="FFFFFF"/>
                </a:solidFill>
                <a:latin typeface="Calibri"/>
                <a:ea typeface="Calibri"/>
                <a:cs typeface="Calibri"/>
                <a:sym typeface="Calibri"/>
              </a:rPr>
              <a:t>Questions?</a:t>
            </a:r>
            <a:endParaRPr b="1" i="0" sz="7030">
              <a:solidFill>
                <a:srgbClr val="FFFFFF"/>
              </a:solidFill>
              <a:latin typeface="Calibri"/>
              <a:ea typeface="Calibri"/>
              <a:cs typeface="Calibri"/>
              <a:sym typeface="Calibri"/>
            </a:endParaRPr>
          </a:p>
        </p:txBody>
      </p:sp>
      <p:pic>
        <p:nvPicPr>
          <p:cNvPr id="441" name="Google Shape;441;p29" title="KMWLogo_white.png"/>
          <p:cNvPicPr preferRelativeResize="0"/>
          <p:nvPr/>
        </p:nvPicPr>
        <p:blipFill>
          <a:blip r:embed="rId3">
            <a:alphaModFix/>
          </a:blip>
          <a:stretch>
            <a:fillRect/>
          </a:stretch>
        </p:blipFill>
        <p:spPr>
          <a:xfrm>
            <a:off x="640075" y="361525"/>
            <a:ext cx="3593551" cy="1101525"/>
          </a:xfrm>
          <a:prstGeom prst="rect">
            <a:avLst/>
          </a:prstGeom>
          <a:noFill/>
          <a:ln>
            <a:noFill/>
          </a:ln>
        </p:spPr>
      </p:pic>
      <p:sp>
        <p:nvSpPr>
          <p:cNvPr id="442" name="Google Shape;442;p29"/>
          <p:cNvSpPr txBox="1"/>
          <p:nvPr/>
        </p:nvSpPr>
        <p:spPr>
          <a:xfrm>
            <a:off x="609443" y="3381375"/>
            <a:ext cx="7810500" cy="444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890">
                <a:solidFill>
                  <a:srgbClr val="FFFFFF"/>
                </a:solidFill>
                <a:latin typeface="Calibri"/>
                <a:ea typeface="Calibri"/>
                <a:cs typeface="Calibri"/>
                <a:sym typeface="Calibri"/>
              </a:rPr>
              <a:t>Reimagining search from ingestion to relevancy</a:t>
            </a:r>
            <a:endParaRPr b="1" i="0" sz="2890">
              <a:solidFill>
                <a:srgbClr val="FFFFFF"/>
              </a:solidFill>
              <a:latin typeface="Calibri"/>
              <a:ea typeface="Calibri"/>
              <a:cs typeface="Calibri"/>
              <a:sym typeface="Calibri"/>
            </a:endParaRPr>
          </a:p>
        </p:txBody>
      </p:sp>
      <p:sp>
        <p:nvSpPr>
          <p:cNvPr id="443" name="Google Shape;443;p29"/>
          <p:cNvSpPr txBox="1"/>
          <p:nvPr/>
        </p:nvSpPr>
        <p:spPr>
          <a:xfrm>
            <a:off x="609443" y="4095750"/>
            <a:ext cx="7810500" cy="5850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900">
                <a:solidFill>
                  <a:srgbClr val="7DD3FC"/>
                </a:solidFill>
                <a:latin typeface="Calibri"/>
                <a:ea typeface="Calibri"/>
                <a:cs typeface="Calibri"/>
                <a:sym typeface="Calibri"/>
              </a:rPr>
              <a:t>One live LangGraph agent — adaptive retrieval, real ESCI-judged proof, and a catalog it enriches live.</a:t>
            </a:r>
            <a:endParaRPr b="0" i="0" sz="1900">
              <a:solidFill>
                <a:srgbClr val="7DD3FC"/>
              </a:solidFill>
              <a:latin typeface="Calibri"/>
              <a:ea typeface="Calibri"/>
              <a:cs typeface="Calibri"/>
              <a:sym typeface="Calibri"/>
            </a:endParaRPr>
          </a:p>
        </p:txBody>
      </p:sp>
      <p:sp>
        <p:nvSpPr>
          <p:cNvPr id="444" name="Google Shape;444;p29"/>
          <p:cNvSpPr txBox="1"/>
          <p:nvPr/>
        </p:nvSpPr>
        <p:spPr>
          <a:xfrm>
            <a:off x="609443" y="5000625"/>
            <a:ext cx="7315200" cy="313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i="0" lang="en-US" sz="2035">
                <a:solidFill>
                  <a:srgbClr val="FFFFFF"/>
                </a:solidFill>
                <a:latin typeface="Calibri"/>
                <a:ea typeface="Calibri"/>
                <a:cs typeface="Calibri"/>
                <a:sym typeface="Calibri"/>
              </a:rPr>
              <a:t>Kevin M. Butler</a:t>
            </a:r>
            <a:endParaRPr b="1" i="0" sz="2035">
              <a:solidFill>
                <a:srgbClr val="FFFFFF"/>
              </a:solidFill>
              <a:latin typeface="Calibri"/>
              <a:ea typeface="Calibri"/>
              <a:cs typeface="Calibri"/>
              <a:sym typeface="Calibri"/>
            </a:endParaRPr>
          </a:p>
        </p:txBody>
      </p:sp>
      <p:sp>
        <p:nvSpPr>
          <p:cNvPr id="445" name="Google Shape;445;p29"/>
          <p:cNvSpPr txBox="1"/>
          <p:nvPr/>
        </p:nvSpPr>
        <p:spPr>
          <a:xfrm>
            <a:off x="609443" y="5381625"/>
            <a:ext cx="7315200" cy="246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i="0" lang="en-US" sz="1600">
                <a:solidFill>
                  <a:srgbClr val="B8C5D1"/>
                </a:solidFill>
                <a:latin typeface="Calibri"/>
                <a:ea typeface="Calibri"/>
                <a:cs typeface="Calibri"/>
                <a:sym typeface="Calibri"/>
              </a:rPr>
              <a:t>Senior Search and AI Engineer</a:t>
            </a:r>
            <a:endParaRPr b="0" i="0" sz="1600">
              <a:solidFill>
                <a:srgbClr val="B8C5D1"/>
              </a:solidFill>
              <a:latin typeface="Calibri"/>
              <a:ea typeface="Calibri"/>
              <a:cs typeface="Calibri"/>
              <a:sym typeface="Calibri"/>
            </a:endParaRPr>
          </a:p>
        </p:txBody>
      </p:sp>
      <p:pic>
        <p:nvPicPr>
          <p:cNvPr id="446" name="Google Shape;446;p29" title="agentic-search-reimagining-search-from-ingestion-_butler_1230723_feedback-code.png"/>
          <p:cNvPicPr preferRelativeResize="0"/>
          <p:nvPr/>
        </p:nvPicPr>
        <p:blipFill>
          <a:blip r:embed="rId4">
            <a:alphaModFix/>
          </a:blip>
          <a:stretch>
            <a:fillRect/>
          </a:stretch>
        </p:blipFill>
        <p:spPr>
          <a:xfrm>
            <a:off x="8724688" y="361525"/>
            <a:ext cx="2910836" cy="2997375"/>
          </a:xfrm>
          <a:prstGeom prst="rect">
            <a:avLst/>
          </a:prstGeom>
          <a:noFill/>
          <a:ln>
            <a:noFill/>
          </a:ln>
        </p:spPr>
      </p:pic>
      <p:sp>
        <p:nvSpPr>
          <p:cNvPr id="447" name="Google Shape;447;p29"/>
          <p:cNvSpPr txBox="1"/>
          <p:nvPr/>
        </p:nvSpPr>
        <p:spPr>
          <a:xfrm>
            <a:off x="1921297" y="6477000"/>
            <a:ext cx="100584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100">
                <a:solidFill>
                  <a:srgbClr val="94A3B8"/>
                </a:solidFill>
                <a:latin typeface="Calibri"/>
                <a:ea typeface="Calibri"/>
                <a:cs typeface="Calibri"/>
                <a:sym typeface="Calibri"/>
              </a:rPr>
              <a:t>OpenSearchCon North America · 2026 · Agentic Search: Reimagining Search from Ingestion to Relevancy</a:t>
            </a:r>
            <a:endParaRPr b="0" i="0" sz="1100">
              <a:solidFill>
                <a:srgbClr val="94A3B8"/>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1" name="Shape 451"/>
        <p:cNvGrpSpPr/>
        <p:nvPr/>
      </p:nvGrpSpPr>
      <p:grpSpPr>
        <a:xfrm>
          <a:off x="0" y="0"/>
          <a:ext cx="0" cy="0"/>
          <a:chOff x="0" y="0"/>
          <a:chExt cx="0" cy="0"/>
        </a:xfrm>
      </p:grpSpPr>
      <p:sp>
        <p:nvSpPr>
          <p:cNvPr id="452" name="Google Shape;452;p30"/>
          <p:cNvSpPr txBox="1"/>
          <p:nvPr/>
        </p:nvSpPr>
        <p:spPr>
          <a:xfrm>
            <a:off x="365760" y="228600"/>
            <a:ext cx="1371600" cy="169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00">
                <a:solidFill>
                  <a:srgbClr val="94A3B8"/>
                </a:solidFill>
                <a:latin typeface="Calibri"/>
                <a:ea typeface="Calibri"/>
                <a:cs typeface="Calibri"/>
                <a:sym typeface="Calibri"/>
              </a:rPr>
              <a:t>10 / 11</a:t>
            </a:r>
            <a:endParaRPr b="0" i="0" sz="1100">
              <a:solidFill>
                <a:srgbClr val="94A3B8"/>
              </a:solidFill>
              <a:latin typeface="Calibri"/>
              <a:ea typeface="Calibri"/>
              <a:cs typeface="Calibri"/>
              <a:sym typeface="Calibri"/>
            </a:endParaRPr>
          </a:p>
        </p:txBody>
      </p:sp>
      <p:sp>
        <p:nvSpPr>
          <p:cNvPr id="453" name="Google Shape;453;p30"/>
          <p:cNvSpPr txBox="1"/>
          <p:nvPr/>
        </p:nvSpPr>
        <p:spPr>
          <a:xfrm>
            <a:off x="457200" y="533400"/>
            <a:ext cx="11247000" cy="215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400">
                <a:solidFill>
                  <a:srgbClr val="0369A1"/>
                </a:solidFill>
                <a:latin typeface="Calibri"/>
                <a:ea typeface="Calibri"/>
                <a:cs typeface="Calibri"/>
                <a:sym typeface="Calibri"/>
              </a:rPr>
              <a:t>SOURCES</a:t>
            </a:r>
            <a:endParaRPr b="1" i="0" sz="1400">
              <a:solidFill>
                <a:srgbClr val="0369A1"/>
              </a:solidFill>
              <a:latin typeface="Calibri"/>
              <a:ea typeface="Calibri"/>
              <a:cs typeface="Calibri"/>
              <a:sym typeface="Calibri"/>
            </a:endParaRPr>
          </a:p>
        </p:txBody>
      </p:sp>
      <p:sp>
        <p:nvSpPr>
          <p:cNvPr id="454" name="Google Shape;454;p30"/>
          <p:cNvSpPr txBox="1"/>
          <p:nvPr/>
        </p:nvSpPr>
        <p:spPr>
          <a:xfrm>
            <a:off x="457200" y="876300"/>
            <a:ext cx="11247000" cy="585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3800">
                <a:solidFill>
                  <a:srgbClr val="0A2540"/>
                </a:solidFill>
                <a:latin typeface="Calibri"/>
                <a:ea typeface="Calibri"/>
                <a:cs typeface="Calibri"/>
                <a:sym typeface="Calibri"/>
              </a:rPr>
              <a:t>References</a:t>
            </a:r>
            <a:endParaRPr b="1" i="0" sz="3800">
              <a:solidFill>
                <a:srgbClr val="0A2540"/>
              </a:solidFill>
              <a:latin typeface="Calibri"/>
              <a:ea typeface="Calibri"/>
              <a:cs typeface="Calibri"/>
              <a:sym typeface="Calibri"/>
            </a:endParaRPr>
          </a:p>
        </p:txBody>
      </p:sp>
      <p:sp>
        <p:nvSpPr>
          <p:cNvPr id="455" name="Google Shape;455;p30"/>
          <p:cNvSpPr txBox="1"/>
          <p:nvPr/>
        </p:nvSpPr>
        <p:spPr>
          <a:xfrm>
            <a:off x="457200" y="1965960"/>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Search Relevance Workbench</a:t>
            </a:r>
            <a:endParaRPr b="1" i="0" sz="1550">
              <a:solidFill>
                <a:srgbClr val="0A2540"/>
              </a:solidFill>
              <a:latin typeface="Calibri"/>
              <a:ea typeface="Calibri"/>
              <a:cs typeface="Calibri"/>
              <a:sym typeface="Calibri"/>
            </a:endParaRPr>
          </a:p>
        </p:txBody>
      </p:sp>
      <p:sp>
        <p:nvSpPr>
          <p:cNvPr id="456" name="Google Shape;456;p30"/>
          <p:cNvSpPr txBox="1"/>
          <p:nvPr/>
        </p:nvSpPr>
        <p:spPr>
          <a:xfrm>
            <a:off x="4572000" y="1965960"/>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docs.opensearch.org/latest/search-plugins/search-relevance/using-search-relevance-workbench/</a:t>
            </a:r>
            <a:endParaRPr b="0" i="0" sz="1350">
              <a:solidFill>
                <a:srgbClr val="0369A1"/>
              </a:solidFill>
              <a:latin typeface="Calibri"/>
              <a:ea typeface="Calibri"/>
              <a:cs typeface="Calibri"/>
              <a:sym typeface="Calibri"/>
            </a:endParaRPr>
          </a:p>
        </p:txBody>
      </p:sp>
      <p:sp>
        <p:nvSpPr>
          <p:cNvPr id="457" name="Google Shape;457;p30"/>
          <p:cNvSpPr txBox="1"/>
          <p:nvPr/>
        </p:nvSpPr>
        <p:spPr>
          <a:xfrm>
            <a:off x="457200" y="2441448"/>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Judgments</a:t>
            </a:r>
            <a:endParaRPr b="1" i="0" sz="1550">
              <a:solidFill>
                <a:srgbClr val="0A2540"/>
              </a:solidFill>
              <a:latin typeface="Calibri"/>
              <a:ea typeface="Calibri"/>
              <a:cs typeface="Calibri"/>
              <a:sym typeface="Calibri"/>
            </a:endParaRPr>
          </a:p>
        </p:txBody>
      </p:sp>
      <p:sp>
        <p:nvSpPr>
          <p:cNvPr id="458" name="Google Shape;458;p30"/>
          <p:cNvSpPr txBox="1"/>
          <p:nvPr/>
        </p:nvSpPr>
        <p:spPr>
          <a:xfrm>
            <a:off x="4572000" y="2441448"/>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docs.opensearch.org/latest/search-plugins/search-relevance/judgments/</a:t>
            </a:r>
            <a:endParaRPr b="0" i="0" sz="1350">
              <a:solidFill>
                <a:srgbClr val="0369A1"/>
              </a:solidFill>
              <a:latin typeface="Calibri"/>
              <a:ea typeface="Calibri"/>
              <a:cs typeface="Calibri"/>
              <a:sym typeface="Calibri"/>
            </a:endParaRPr>
          </a:p>
        </p:txBody>
      </p:sp>
      <p:sp>
        <p:nvSpPr>
          <p:cNvPr id="459" name="Google Shape;459;p30"/>
          <p:cNvSpPr txBox="1"/>
          <p:nvPr/>
        </p:nvSpPr>
        <p:spPr>
          <a:xfrm>
            <a:off x="457200" y="2916936"/>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Evaluating search quality</a:t>
            </a:r>
            <a:endParaRPr b="1" i="0" sz="1550">
              <a:solidFill>
                <a:srgbClr val="0A2540"/>
              </a:solidFill>
              <a:latin typeface="Calibri"/>
              <a:ea typeface="Calibri"/>
              <a:cs typeface="Calibri"/>
              <a:sym typeface="Calibri"/>
            </a:endParaRPr>
          </a:p>
        </p:txBody>
      </p:sp>
      <p:sp>
        <p:nvSpPr>
          <p:cNvPr id="460" name="Google Shape;460;p30"/>
          <p:cNvSpPr txBox="1"/>
          <p:nvPr/>
        </p:nvSpPr>
        <p:spPr>
          <a:xfrm>
            <a:off x="4572000" y="2916936"/>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docs.opensearch.org/latest/search-plugins/search-relevance/evaluate-search-quality/</a:t>
            </a:r>
            <a:endParaRPr b="0" i="0" sz="1350">
              <a:solidFill>
                <a:srgbClr val="0369A1"/>
              </a:solidFill>
              <a:latin typeface="Calibri"/>
              <a:ea typeface="Calibri"/>
              <a:cs typeface="Calibri"/>
              <a:sym typeface="Calibri"/>
            </a:endParaRPr>
          </a:p>
        </p:txBody>
      </p:sp>
      <p:sp>
        <p:nvSpPr>
          <p:cNvPr id="461" name="Google Shape;461;p30"/>
          <p:cNvSpPr txBox="1"/>
          <p:nvPr/>
        </p:nvSpPr>
        <p:spPr>
          <a:xfrm>
            <a:off x="457200" y="3392424"/>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Optimizing hybrid search</a:t>
            </a:r>
            <a:endParaRPr b="1" i="0" sz="1550">
              <a:solidFill>
                <a:srgbClr val="0A2540"/>
              </a:solidFill>
              <a:latin typeface="Calibri"/>
              <a:ea typeface="Calibri"/>
              <a:cs typeface="Calibri"/>
              <a:sym typeface="Calibri"/>
            </a:endParaRPr>
          </a:p>
        </p:txBody>
      </p:sp>
      <p:sp>
        <p:nvSpPr>
          <p:cNvPr id="462" name="Google Shape;462;p30"/>
          <p:cNvSpPr txBox="1"/>
          <p:nvPr/>
        </p:nvSpPr>
        <p:spPr>
          <a:xfrm>
            <a:off x="4572000" y="3392424"/>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docs.opensearch.org/latest/search-plugins/search-relevance/optimize-hybrid-search/</a:t>
            </a:r>
            <a:endParaRPr b="0" i="0" sz="1350">
              <a:solidFill>
                <a:srgbClr val="0369A1"/>
              </a:solidFill>
              <a:latin typeface="Calibri"/>
              <a:ea typeface="Calibri"/>
              <a:cs typeface="Calibri"/>
              <a:sym typeface="Calibri"/>
            </a:endParaRPr>
          </a:p>
        </p:txBody>
      </p:sp>
      <p:sp>
        <p:nvSpPr>
          <p:cNvPr id="463" name="Google Shape;463;p30"/>
          <p:cNvSpPr txBox="1"/>
          <p:nvPr/>
        </p:nvSpPr>
        <p:spPr>
          <a:xfrm>
            <a:off x="457200" y="3867912"/>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Exploring experiment results</a:t>
            </a:r>
            <a:endParaRPr b="1" i="0" sz="1550">
              <a:solidFill>
                <a:srgbClr val="0A2540"/>
              </a:solidFill>
              <a:latin typeface="Calibri"/>
              <a:ea typeface="Calibri"/>
              <a:cs typeface="Calibri"/>
              <a:sym typeface="Calibri"/>
            </a:endParaRPr>
          </a:p>
        </p:txBody>
      </p:sp>
      <p:sp>
        <p:nvSpPr>
          <p:cNvPr id="464" name="Google Shape;464;p30"/>
          <p:cNvSpPr txBox="1"/>
          <p:nvPr/>
        </p:nvSpPr>
        <p:spPr>
          <a:xfrm>
            <a:off x="4572000" y="3867912"/>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docs.opensearch.org/latest/search-plugins/search-relevance/explore-experiment-results/</a:t>
            </a:r>
            <a:endParaRPr b="0" i="0" sz="1350">
              <a:solidFill>
                <a:srgbClr val="0369A1"/>
              </a:solidFill>
              <a:latin typeface="Calibri"/>
              <a:ea typeface="Calibri"/>
              <a:cs typeface="Calibri"/>
              <a:sym typeface="Calibri"/>
            </a:endParaRPr>
          </a:p>
        </p:txBody>
      </p:sp>
      <p:sp>
        <p:nvSpPr>
          <p:cNvPr id="465" name="Google Shape;465;p30"/>
          <p:cNvSpPr txBox="1"/>
          <p:nvPr/>
        </p:nvSpPr>
        <p:spPr>
          <a:xfrm>
            <a:off x="457200" y="4343400"/>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Monitoring search quality</a:t>
            </a:r>
            <a:endParaRPr b="1" i="0" sz="1550">
              <a:solidFill>
                <a:srgbClr val="0A2540"/>
              </a:solidFill>
              <a:latin typeface="Calibri"/>
              <a:ea typeface="Calibri"/>
              <a:cs typeface="Calibri"/>
              <a:sym typeface="Calibri"/>
            </a:endParaRPr>
          </a:p>
        </p:txBody>
      </p:sp>
      <p:sp>
        <p:nvSpPr>
          <p:cNvPr id="466" name="Google Shape;466;p30"/>
          <p:cNvSpPr txBox="1"/>
          <p:nvPr/>
        </p:nvSpPr>
        <p:spPr>
          <a:xfrm>
            <a:off x="4572000" y="4343400"/>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docs.opensearch.org/latest/search-plugins/search-relevance/regularly-scheduled-experiments/</a:t>
            </a:r>
            <a:endParaRPr b="0" i="0" sz="1350">
              <a:solidFill>
                <a:srgbClr val="0369A1"/>
              </a:solidFill>
              <a:latin typeface="Calibri"/>
              <a:ea typeface="Calibri"/>
              <a:cs typeface="Calibri"/>
              <a:sym typeface="Calibri"/>
            </a:endParaRPr>
          </a:p>
        </p:txBody>
      </p:sp>
      <p:sp>
        <p:nvSpPr>
          <p:cNvPr id="467" name="Google Shape;467;p30"/>
          <p:cNvSpPr txBox="1"/>
          <p:nvPr/>
        </p:nvSpPr>
        <p:spPr>
          <a:xfrm>
            <a:off x="457200" y="4818888"/>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Relevance agent</a:t>
            </a:r>
            <a:endParaRPr b="1" i="0" sz="1550">
              <a:solidFill>
                <a:srgbClr val="0A2540"/>
              </a:solidFill>
              <a:latin typeface="Calibri"/>
              <a:ea typeface="Calibri"/>
              <a:cs typeface="Calibri"/>
              <a:sym typeface="Calibri"/>
            </a:endParaRPr>
          </a:p>
        </p:txBody>
      </p:sp>
      <p:sp>
        <p:nvSpPr>
          <p:cNvPr id="468" name="Google Shape;468;p30"/>
          <p:cNvSpPr txBox="1"/>
          <p:nvPr/>
        </p:nvSpPr>
        <p:spPr>
          <a:xfrm>
            <a:off x="4572000" y="4818888"/>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docs.opensearch.org/latest/search-plugins/search-relevance/relevance-agent/</a:t>
            </a:r>
            <a:endParaRPr b="0" i="0" sz="1350">
              <a:solidFill>
                <a:srgbClr val="0369A1"/>
              </a:solidFill>
              <a:latin typeface="Calibri"/>
              <a:ea typeface="Calibri"/>
              <a:cs typeface="Calibri"/>
              <a:sym typeface="Calibri"/>
            </a:endParaRPr>
          </a:p>
        </p:txBody>
      </p:sp>
      <p:sp>
        <p:nvSpPr>
          <p:cNvPr id="469" name="Google Shape;469;p30"/>
          <p:cNvSpPr txBox="1"/>
          <p:nvPr/>
        </p:nvSpPr>
        <p:spPr>
          <a:xfrm>
            <a:off x="457200" y="5294376"/>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LangGraph evaluator–optimizer workflows</a:t>
            </a:r>
            <a:endParaRPr b="1" i="0" sz="1550">
              <a:solidFill>
                <a:srgbClr val="0A2540"/>
              </a:solidFill>
              <a:latin typeface="Calibri"/>
              <a:ea typeface="Calibri"/>
              <a:cs typeface="Calibri"/>
              <a:sym typeface="Calibri"/>
            </a:endParaRPr>
          </a:p>
        </p:txBody>
      </p:sp>
      <p:sp>
        <p:nvSpPr>
          <p:cNvPr id="470" name="Google Shape;470;p30"/>
          <p:cNvSpPr txBox="1"/>
          <p:nvPr/>
        </p:nvSpPr>
        <p:spPr>
          <a:xfrm>
            <a:off x="4572000" y="5294376"/>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350">
                <a:solidFill>
                  <a:srgbClr val="0369A1"/>
                </a:solidFill>
                <a:latin typeface="Calibri"/>
                <a:ea typeface="Calibri"/>
                <a:cs typeface="Calibri"/>
                <a:sym typeface="Calibri"/>
              </a:rPr>
              <a:t>docs.langchain.com/oss/python/langgraph/workflows-agents</a:t>
            </a:r>
            <a:endParaRPr b="0" i="0" sz="1350">
              <a:solidFill>
                <a:srgbClr val="0369A1"/>
              </a:solidFill>
              <a:latin typeface="Calibri"/>
              <a:ea typeface="Calibri"/>
              <a:cs typeface="Calibri"/>
              <a:sym typeface="Calibri"/>
            </a:endParaRPr>
          </a:p>
        </p:txBody>
      </p:sp>
      <p:sp>
        <p:nvSpPr>
          <p:cNvPr id="471" name="Google Shape;471;p30"/>
          <p:cNvSpPr txBox="1"/>
          <p:nvPr/>
        </p:nvSpPr>
        <p:spPr>
          <a:xfrm>
            <a:off x="457200" y="5769864"/>
            <a:ext cx="4023300" cy="238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50">
                <a:solidFill>
                  <a:srgbClr val="0A2540"/>
                </a:solidFill>
                <a:latin typeface="Calibri"/>
                <a:ea typeface="Calibri"/>
                <a:cs typeface="Calibri"/>
                <a:sym typeface="Calibri"/>
              </a:rPr>
              <a:t>GitHub repository</a:t>
            </a:r>
            <a:endParaRPr b="1" i="0" sz="1550">
              <a:solidFill>
                <a:srgbClr val="0A2540"/>
              </a:solidFill>
              <a:latin typeface="Calibri"/>
              <a:ea typeface="Calibri"/>
              <a:cs typeface="Calibri"/>
              <a:sym typeface="Calibri"/>
            </a:endParaRPr>
          </a:p>
        </p:txBody>
      </p:sp>
      <p:sp>
        <p:nvSpPr>
          <p:cNvPr id="472" name="Google Shape;472;p30"/>
          <p:cNvSpPr txBox="1"/>
          <p:nvPr/>
        </p:nvSpPr>
        <p:spPr>
          <a:xfrm>
            <a:off x="4572000" y="5769864"/>
            <a:ext cx="7223700" cy="207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lang="en-US" sz="1350">
                <a:solidFill>
                  <a:srgbClr val="0369A1"/>
                </a:solidFill>
                <a:latin typeface="Calibri"/>
                <a:ea typeface="Calibri"/>
                <a:cs typeface="Calibri"/>
                <a:sym typeface="Calibri"/>
              </a:rPr>
              <a:t>github.com/kmwtechnology/opensearch2026-agentic-search</a:t>
            </a:r>
            <a:endParaRPr b="0" i="0" sz="1350">
              <a:solidFill>
                <a:srgbClr val="0369A1"/>
              </a:solidFill>
              <a:latin typeface="Calibri"/>
              <a:ea typeface="Calibri"/>
              <a:cs typeface="Calibri"/>
              <a:sym typeface="Calibri"/>
            </a:endParaRPr>
          </a:p>
        </p:txBody>
      </p:sp>
      <p:pic>
        <p:nvPicPr>
          <p:cNvPr id="473" name="Google Shape;473;p30" title="KMWLogo_blk_blue.png"/>
          <p:cNvPicPr preferRelativeResize="0"/>
          <p:nvPr/>
        </p:nvPicPr>
        <p:blipFill>
          <a:blip r:embed="rId3">
            <a:alphaModFix/>
          </a:blip>
          <a:stretch>
            <a:fillRect/>
          </a:stretch>
        </p:blipFill>
        <p:spPr>
          <a:xfrm>
            <a:off x="10059924" y="314175"/>
            <a:ext cx="1644399" cy="645950"/>
          </a:xfrm>
          <a:prstGeom prst="rect">
            <a:avLst/>
          </a:prstGeom>
          <a:noFill/>
          <a:ln>
            <a:noFill/>
          </a:ln>
        </p:spPr>
      </p:pic>
      <p:sp>
        <p:nvSpPr>
          <p:cNvPr id="474" name="Google Shape;474;p30"/>
          <p:cNvSpPr txBox="1"/>
          <p:nvPr/>
        </p:nvSpPr>
        <p:spPr>
          <a:xfrm>
            <a:off x="1921297" y="6477000"/>
            <a:ext cx="10058400" cy="1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r">
              <a:spcBef>
                <a:spcPts val="0"/>
              </a:spcBef>
              <a:spcAft>
                <a:spcPts val="0"/>
              </a:spcAft>
              <a:buNone/>
            </a:pPr>
            <a:r>
              <a:rPr b="0" i="0" lang="en-US" sz="1050">
                <a:solidFill>
                  <a:srgbClr val="94A3B8"/>
                </a:solidFill>
                <a:latin typeface="Calibri"/>
                <a:ea typeface="Calibri"/>
                <a:cs typeface="Calibri"/>
                <a:sym typeface="Calibri"/>
              </a:rPr>
              <a:t>OpenSearchCon North America · 2026 · Agentic Search: Reimagining Search from Ingestion to Relevancy</a:t>
            </a:r>
            <a:endParaRPr b="0" i="0" sz="1050">
              <a:solidFill>
                <a:srgbClr val="94A3B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